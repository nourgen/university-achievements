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77.xml" ContentType="application/vnd.openxmlformats-officedocument.presentationml.slide+xml"/>
  <Override PartName="/ppt/slides/slide36.xml" ContentType="application/vnd.openxmlformats-officedocument.presentationml.slide+xml"/>
  <Override PartName="/ppt/slides/slide35.xml" ContentType="application/vnd.openxmlformats-officedocument.presentationml.slide+xml"/>
  <Override PartName="/ppt/slides/slide37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76.xml" ContentType="application/vnd.openxmlformats-officedocument.presentationml.slide+xml"/>
  <Override PartName="/ppt/slides/slide78.xml" ContentType="application/vnd.openxmlformats-officedocument.presentationml.slide+xml"/>
  <Override PartName="/ppt/slides/slide74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75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47.xml" ContentType="application/vnd.openxmlformats-officedocument.presentationml.slide+xml"/>
  <Override PartName="/ppt/slides/slide46.xml" ContentType="application/vnd.openxmlformats-officedocument.presentationml.slide+xml"/>
  <Override PartName="/ppt/slides/slide45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5.xml" ContentType="application/vnd.openxmlformats-officedocument.presentationml.slide+xml"/>
  <Override PartName="/ppt/slides/slide51.xml" ContentType="application/vnd.openxmlformats-officedocument.presentationml.slide+xml"/>
  <Override PartName="/ppt/slides/slide57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56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66.xml" ContentType="application/vnd.openxmlformats-officedocument.presentationml.slide+xml"/>
  <Override PartName="/ppt/slides/slide70.xml" ContentType="application/vnd.openxmlformats-officedocument.presentationml.slide+xml"/>
  <Override PartName="/ppt/slides/slide64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5.xml" ContentType="application/vnd.openxmlformats-officedocument.presentationml.slide+xml"/>
  <Override PartName="/ppt/slides/slide62.xml" ContentType="application/vnd.openxmlformats-officedocument.presentationml.slide+xml"/>
  <Override PartName="/ppt/slides/slide61.xml" ContentType="application/vnd.openxmlformats-officedocument.presentationml.slide+xml"/>
  <Override PartName="/ppt/slides/slide63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38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3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  <p:sldMasterId id="2147483732" r:id="rId2"/>
  </p:sldMasterIdLst>
  <p:notesMasterIdLst>
    <p:notesMasterId r:id="rId81"/>
  </p:notesMasterIdLst>
  <p:sldIdLst>
    <p:sldId id="299" r:id="rId3"/>
    <p:sldId id="559" r:id="rId4"/>
    <p:sldId id="573" r:id="rId5"/>
    <p:sldId id="574" r:id="rId6"/>
    <p:sldId id="575" r:id="rId7"/>
    <p:sldId id="576" r:id="rId8"/>
    <p:sldId id="577" r:id="rId9"/>
    <p:sldId id="578" r:id="rId10"/>
    <p:sldId id="579" r:id="rId11"/>
    <p:sldId id="580" r:id="rId12"/>
    <p:sldId id="581" r:id="rId13"/>
    <p:sldId id="582" r:id="rId14"/>
    <p:sldId id="583" r:id="rId15"/>
    <p:sldId id="584" r:id="rId16"/>
    <p:sldId id="585" r:id="rId17"/>
    <p:sldId id="608" r:id="rId18"/>
    <p:sldId id="586" r:id="rId19"/>
    <p:sldId id="609" r:id="rId20"/>
    <p:sldId id="610" r:id="rId21"/>
    <p:sldId id="611" r:id="rId22"/>
    <p:sldId id="612" r:id="rId23"/>
    <p:sldId id="613" r:id="rId24"/>
    <p:sldId id="614" r:id="rId25"/>
    <p:sldId id="615" r:id="rId26"/>
    <p:sldId id="623" r:id="rId27"/>
    <p:sldId id="617" r:id="rId28"/>
    <p:sldId id="618" r:id="rId29"/>
    <p:sldId id="619" r:id="rId30"/>
    <p:sldId id="620" r:id="rId31"/>
    <p:sldId id="621" r:id="rId32"/>
    <p:sldId id="622" r:id="rId33"/>
    <p:sldId id="588" r:id="rId34"/>
    <p:sldId id="624" r:id="rId35"/>
    <p:sldId id="625" r:id="rId36"/>
    <p:sldId id="630" r:id="rId37"/>
    <p:sldId id="626" r:id="rId38"/>
    <p:sldId id="627" r:id="rId39"/>
    <p:sldId id="629" r:id="rId40"/>
    <p:sldId id="589" r:id="rId41"/>
    <p:sldId id="632" r:id="rId42"/>
    <p:sldId id="633" r:id="rId43"/>
    <p:sldId id="635" r:id="rId44"/>
    <p:sldId id="636" r:id="rId45"/>
    <p:sldId id="639" r:id="rId46"/>
    <p:sldId id="641" r:id="rId47"/>
    <p:sldId id="643" r:id="rId48"/>
    <p:sldId id="644" r:id="rId49"/>
    <p:sldId id="645" r:id="rId50"/>
    <p:sldId id="597" r:id="rId51"/>
    <p:sldId id="591" r:id="rId52"/>
    <p:sldId id="598" r:id="rId53"/>
    <p:sldId id="599" r:id="rId54"/>
    <p:sldId id="600" r:id="rId55"/>
    <p:sldId id="602" r:id="rId56"/>
    <p:sldId id="601" r:id="rId57"/>
    <p:sldId id="603" r:id="rId58"/>
    <p:sldId id="604" r:id="rId59"/>
    <p:sldId id="605" r:id="rId60"/>
    <p:sldId id="646" r:id="rId61"/>
    <p:sldId id="647" r:id="rId62"/>
    <p:sldId id="649" r:id="rId63"/>
    <p:sldId id="651" r:id="rId64"/>
    <p:sldId id="652" r:id="rId65"/>
    <p:sldId id="593" r:id="rId66"/>
    <p:sldId id="653" r:id="rId67"/>
    <p:sldId id="654" r:id="rId68"/>
    <p:sldId id="656" r:id="rId69"/>
    <p:sldId id="657" r:id="rId70"/>
    <p:sldId id="658" r:id="rId71"/>
    <p:sldId id="659" r:id="rId72"/>
    <p:sldId id="595" r:id="rId73"/>
    <p:sldId id="660" r:id="rId74"/>
    <p:sldId id="661" r:id="rId75"/>
    <p:sldId id="662" r:id="rId76"/>
    <p:sldId id="663" r:id="rId77"/>
    <p:sldId id="606" r:id="rId78"/>
    <p:sldId id="311" r:id="rId79"/>
    <p:sldId id="664" r:id="rId8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78"/>
    <a:srgbClr val="FFFF3A"/>
    <a:srgbClr val="FFFF05"/>
    <a:srgbClr val="E5FC08"/>
    <a:srgbClr val="CAD816"/>
    <a:srgbClr val="D9A115"/>
    <a:srgbClr val="008000"/>
    <a:srgbClr val="008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5" autoAdjust="0"/>
    <p:restoredTop sz="70718" autoAdjust="0"/>
  </p:normalViewPr>
  <p:slideViewPr>
    <p:cSldViewPr>
      <p:cViewPr varScale="1">
        <p:scale>
          <a:sx n="52" d="100"/>
          <a:sy n="52" d="100"/>
        </p:scale>
        <p:origin x="1866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theme" Target="theme/theme1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viewProps" Target="viewProps.xml"/><Relationship Id="rId88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notesMaster" Target="notesMasters/notesMaster1.xml"/><Relationship Id="rId86" Type="http://schemas.openxmlformats.org/officeDocument/2006/relationships/customXml" Target="../customXml/item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customXml" Target="../customXml/item2.xml"/><Relationship Id="rId61" Type="http://schemas.openxmlformats.org/officeDocument/2006/relationships/slide" Target="slides/slide59.xml"/><Relationship Id="rId8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8A81D4-E26A-4EB1-A4DE-8BEFB7F6BA81}" type="datetimeFigureOut">
              <a:rPr lang="en-US" smtClean="0"/>
              <a:pPr/>
              <a:t>2/23/2025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800DF1-E464-4E6A-9552-6AD863B5B1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757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2659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4357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3245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4345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7114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3876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1788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7822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4140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222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0926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1249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3892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10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3465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8235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130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2707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3339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314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0004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5624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07873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8226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26242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52485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70295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32833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53435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06548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58999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07548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05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46691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09739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93446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41830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04553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30938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30040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64664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45928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3596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27329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05563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96545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24394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4837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14027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60809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30341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98110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97503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37113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44326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53587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11747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080572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40152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3057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57755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005876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88052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82046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924639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000307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782538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495735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948047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925217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417626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815442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254984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24220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00DF1-E464-4E6A-9552-6AD863B5B10D}" type="slidenum">
              <a:rPr lang="en-US" smtClean="0"/>
              <a:pPr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633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916D0-8FD0-45D0-8A1F-37078B1386C5}" type="datetime1">
              <a:rPr lang="en-US" smtClean="0"/>
              <a:pPr/>
              <a:t>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11396-252B-4570-BBFE-246F77E9F3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3621A-9C7F-4119-8BA9-08BBE7E70DD3}" type="datetime1">
              <a:rPr lang="en-US" smtClean="0"/>
              <a:pPr/>
              <a:t>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11396-252B-4570-BBFE-246F77E9F3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CD940-476D-41A6-BA90-6B793ECBB5AF}" type="datetime1">
              <a:rPr lang="en-US" smtClean="0"/>
              <a:pPr/>
              <a:t>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11396-252B-4570-BBFE-246F77E9F3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3829C-D277-4C80-9CF4-85C9061986A6}" type="datetime1">
              <a:rPr lang="en-US" smtClean="0"/>
              <a:pPr/>
              <a:t>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11396-252B-4570-BBFE-246F77E9F3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F55A1-E3B4-4DB7-BE10-E2E592F7A9F4}" type="datetime1">
              <a:rPr lang="en-US" smtClean="0"/>
              <a:pPr/>
              <a:t>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11396-252B-4570-BBFE-246F77E9F3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B62DD-EC16-420A-8407-556AF44B37F0}" type="datetime1">
              <a:rPr lang="en-US" smtClean="0"/>
              <a:pPr/>
              <a:t>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11396-252B-4570-BBFE-246F77E9F3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9AF3E-72D9-4CF5-9A82-69FD2A88D563}" type="datetime1">
              <a:rPr lang="en-US" smtClean="0"/>
              <a:pPr/>
              <a:t>2/23/2025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11396-252B-4570-BBFE-246F77E9F3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2BB53-34FC-4263-9B4B-2276E43FB45B}" type="datetime1">
              <a:rPr lang="en-US" smtClean="0"/>
              <a:pPr/>
              <a:t>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11396-252B-4570-BBFE-246F77E9F3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D2B91-8718-4D7F-9B75-04AE676FAC18}" type="datetime1">
              <a:rPr lang="en-US" smtClean="0"/>
              <a:pPr/>
              <a:t>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11396-252B-4570-BBFE-246F77E9F3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5F15D-30E3-4192-A4FD-0DC2D8F8DE9A}" type="datetime1">
              <a:rPr lang="en-US" smtClean="0"/>
              <a:pPr/>
              <a:t>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11396-252B-4570-BBFE-246F77E9F3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1543A-7EED-4268-B957-5C4D6DAA94A8}" type="datetime1">
              <a:rPr lang="en-US" smtClean="0"/>
              <a:pPr/>
              <a:t>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11396-252B-4570-BBFE-246F77E9F3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916D0-8FD0-45D0-8A1F-37078B1386C5}" type="datetime1">
              <a:rPr lang="en-US" smtClean="0"/>
              <a:pPr/>
              <a:t>2/23/2025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11396-252B-4570-BBFE-246F77E9F3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3621A-9C7F-4119-8BA9-08BBE7E70DD3}" type="datetime1">
              <a:rPr lang="en-US" smtClean="0"/>
              <a:pPr/>
              <a:t>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11396-252B-4570-BBFE-246F77E9F3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CD940-476D-41A6-BA90-6B793ECBB5AF}" type="datetime1">
              <a:rPr lang="en-US" smtClean="0"/>
              <a:pPr/>
              <a:t>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11396-252B-4570-BBFE-246F77E9F3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3829C-D277-4C80-9CF4-85C9061986A6}" type="datetime1">
              <a:rPr lang="en-US" smtClean="0"/>
              <a:pPr/>
              <a:t>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11396-252B-4570-BBFE-246F77E9F3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F55A1-E3B4-4DB7-BE10-E2E592F7A9F4}" type="datetime1">
              <a:rPr lang="en-US" smtClean="0"/>
              <a:pPr/>
              <a:t>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11396-252B-4570-BBFE-246F77E9F3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B62DD-EC16-420A-8407-556AF44B37F0}" type="datetime1">
              <a:rPr lang="en-US" smtClean="0"/>
              <a:pPr/>
              <a:t>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11396-252B-4570-BBFE-246F77E9F3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9AF3E-72D9-4CF5-9A82-69FD2A88D563}" type="datetime1">
              <a:rPr lang="en-US" smtClean="0"/>
              <a:pPr/>
              <a:t>2/23/2025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11396-252B-4570-BBFE-246F77E9F3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2BB53-34FC-4263-9B4B-2276E43FB45B}" type="datetime1">
              <a:rPr lang="en-US" smtClean="0"/>
              <a:pPr/>
              <a:t>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11396-252B-4570-BBFE-246F77E9F3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D2B91-8718-4D7F-9B75-04AE676FAC18}" type="datetime1">
              <a:rPr lang="en-US" smtClean="0"/>
              <a:pPr/>
              <a:t>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77211396-252B-4570-BBFE-246F77E9F31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5F15D-30E3-4192-A4FD-0DC2D8F8DE9A}" type="datetime1">
              <a:rPr lang="en-US" smtClean="0"/>
              <a:pPr/>
              <a:t>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11396-252B-4570-BBFE-246F77E9F3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1543A-7EED-4268-B957-5C4D6DAA94A8}" type="datetime1">
              <a:rPr lang="en-US" smtClean="0"/>
              <a:pPr/>
              <a:t>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11396-252B-4570-BBFE-246F77E9F3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9C59F6-8EA9-49A1-AB68-24D752B77488}" type="datetime1">
              <a:rPr lang="en-US" smtClean="0"/>
              <a:pPr/>
              <a:t>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211396-252B-4570-BBFE-246F77E9F31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79C59F6-8EA9-49A1-AB68-24D752B77488}" type="datetime1">
              <a:rPr lang="en-US" smtClean="0"/>
              <a:pPr/>
              <a:t>2/23/2025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77211396-252B-4570-BBFE-246F77E9F31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4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9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32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11396-252B-4570-BBFE-246F77E9F314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2810470"/>
            <a:ext cx="9144000" cy="92333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Array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3"/>
          <p:cNvSpPr txBox="1"/>
          <p:nvPr/>
        </p:nvSpPr>
        <p:spPr>
          <a:xfrm>
            <a:off x="266700" y="1215853"/>
            <a:ext cx="8610600" cy="2795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You want to store 5 numbers in a computer</a:t>
            </a:r>
          </a:p>
          <a:p>
            <a:pPr marL="1089025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Define 5 variables, e.g. num1, num2, ..., num5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What, if you want to store 1000 numbers?</a:t>
            </a:r>
          </a:p>
          <a:p>
            <a:pPr marL="11430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Defining 1000 variables is a good solution!</a:t>
            </a:r>
          </a:p>
          <a:p>
            <a:pPr marL="11430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Requires much programming effort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112705"/>
            <a:ext cx="64008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Arrays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839624-3E80-4165-862D-FBDD23D15B07}"/>
              </a:ext>
            </a:extLst>
          </p:cNvPr>
          <p:cNvSpPr/>
          <p:nvPr/>
        </p:nvSpPr>
        <p:spPr>
          <a:xfrm>
            <a:off x="0" y="762000"/>
            <a:ext cx="9144000" cy="380998"/>
          </a:xfrm>
          <a:prstGeom prst="rect">
            <a:avLst/>
          </a:prstGeom>
          <a:solidFill>
            <a:schemeClr val="tx2"/>
          </a:solidFill>
          <a:ln cap="rnd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Motivation behind Array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9B50C7-54ED-438C-AADD-FC385A3FEE66}"/>
              </a:ext>
            </a:extLst>
          </p:cNvPr>
          <p:cNvSpPr txBox="1"/>
          <p:nvPr/>
        </p:nvSpPr>
        <p:spPr>
          <a:xfrm>
            <a:off x="304800" y="4495800"/>
            <a:ext cx="8202706" cy="2249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Yes, some structured data type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Array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is one of the most common structured data types.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itchFamily="18" charset="0"/>
                <a:ea typeface="Times New Roman"/>
                <a:cs typeface="Times New Roman" pitchFamily="18" charset="0"/>
              </a:rPr>
              <a:t>The idea of an 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array</a:t>
            </a:r>
            <a:r>
              <a:rPr lang="en-US" sz="2400" dirty="0">
                <a:latin typeface="Times New Roman" pitchFamily="18" charset="0"/>
                <a:ea typeface="Times New Roman"/>
                <a:cs typeface="Times New Roman" pitchFamily="18" charset="0"/>
              </a:rPr>
              <a:t> is to represent 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many</a:t>
            </a:r>
            <a:r>
              <a:rPr lang="en-US" sz="2400" dirty="0">
                <a:latin typeface="Times New Roman" pitchFamily="18" charset="0"/>
                <a:ea typeface="Times New Roman"/>
                <a:cs typeface="Times New Roman" pitchFamily="18" charset="0"/>
              </a:rPr>
              <a:t> instances in 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one</a:t>
            </a:r>
            <a:r>
              <a:rPr lang="en-US" sz="2400" dirty="0">
                <a:latin typeface="Times New Roman" pitchFamily="18" charset="0"/>
                <a:ea typeface="Times New Roman"/>
                <a:cs typeface="Times New Roman" pitchFamily="18" charset="0"/>
              </a:rPr>
              <a:t> variable.</a:t>
            </a:r>
            <a:endParaRPr lang="en-US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9307D7-6C89-4972-83D6-390B943C05C4}"/>
              </a:ext>
            </a:extLst>
          </p:cNvPr>
          <p:cNvSpPr txBox="1"/>
          <p:nvPr/>
        </p:nvSpPr>
        <p:spPr>
          <a:xfrm>
            <a:off x="3159859" y="4038705"/>
            <a:ext cx="2859941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Any better solution?</a:t>
            </a:r>
          </a:p>
        </p:txBody>
      </p:sp>
    </p:spTree>
    <p:extLst>
      <p:ext uri="{BB962C8B-B14F-4D97-AF65-F5344CB8AC3E}">
        <p14:creationId xmlns:p14="http://schemas.microsoft.com/office/powerpoint/2010/main" val="2636633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3"/>
          <p:cNvSpPr txBox="1"/>
          <p:nvPr/>
        </p:nvSpPr>
        <p:spPr>
          <a:xfrm>
            <a:off x="266700" y="1215853"/>
            <a:ext cx="8610600" cy="390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An array in C++ is a collection of </a:t>
            </a:r>
            <a:r>
              <a:rPr lang="en-US" sz="24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similar data items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stored at </a:t>
            </a:r>
            <a:r>
              <a:rPr lang="en-US" sz="24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contiguous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memory locations and elements can be accessed randomly using </a:t>
            </a:r>
            <a:r>
              <a:rPr lang="en-US" sz="24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indices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of an array. 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They can be used to store collection of </a:t>
            </a:r>
            <a:r>
              <a:rPr lang="en-US" sz="24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primitive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data types such as </a:t>
            </a:r>
            <a:r>
              <a:rPr lang="en-US" sz="24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float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double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char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Array is a </a:t>
            </a:r>
            <a:r>
              <a:rPr lang="en-US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static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data structure which cannot grow or shrink during program execution – </a:t>
            </a:r>
            <a:r>
              <a:rPr lang="en-US" sz="24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its size is fixed.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112705"/>
            <a:ext cx="64008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Arrays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839624-3E80-4165-862D-FBDD23D15B07}"/>
              </a:ext>
            </a:extLst>
          </p:cNvPr>
          <p:cNvSpPr/>
          <p:nvPr/>
        </p:nvSpPr>
        <p:spPr>
          <a:xfrm>
            <a:off x="0" y="762000"/>
            <a:ext cx="9144000" cy="380998"/>
          </a:xfrm>
          <a:prstGeom prst="rect">
            <a:avLst/>
          </a:prstGeom>
          <a:solidFill>
            <a:schemeClr val="tx2"/>
          </a:solidFill>
          <a:ln cap="rnd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is an Array?</a:t>
            </a:r>
          </a:p>
        </p:txBody>
      </p:sp>
    </p:spTree>
    <p:extLst>
      <p:ext uri="{BB962C8B-B14F-4D97-AF65-F5344CB8AC3E}">
        <p14:creationId xmlns:p14="http://schemas.microsoft.com/office/powerpoint/2010/main" val="3129850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3"/>
          <p:cNvSpPr txBox="1"/>
          <p:nvPr/>
        </p:nvSpPr>
        <p:spPr>
          <a:xfrm>
            <a:off x="266700" y="1215853"/>
            <a:ext cx="8610600" cy="57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Given below is an example of an array.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112705"/>
            <a:ext cx="64008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Arrays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839624-3E80-4165-862D-FBDD23D15B07}"/>
              </a:ext>
            </a:extLst>
          </p:cNvPr>
          <p:cNvSpPr/>
          <p:nvPr/>
        </p:nvSpPr>
        <p:spPr>
          <a:xfrm>
            <a:off x="0" y="762000"/>
            <a:ext cx="9144000" cy="380998"/>
          </a:xfrm>
          <a:prstGeom prst="rect">
            <a:avLst/>
          </a:prstGeom>
          <a:solidFill>
            <a:schemeClr val="tx2"/>
          </a:solidFill>
          <a:ln cap="rnd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Example</a:t>
            </a:r>
          </a:p>
        </p:txBody>
      </p:sp>
      <p:pic>
        <p:nvPicPr>
          <p:cNvPr id="10" name="Picture 2" descr="arrays">
            <a:extLst>
              <a:ext uri="{FF2B5EF4-FFF2-40B4-BE49-F238E27FC236}">
                <a16:creationId xmlns:a16="http://schemas.microsoft.com/office/drawing/2014/main" id="{D05C6FCF-9D30-47B4-ACD3-AD05FC0492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7769" y="2057400"/>
            <a:ext cx="6324600" cy="2407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6500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3"/>
          <p:cNvSpPr txBox="1"/>
          <p:nvPr/>
        </p:nvSpPr>
        <p:spPr>
          <a:xfrm>
            <a:off x="266700" y="1215853"/>
            <a:ext cx="8610600" cy="2795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There are various ways in which we can declare an array. It can be done by specifying its type and </a:t>
            </a:r>
            <a:r>
              <a:rPr lang="en-US" sz="24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size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by </a:t>
            </a:r>
            <a:r>
              <a:rPr lang="en-US" sz="24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initializing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it or </a:t>
            </a:r>
            <a:r>
              <a:rPr lang="en-US" sz="24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both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860425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Array declaration by specifying size</a:t>
            </a:r>
          </a:p>
          <a:p>
            <a:pPr marL="860425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Array declaration by initializing elements </a:t>
            </a:r>
          </a:p>
          <a:p>
            <a:pPr marL="860425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Array declaration by specifying size and initializing elements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112705"/>
            <a:ext cx="64008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Arrays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839624-3E80-4165-862D-FBDD23D15B07}"/>
              </a:ext>
            </a:extLst>
          </p:cNvPr>
          <p:cNvSpPr/>
          <p:nvPr/>
        </p:nvSpPr>
        <p:spPr>
          <a:xfrm>
            <a:off x="0" y="762000"/>
            <a:ext cx="9144000" cy="380998"/>
          </a:xfrm>
          <a:prstGeom prst="rect">
            <a:avLst/>
          </a:prstGeom>
          <a:solidFill>
            <a:schemeClr val="tx2"/>
          </a:solidFill>
          <a:ln cap="rnd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Array Declaration</a:t>
            </a:r>
          </a:p>
        </p:txBody>
      </p:sp>
    </p:spTree>
    <p:extLst>
      <p:ext uri="{BB962C8B-B14F-4D97-AF65-F5344CB8AC3E}">
        <p14:creationId xmlns:p14="http://schemas.microsoft.com/office/powerpoint/2010/main" val="1896450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3"/>
          <p:cNvSpPr txBox="1"/>
          <p:nvPr/>
        </p:nvSpPr>
        <p:spPr>
          <a:xfrm>
            <a:off x="266700" y="1447800"/>
            <a:ext cx="86106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Array declaration by specifying size</a:t>
            </a:r>
            <a:endParaRPr lang="en-US" altLang="en-US" sz="24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en-US" sz="2400" dirty="0">
                <a:solidFill>
                  <a:srgbClr val="4042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arr1[10];</a:t>
            </a:r>
            <a:endParaRPr lang="en-US" altLang="en-US" sz="24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4042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With recent C/C++ versions, we can also</a:t>
            </a:r>
            <a:endParaRPr lang="en-US" altLang="en-US" sz="24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declare an array of user specified size</a:t>
            </a:r>
            <a:endParaRPr lang="en-US" altLang="en-US" sz="24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en-US" sz="2400" dirty="0">
                <a:solidFill>
                  <a:srgbClr val="4042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 = 10; </a:t>
            </a:r>
            <a:r>
              <a:rPr lang="en-US" altLang="en-US" sz="2400" dirty="0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n is a value from user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en-US" sz="2400" dirty="0">
                <a:solidFill>
                  <a:srgbClr val="4042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arr2[n];</a:t>
            </a:r>
            <a:endParaRPr lang="en-US" altLang="en-US" sz="2400" dirty="0">
              <a:latin typeface="Arial" panose="020B0604020202020204" pitchFamily="34" charset="0"/>
            </a:endParaRP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112705"/>
            <a:ext cx="64008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Arrays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839624-3E80-4165-862D-FBDD23D15B07}"/>
              </a:ext>
            </a:extLst>
          </p:cNvPr>
          <p:cNvSpPr/>
          <p:nvPr/>
        </p:nvSpPr>
        <p:spPr>
          <a:xfrm>
            <a:off x="0" y="762000"/>
            <a:ext cx="9144000" cy="380998"/>
          </a:xfrm>
          <a:prstGeom prst="rect">
            <a:avLst/>
          </a:prstGeom>
          <a:solidFill>
            <a:schemeClr val="tx2"/>
          </a:solidFill>
          <a:ln cap="rnd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Array declaration by specifying size </a:t>
            </a:r>
          </a:p>
        </p:txBody>
      </p:sp>
    </p:spTree>
    <p:extLst>
      <p:ext uri="{BB962C8B-B14F-4D97-AF65-F5344CB8AC3E}">
        <p14:creationId xmlns:p14="http://schemas.microsoft.com/office/powerpoint/2010/main" val="3603118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3"/>
          <p:cNvSpPr txBox="1"/>
          <p:nvPr/>
        </p:nvSpPr>
        <p:spPr>
          <a:xfrm>
            <a:off x="266700" y="1447800"/>
            <a:ext cx="8610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Array declaration by initializing elements</a:t>
            </a:r>
            <a:endParaRPr lang="en-US" altLang="en-US" sz="24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en-US" sz="2400" dirty="0">
                <a:solidFill>
                  <a:srgbClr val="4042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en-US" sz="2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[] = { 10, 20, 30, 40 }</a:t>
            </a:r>
            <a:endParaRPr lang="en-US" altLang="en-US" sz="24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4042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Compiler creates an array of size 4. The above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is same as  "int </a:t>
            </a:r>
            <a:r>
              <a:rPr lang="en-US" altLang="en-US" sz="2400" dirty="0" err="1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US" altLang="en-US" sz="2400" dirty="0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[4] = {10, 20, 30, 40}"</a:t>
            </a:r>
            <a:endParaRPr lang="en-US" altLang="en-US" sz="2400" dirty="0">
              <a:latin typeface="Arial" panose="020B0604020202020204" pitchFamily="34" charset="0"/>
            </a:endParaRP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112705"/>
            <a:ext cx="64008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Arrays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839624-3E80-4165-862D-FBDD23D15B07}"/>
              </a:ext>
            </a:extLst>
          </p:cNvPr>
          <p:cNvSpPr/>
          <p:nvPr/>
        </p:nvSpPr>
        <p:spPr>
          <a:xfrm>
            <a:off x="0" y="762000"/>
            <a:ext cx="9144000" cy="380998"/>
          </a:xfrm>
          <a:prstGeom prst="rect">
            <a:avLst/>
          </a:prstGeom>
          <a:solidFill>
            <a:schemeClr val="tx2"/>
          </a:solidFill>
          <a:ln cap="rnd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Array declaration by initializing elements</a:t>
            </a:r>
          </a:p>
        </p:txBody>
      </p:sp>
    </p:spTree>
    <p:extLst>
      <p:ext uri="{BB962C8B-B14F-4D97-AF65-F5344CB8AC3E}">
        <p14:creationId xmlns:p14="http://schemas.microsoft.com/office/powerpoint/2010/main" val="595579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3"/>
          <p:cNvSpPr txBox="1"/>
          <p:nvPr/>
        </p:nvSpPr>
        <p:spPr>
          <a:xfrm>
            <a:off x="266700" y="1447800"/>
            <a:ext cx="86106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en-US" sz="2400" dirty="0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Array declaration by specifying size and </a:t>
            </a:r>
          </a:p>
          <a:p>
            <a:pPr lvl="0"/>
            <a:r>
              <a:rPr lang="en-US" altLang="en-US" sz="2400" dirty="0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initializing elements</a:t>
            </a:r>
          </a:p>
          <a:p>
            <a:pPr lvl="0"/>
            <a:r>
              <a:rPr lang="en-US" altLang="en-US" sz="2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US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[6] = { 10, 20, 30, 40 }</a:t>
            </a:r>
          </a:p>
          <a:p>
            <a:pPr lvl="0"/>
            <a:r>
              <a:rPr lang="en-US" altLang="en-US" sz="2400" dirty="0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</a:p>
          <a:p>
            <a:pPr lvl="0"/>
            <a:r>
              <a:rPr lang="en-US" altLang="en-US" sz="2400" dirty="0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Compiler creates an array of size 6, </a:t>
            </a:r>
          </a:p>
          <a:p>
            <a:pPr lvl="0"/>
            <a:r>
              <a:rPr lang="en-US" altLang="en-US" sz="2400" dirty="0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initializes first 4 elements as specified by // user and rest two elements as 0. above is </a:t>
            </a:r>
          </a:p>
          <a:p>
            <a:pPr lvl="0"/>
            <a:r>
              <a:rPr lang="en-US" altLang="en-US" sz="2400" dirty="0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same as  "int </a:t>
            </a:r>
            <a:r>
              <a:rPr lang="en-US" altLang="en-US" sz="2400" dirty="0" err="1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US" altLang="en-US" sz="2400" dirty="0">
                <a:solidFill>
                  <a:srgbClr val="0082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[] = {10, 20, 30, 40, 0, 0}"</a:t>
            </a:r>
            <a:endParaRPr lang="en-US" altLang="en-US" sz="2400" dirty="0">
              <a:latin typeface="Arial" panose="020B0604020202020204" pitchFamily="34" charset="0"/>
            </a:endParaRP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112705"/>
            <a:ext cx="64008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Arrays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839624-3E80-4165-862D-FBDD23D15B07}"/>
              </a:ext>
            </a:extLst>
          </p:cNvPr>
          <p:cNvSpPr/>
          <p:nvPr/>
        </p:nvSpPr>
        <p:spPr>
          <a:xfrm>
            <a:off x="0" y="762000"/>
            <a:ext cx="9144000" cy="380998"/>
          </a:xfrm>
          <a:prstGeom prst="rect">
            <a:avLst/>
          </a:prstGeom>
          <a:solidFill>
            <a:schemeClr val="tx2"/>
          </a:solidFill>
          <a:ln cap="rnd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Array declaration by specifying size and initializing elements</a:t>
            </a:r>
          </a:p>
        </p:txBody>
      </p:sp>
    </p:spTree>
    <p:extLst>
      <p:ext uri="{BB962C8B-B14F-4D97-AF65-F5344CB8AC3E}">
        <p14:creationId xmlns:p14="http://schemas.microsoft.com/office/powerpoint/2010/main" val="1176572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3"/>
          <p:cNvSpPr txBox="1"/>
          <p:nvPr/>
        </p:nvSpPr>
        <p:spPr>
          <a:xfrm>
            <a:off x="266700" y="1215853"/>
            <a:ext cx="8610600" cy="390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Arrays represent multiple data items of the same type using a single name.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Elements can be accessed randomly by using the index number.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Easy access to all the elements.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Traversal through the array becomes easy using a single loop.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Sorting becomes easy as it can be accomplished by writing less line of code.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112705"/>
            <a:ext cx="64008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Arrays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839624-3E80-4165-862D-FBDD23D15B07}"/>
              </a:ext>
            </a:extLst>
          </p:cNvPr>
          <p:cNvSpPr/>
          <p:nvPr/>
        </p:nvSpPr>
        <p:spPr>
          <a:xfrm>
            <a:off x="0" y="762000"/>
            <a:ext cx="9144000" cy="380998"/>
          </a:xfrm>
          <a:prstGeom prst="rect">
            <a:avLst/>
          </a:prstGeom>
          <a:solidFill>
            <a:schemeClr val="tx2"/>
          </a:solidFill>
          <a:ln cap="rnd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Advantages of an Array in C/C++</a:t>
            </a:r>
          </a:p>
        </p:txBody>
      </p:sp>
    </p:spTree>
    <p:extLst>
      <p:ext uri="{BB962C8B-B14F-4D97-AF65-F5344CB8AC3E}">
        <p14:creationId xmlns:p14="http://schemas.microsoft.com/office/powerpoint/2010/main" val="1203764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3"/>
          <p:cNvSpPr txBox="1"/>
          <p:nvPr/>
        </p:nvSpPr>
        <p:spPr>
          <a:xfrm>
            <a:off x="266700" y="1215853"/>
            <a:ext cx="8610600" cy="2795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An array is a </a:t>
            </a:r>
            <a:r>
              <a:rPr lang="en-US" sz="24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static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structure, which allows a </a:t>
            </a:r>
            <a:r>
              <a:rPr lang="en-US" sz="24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fixed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number of elements to be entered that is decided at the time of declaration. 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Allocating </a:t>
            </a:r>
            <a:r>
              <a:rPr lang="en-US" sz="24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more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memory</a:t>
            </a:r>
            <a:r>
              <a:rPr lang="en-US" sz="24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than the requirement leads to </a:t>
            </a:r>
            <a:r>
              <a:rPr lang="en-US" sz="24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wastage of memory space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4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less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allocation of memory also leads to a </a:t>
            </a:r>
            <a:r>
              <a:rPr lang="en-US" sz="24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problem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112705"/>
            <a:ext cx="64008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Arrays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839624-3E80-4165-862D-FBDD23D15B07}"/>
              </a:ext>
            </a:extLst>
          </p:cNvPr>
          <p:cNvSpPr/>
          <p:nvPr/>
        </p:nvSpPr>
        <p:spPr>
          <a:xfrm>
            <a:off x="0" y="762000"/>
            <a:ext cx="9144000" cy="380998"/>
          </a:xfrm>
          <a:prstGeom prst="rect">
            <a:avLst/>
          </a:prstGeom>
          <a:solidFill>
            <a:schemeClr val="tx2"/>
          </a:solidFill>
          <a:ln cap="rnd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Disadvantages of an Array in C/C++</a:t>
            </a:r>
          </a:p>
        </p:txBody>
      </p:sp>
    </p:spTree>
    <p:extLst>
      <p:ext uri="{BB962C8B-B14F-4D97-AF65-F5344CB8AC3E}">
        <p14:creationId xmlns:p14="http://schemas.microsoft.com/office/powerpoint/2010/main" val="3852921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3"/>
          <p:cNvSpPr txBox="1"/>
          <p:nvPr/>
        </p:nvSpPr>
        <p:spPr>
          <a:xfrm>
            <a:off x="266700" y="1215853"/>
            <a:ext cx="8610600" cy="11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Array elements are accessed by using an </a:t>
            </a:r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integer index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 Array index starts with </a:t>
            </a:r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and goes till </a:t>
            </a:r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size of array minus 1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112705"/>
            <a:ext cx="64008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Arrays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839624-3E80-4165-862D-FBDD23D15B07}"/>
              </a:ext>
            </a:extLst>
          </p:cNvPr>
          <p:cNvSpPr/>
          <p:nvPr/>
        </p:nvSpPr>
        <p:spPr>
          <a:xfrm>
            <a:off x="0" y="762000"/>
            <a:ext cx="9144000" cy="380998"/>
          </a:xfrm>
          <a:prstGeom prst="rect">
            <a:avLst/>
          </a:prstGeom>
          <a:solidFill>
            <a:schemeClr val="tx2"/>
          </a:solidFill>
          <a:ln cap="rnd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Accessing Array Elements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B70CC160-A168-4B7B-82AB-D09C8F0E29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699" y="2746547"/>
            <a:ext cx="6934602" cy="327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9929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112705"/>
            <a:ext cx="64008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Arrays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839624-3E80-4165-862D-FBDD23D15B07}"/>
              </a:ext>
            </a:extLst>
          </p:cNvPr>
          <p:cNvSpPr/>
          <p:nvPr/>
        </p:nvSpPr>
        <p:spPr>
          <a:xfrm>
            <a:off x="0" y="762000"/>
            <a:ext cx="9144000" cy="380998"/>
          </a:xfrm>
          <a:prstGeom prst="rect">
            <a:avLst/>
          </a:prstGeom>
          <a:solidFill>
            <a:schemeClr val="tx2"/>
          </a:solidFill>
          <a:ln cap="rnd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Example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0A103A-75AF-4595-873D-7EFA47018C38}"/>
              </a:ext>
            </a:extLst>
          </p:cNvPr>
          <p:cNvSpPr txBox="1"/>
          <p:nvPr/>
        </p:nvSpPr>
        <p:spPr>
          <a:xfrm>
            <a:off x="381000" y="1720840"/>
            <a:ext cx="900040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arr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[-1]  </a:t>
            </a:r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illegal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arr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[6] </a:t>
            </a:r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illegal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(6 &gt; upper bound)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arr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[1.5] </a:t>
            </a:r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illegal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arr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[0] </a:t>
            </a:r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OK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arr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[5] </a:t>
            </a:r>
            <a:r>
              <a:rPr lang="en-US" sz="24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OK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What’s the difference between?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arr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[2] + 10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2.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arr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[1] =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arr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[2] + 10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41EAF5-D742-46FE-B4A8-502BFA8EE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7173" y="1426918"/>
            <a:ext cx="2312534" cy="4637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122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112705"/>
            <a:ext cx="64008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Arrays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839624-3E80-4165-862D-FBDD23D15B07}"/>
              </a:ext>
            </a:extLst>
          </p:cNvPr>
          <p:cNvSpPr/>
          <p:nvPr/>
        </p:nvSpPr>
        <p:spPr>
          <a:xfrm>
            <a:off x="0" y="762000"/>
            <a:ext cx="9144000" cy="380998"/>
          </a:xfrm>
          <a:prstGeom prst="rect">
            <a:avLst/>
          </a:prstGeom>
          <a:solidFill>
            <a:schemeClr val="tx2"/>
          </a:solidFill>
          <a:ln cap="rnd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Example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0A103A-75AF-4595-873D-7EFA47018C38}"/>
              </a:ext>
            </a:extLst>
          </p:cNvPr>
          <p:cNvSpPr txBox="1"/>
          <p:nvPr/>
        </p:nvSpPr>
        <p:spPr>
          <a:xfrm>
            <a:off x="152564" y="1295400"/>
            <a:ext cx="9000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elements are stored at 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contiguous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memory locations 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09ED55A6-D962-418C-83D3-04DD49E52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564" y="2533194"/>
            <a:ext cx="8640186" cy="41857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#include 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std;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main() {</a:t>
            </a:r>
          </a:p>
          <a:p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    // an array of 10 integers.  If 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arr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[0] is stored at address x, </a:t>
            </a:r>
          </a:p>
          <a:p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   // then 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arr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[1] is stored at x + 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sizeof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(int) and 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arr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[2] is stored at </a:t>
            </a:r>
          </a:p>
          <a:p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   // x + 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sizeof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(int) + 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sizeof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(int)  and so on.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],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"Size of integer in this compiler is "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&lt;&lt; 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 &lt;&lt; 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"\n"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 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        // The use of '&amp;' before a variable name, yields address of variable.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"Address </a:t>
            </a:r>
            <a:r>
              <a:rPr lang="en-US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arr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["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"] is 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&amp;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 &lt;&lt; 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"\n"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7B1B247-CF7F-48D7-AD19-8E12D87CD242}"/>
              </a:ext>
            </a:extLst>
          </p:cNvPr>
          <p:cNvSpPr/>
          <p:nvPr/>
        </p:nvSpPr>
        <p:spPr>
          <a:xfrm>
            <a:off x="4572000" y="1905000"/>
            <a:ext cx="4305300" cy="1295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dirty="0"/>
              <a:t>Size of integer in this compiler is 4</a:t>
            </a:r>
          </a:p>
          <a:p>
            <a:r>
              <a:rPr lang="en-US" sz="2200" dirty="0"/>
              <a:t>Address </a:t>
            </a:r>
            <a:r>
              <a:rPr lang="en-US" sz="2200" dirty="0" err="1"/>
              <a:t>arr</a:t>
            </a:r>
            <a:r>
              <a:rPr lang="en-US" sz="2200" dirty="0"/>
              <a:t>[0] is 0x7ffe75c32210</a:t>
            </a:r>
          </a:p>
          <a:p>
            <a:r>
              <a:rPr lang="en-US" sz="2200" dirty="0"/>
              <a:t>Address </a:t>
            </a:r>
            <a:r>
              <a:rPr lang="en-US" sz="2200" dirty="0" err="1"/>
              <a:t>arr</a:t>
            </a:r>
            <a:r>
              <a:rPr lang="en-US" sz="2200" dirty="0"/>
              <a:t>[1] is 0x7ffe75c32214</a:t>
            </a:r>
          </a:p>
          <a:p>
            <a:r>
              <a:rPr lang="en-US" sz="2200" dirty="0"/>
              <a:t>Address </a:t>
            </a:r>
            <a:r>
              <a:rPr lang="en-US" sz="2200" dirty="0" err="1"/>
              <a:t>arr</a:t>
            </a:r>
            <a:r>
              <a:rPr lang="en-US" sz="2200" dirty="0"/>
              <a:t>[2] is 0x7ffe75c32218</a:t>
            </a:r>
          </a:p>
        </p:txBody>
      </p:sp>
    </p:spTree>
    <p:extLst>
      <p:ext uri="{BB962C8B-B14F-4D97-AF65-F5344CB8AC3E}">
        <p14:creationId xmlns:p14="http://schemas.microsoft.com/office/powerpoint/2010/main" val="2980215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0" grpId="0" animBg="1"/>
      <p:bldP spid="1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112705"/>
            <a:ext cx="64008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Arrays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839624-3E80-4165-862D-FBDD23D15B07}"/>
              </a:ext>
            </a:extLst>
          </p:cNvPr>
          <p:cNvSpPr/>
          <p:nvPr/>
        </p:nvSpPr>
        <p:spPr>
          <a:xfrm>
            <a:off x="0" y="762000"/>
            <a:ext cx="9144000" cy="380998"/>
          </a:xfrm>
          <a:prstGeom prst="rect">
            <a:avLst/>
          </a:prstGeom>
          <a:solidFill>
            <a:schemeClr val="tx2"/>
          </a:solidFill>
          <a:ln cap="rnd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Search in an unsorted array (Sequential Search)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60A103A-75AF-4595-873D-7EFA47018C38}"/>
                  </a:ext>
                </a:extLst>
              </p:cNvPr>
              <p:cNvSpPr txBox="1"/>
              <p:nvPr/>
            </p:nvSpPr>
            <p:spPr>
              <a:xfrm>
                <a:off x="152564" y="1295400"/>
                <a:ext cx="9000401" cy="12464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ts val="3000"/>
                  </a:lnSpc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In an unsorted array, search operation can be performed by </a:t>
                </a:r>
                <a:r>
                  <a:rPr lang="en-US" sz="2400" b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linear traversal 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from first element to last element. The </a:t>
                </a:r>
                <a:r>
                  <a:rPr lang="en-US" sz="2400" b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time complexity 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of </a:t>
                </a:r>
                <a:r>
                  <a:rPr lang="en-US" sz="2400" b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search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in an </a:t>
                </a:r>
                <a:r>
                  <a:rPr lang="en-US" sz="2400" b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unsorted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array is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𝑶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(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𝒏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)</m:t>
                    </m:r>
                  </m:oMath>
                </a14:m>
                <a:endParaRPr lang="en-US" sz="24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60A103A-75AF-4595-873D-7EFA47018C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564" y="1295400"/>
                <a:ext cx="9000401" cy="1246495"/>
              </a:xfrm>
              <a:prstGeom prst="rect">
                <a:avLst/>
              </a:prstGeom>
              <a:blipFill>
                <a:blip r:embed="rId5"/>
                <a:stretch>
                  <a:fillRect l="-1016" t="-4412" r="-1084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692BCB09-18E4-4956-B70F-9965F9720C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4675" y="3075294"/>
            <a:ext cx="6712525" cy="3217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508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112705"/>
            <a:ext cx="64008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Arrays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839624-3E80-4165-862D-FBDD23D15B07}"/>
              </a:ext>
            </a:extLst>
          </p:cNvPr>
          <p:cNvSpPr/>
          <p:nvPr/>
        </p:nvSpPr>
        <p:spPr>
          <a:xfrm>
            <a:off x="0" y="762000"/>
            <a:ext cx="9144000" cy="380998"/>
          </a:xfrm>
          <a:prstGeom prst="rect">
            <a:avLst/>
          </a:prstGeom>
          <a:solidFill>
            <a:schemeClr val="tx2"/>
          </a:solidFill>
          <a:ln cap="rnd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Search in an unsorted array (Sequential Search)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59B4AA-9E3E-4EE3-818C-9591496CF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905000"/>
            <a:ext cx="7467599" cy="4437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167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0"/>
            <a:ext cx="64008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Arrays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839624-3E80-4165-862D-FBDD23D15B07}"/>
              </a:ext>
            </a:extLst>
          </p:cNvPr>
          <p:cNvSpPr/>
          <p:nvPr/>
        </p:nvSpPr>
        <p:spPr>
          <a:xfrm>
            <a:off x="0" y="533400"/>
            <a:ext cx="9144000" cy="380998"/>
          </a:xfrm>
          <a:prstGeom prst="rect">
            <a:avLst/>
          </a:prstGeom>
          <a:solidFill>
            <a:schemeClr val="tx2"/>
          </a:solidFill>
          <a:ln cap="rnd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Search in an unsorted array (Sequential Search)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EFC405-48F3-4D3B-9925-B82EEFCE0A5B}"/>
              </a:ext>
            </a:extLst>
          </p:cNvPr>
          <p:cNvSpPr txBox="1"/>
          <p:nvPr/>
        </p:nvSpPr>
        <p:spPr>
          <a:xfrm>
            <a:off x="67399" y="838200"/>
            <a:ext cx="8771801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main(){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[] = {</a:t>
            </a:r>
            <a:r>
              <a:rPr lang="en-US" sz="2800" dirty="0">
                <a:solidFill>
                  <a:srgbClr val="0986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800" dirty="0">
                <a:solidFill>
                  <a:srgbClr val="0986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34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800" dirty="0">
                <a:solidFill>
                  <a:srgbClr val="0986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800" dirty="0">
                <a:solidFill>
                  <a:srgbClr val="0986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800" dirty="0">
                <a:solidFill>
                  <a:srgbClr val="0986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n = </a:t>
            </a:r>
            <a:r>
              <a:rPr 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sizeof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 / </a:t>
            </a:r>
            <a:r>
              <a:rPr 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sizeof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2800" dirty="0">
                <a:solidFill>
                  <a:srgbClr val="0986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]);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// Using a last element as search element</a:t>
            </a:r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key = </a:t>
            </a:r>
            <a:r>
              <a:rPr lang="en-US" sz="2800" dirty="0">
                <a:solidFill>
                  <a:srgbClr val="0986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index = 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findElement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 n, key);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(index == - </a:t>
            </a:r>
            <a:r>
              <a:rPr lang="en-US" sz="2800" dirty="0">
                <a:solidFill>
                  <a:srgbClr val="0986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&lt;&lt; </a:t>
            </a:r>
            <a:r>
              <a:rPr lang="en-US" sz="2800" dirty="0">
                <a:solidFill>
                  <a:srgbClr val="A315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"Element not found"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&lt;&lt; </a:t>
            </a:r>
            <a:r>
              <a:rPr lang="en-US" sz="2800" dirty="0">
                <a:solidFill>
                  <a:srgbClr val="A315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"Element Found at index: "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&lt;&lt; index;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800" dirty="0">
                <a:solidFill>
                  <a:srgbClr val="0986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5E8B20E-47C8-412C-9E3A-CFA9979B3809}"/>
              </a:ext>
            </a:extLst>
          </p:cNvPr>
          <p:cNvGrpSpPr/>
          <p:nvPr/>
        </p:nvGrpSpPr>
        <p:grpSpPr>
          <a:xfrm>
            <a:off x="5791200" y="1066800"/>
            <a:ext cx="3048000" cy="685800"/>
            <a:chOff x="4724400" y="1066800"/>
            <a:chExt cx="3048000" cy="6858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80A3881-5F9B-4899-94FB-C670F99CC38C}"/>
                </a:ext>
              </a:extLst>
            </p:cNvPr>
            <p:cNvSpPr/>
            <p:nvPr/>
          </p:nvSpPr>
          <p:spPr>
            <a:xfrm>
              <a:off x="47244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F3EE08E-B8DF-4DBC-934B-0838B82A1B57}"/>
                </a:ext>
              </a:extLst>
            </p:cNvPr>
            <p:cNvSpPr/>
            <p:nvPr/>
          </p:nvSpPr>
          <p:spPr>
            <a:xfrm>
              <a:off x="53340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34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F67B594-A647-4B57-AABF-6340B9C7C6C9}"/>
                </a:ext>
              </a:extLst>
            </p:cNvPr>
            <p:cNvSpPr/>
            <p:nvPr/>
          </p:nvSpPr>
          <p:spPr>
            <a:xfrm>
              <a:off x="5943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3314111-CD0D-49C8-B043-7D565798AD90}"/>
                </a:ext>
              </a:extLst>
            </p:cNvPr>
            <p:cNvSpPr/>
            <p:nvPr/>
          </p:nvSpPr>
          <p:spPr>
            <a:xfrm>
              <a:off x="65532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89FD87B-D766-4410-BB87-1B890050C147}"/>
                </a:ext>
              </a:extLst>
            </p:cNvPr>
            <p:cNvSpPr/>
            <p:nvPr/>
          </p:nvSpPr>
          <p:spPr>
            <a:xfrm>
              <a:off x="71628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40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91D62C79-6057-41EC-8586-EBF248D56DB5}"/>
              </a:ext>
            </a:extLst>
          </p:cNvPr>
          <p:cNvSpPr/>
          <p:nvPr/>
        </p:nvSpPr>
        <p:spPr>
          <a:xfrm>
            <a:off x="6248400" y="1752600"/>
            <a:ext cx="9144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342A0B-36E1-4CC3-BB75-0A8CF008A3B3}"/>
              </a:ext>
            </a:extLst>
          </p:cNvPr>
          <p:cNvSpPr/>
          <p:nvPr/>
        </p:nvSpPr>
        <p:spPr>
          <a:xfrm>
            <a:off x="6477000" y="2971800"/>
            <a:ext cx="11430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key=40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FA5DC890-2877-4385-8326-B7D9CE04008D}"/>
              </a:ext>
            </a:extLst>
          </p:cNvPr>
          <p:cNvSpPr/>
          <p:nvPr/>
        </p:nvSpPr>
        <p:spPr>
          <a:xfrm>
            <a:off x="4876800" y="1295400"/>
            <a:ext cx="914400" cy="2363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49CE944F-4F93-4D0A-BED2-9665A773405A}"/>
              </a:ext>
            </a:extLst>
          </p:cNvPr>
          <p:cNvSpPr/>
          <p:nvPr/>
        </p:nvSpPr>
        <p:spPr>
          <a:xfrm>
            <a:off x="5410200" y="1905000"/>
            <a:ext cx="914400" cy="2363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EEA86E80-57CE-4904-AFEF-9E3D93E9C87C}"/>
              </a:ext>
            </a:extLst>
          </p:cNvPr>
          <p:cNvSpPr/>
          <p:nvPr/>
        </p:nvSpPr>
        <p:spPr>
          <a:xfrm>
            <a:off x="5334000" y="3116451"/>
            <a:ext cx="914400" cy="2363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0AFBDC6-5B54-4664-B7BB-5F5FADB96B0F}"/>
              </a:ext>
            </a:extLst>
          </p:cNvPr>
          <p:cNvSpPr/>
          <p:nvPr/>
        </p:nvSpPr>
        <p:spPr>
          <a:xfrm>
            <a:off x="2057400" y="3429000"/>
            <a:ext cx="3733800" cy="533400"/>
          </a:xfrm>
          <a:prstGeom prst="roundRect">
            <a:avLst/>
          </a:prstGeom>
          <a:noFill/>
          <a:ln w="412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288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2" grpId="0"/>
      <p:bldP spid="23" grpId="0"/>
      <p:bldP spid="13" grpId="0" animBg="1"/>
      <p:bldP spid="24" grpId="0" animBg="1"/>
      <p:bldP spid="25" grpId="0" animBg="1"/>
      <p:bldP spid="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0"/>
            <a:ext cx="64008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Arrays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839624-3E80-4165-862D-FBDD23D15B07}"/>
              </a:ext>
            </a:extLst>
          </p:cNvPr>
          <p:cNvSpPr/>
          <p:nvPr/>
        </p:nvSpPr>
        <p:spPr>
          <a:xfrm>
            <a:off x="0" y="533400"/>
            <a:ext cx="9144000" cy="380998"/>
          </a:xfrm>
          <a:prstGeom prst="rect">
            <a:avLst/>
          </a:prstGeom>
          <a:solidFill>
            <a:schemeClr val="tx2"/>
          </a:solidFill>
          <a:ln cap="rnd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Search in an unsorted array (Sequential Search)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EFC405-48F3-4D3B-9925-B82EEFCE0A5B}"/>
              </a:ext>
            </a:extLst>
          </p:cNvPr>
          <p:cNvSpPr txBox="1"/>
          <p:nvPr/>
        </p:nvSpPr>
        <p:spPr>
          <a:xfrm>
            <a:off x="0" y="2125682"/>
            <a:ext cx="877180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findElement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[],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n,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key){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28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&lt; n;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] == key)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-</a:t>
            </a:r>
            <a:r>
              <a:rPr lang="en-US" sz="28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5E8B20E-47C8-412C-9E3A-CFA9979B3809}"/>
              </a:ext>
            </a:extLst>
          </p:cNvPr>
          <p:cNvGrpSpPr/>
          <p:nvPr/>
        </p:nvGrpSpPr>
        <p:grpSpPr>
          <a:xfrm>
            <a:off x="2057400" y="914400"/>
            <a:ext cx="3048000" cy="685800"/>
            <a:chOff x="4724400" y="1066800"/>
            <a:chExt cx="3048000" cy="6858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80A3881-5F9B-4899-94FB-C670F99CC38C}"/>
                </a:ext>
              </a:extLst>
            </p:cNvPr>
            <p:cNvSpPr/>
            <p:nvPr/>
          </p:nvSpPr>
          <p:spPr>
            <a:xfrm>
              <a:off x="47244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F3EE08E-B8DF-4DBC-934B-0838B82A1B57}"/>
                </a:ext>
              </a:extLst>
            </p:cNvPr>
            <p:cNvSpPr/>
            <p:nvPr/>
          </p:nvSpPr>
          <p:spPr>
            <a:xfrm>
              <a:off x="53340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34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F67B594-A647-4B57-AABF-6340B9C7C6C9}"/>
                </a:ext>
              </a:extLst>
            </p:cNvPr>
            <p:cNvSpPr/>
            <p:nvPr/>
          </p:nvSpPr>
          <p:spPr>
            <a:xfrm>
              <a:off x="5943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3314111-CD0D-49C8-B043-7D565798AD90}"/>
                </a:ext>
              </a:extLst>
            </p:cNvPr>
            <p:cNvSpPr/>
            <p:nvPr/>
          </p:nvSpPr>
          <p:spPr>
            <a:xfrm>
              <a:off x="65532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89FD87B-D766-4410-BB87-1B890050C147}"/>
                </a:ext>
              </a:extLst>
            </p:cNvPr>
            <p:cNvSpPr/>
            <p:nvPr/>
          </p:nvSpPr>
          <p:spPr>
            <a:xfrm>
              <a:off x="71628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40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91D62C79-6057-41EC-8586-EBF248D56DB5}"/>
              </a:ext>
            </a:extLst>
          </p:cNvPr>
          <p:cNvSpPr/>
          <p:nvPr/>
        </p:nvSpPr>
        <p:spPr>
          <a:xfrm>
            <a:off x="5562600" y="1066800"/>
            <a:ext cx="9144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342A0B-36E1-4CC3-BB75-0A8CF008A3B3}"/>
              </a:ext>
            </a:extLst>
          </p:cNvPr>
          <p:cNvSpPr/>
          <p:nvPr/>
        </p:nvSpPr>
        <p:spPr>
          <a:xfrm>
            <a:off x="7239000" y="1066800"/>
            <a:ext cx="11430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key=40</a:t>
            </a:r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09B5ADD1-3247-417F-BEE1-557043278F10}"/>
              </a:ext>
            </a:extLst>
          </p:cNvPr>
          <p:cNvSpPr/>
          <p:nvPr/>
        </p:nvSpPr>
        <p:spPr>
          <a:xfrm>
            <a:off x="4152900" y="16002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C57023B5-3766-4788-B10B-D50B51B66A58}"/>
              </a:ext>
            </a:extLst>
          </p:cNvPr>
          <p:cNvSpPr/>
          <p:nvPr/>
        </p:nvSpPr>
        <p:spPr>
          <a:xfrm>
            <a:off x="5829300" y="16002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6E9A84E6-E0CF-404D-9F52-57A2A0CD2813}"/>
              </a:ext>
            </a:extLst>
          </p:cNvPr>
          <p:cNvSpPr/>
          <p:nvPr/>
        </p:nvSpPr>
        <p:spPr>
          <a:xfrm>
            <a:off x="7581900" y="16002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C1B7B56-DE21-4D36-B54A-4B0C04CA85D7}"/>
              </a:ext>
            </a:extLst>
          </p:cNvPr>
          <p:cNvGrpSpPr/>
          <p:nvPr/>
        </p:nvGrpSpPr>
        <p:grpSpPr>
          <a:xfrm>
            <a:off x="5715000" y="3962400"/>
            <a:ext cx="3048000" cy="685800"/>
            <a:chOff x="4724400" y="1066800"/>
            <a:chExt cx="3048000" cy="6858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4929856-65CA-4B30-8912-5AD143425573}"/>
                </a:ext>
              </a:extLst>
            </p:cNvPr>
            <p:cNvSpPr/>
            <p:nvPr/>
          </p:nvSpPr>
          <p:spPr>
            <a:xfrm>
              <a:off x="47244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AD6EFE-568B-4118-ACC3-C748E70F04F0}"/>
                </a:ext>
              </a:extLst>
            </p:cNvPr>
            <p:cNvSpPr/>
            <p:nvPr/>
          </p:nvSpPr>
          <p:spPr>
            <a:xfrm>
              <a:off x="53340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34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3C085A8-8A1A-4CEB-9FF6-492AE7B7F64A}"/>
                </a:ext>
              </a:extLst>
            </p:cNvPr>
            <p:cNvSpPr/>
            <p:nvPr/>
          </p:nvSpPr>
          <p:spPr>
            <a:xfrm>
              <a:off x="5943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0F6C7F4-DF5D-429B-8B81-66EAE30FF670}"/>
                </a:ext>
              </a:extLst>
            </p:cNvPr>
            <p:cNvSpPr/>
            <p:nvPr/>
          </p:nvSpPr>
          <p:spPr>
            <a:xfrm>
              <a:off x="65532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1A31049-0E27-4471-9977-7CF1BA00DF97}"/>
                </a:ext>
              </a:extLst>
            </p:cNvPr>
            <p:cNvSpPr/>
            <p:nvPr/>
          </p:nvSpPr>
          <p:spPr>
            <a:xfrm>
              <a:off x="71628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40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0064622-E628-4327-900F-5A241E882242}"/>
              </a:ext>
            </a:extLst>
          </p:cNvPr>
          <p:cNvGrpSpPr/>
          <p:nvPr/>
        </p:nvGrpSpPr>
        <p:grpSpPr>
          <a:xfrm>
            <a:off x="5715000" y="3048000"/>
            <a:ext cx="609598" cy="824843"/>
            <a:chOff x="5715000" y="3048000"/>
            <a:chExt cx="609598" cy="824843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284E63F-3D1B-432E-8192-435AD7D17C61}"/>
                </a:ext>
              </a:extLst>
            </p:cNvPr>
            <p:cNvSpPr/>
            <p:nvPr/>
          </p:nvSpPr>
          <p:spPr>
            <a:xfrm>
              <a:off x="5715000" y="3048000"/>
              <a:ext cx="609598" cy="533400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=0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E441614E-F5E0-4894-9B8F-2765372D5402}"/>
                </a:ext>
              </a:extLst>
            </p:cNvPr>
            <p:cNvCxnSpPr/>
            <p:nvPr/>
          </p:nvCxnSpPr>
          <p:spPr>
            <a:xfrm>
              <a:off x="5981700" y="3426738"/>
              <a:ext cx="0" cy="446105"/>
            </a:xfrm>
            <a:prstGeom prst="straightConnector1">
              <a:avLst/>
            </a:prstGeom>
            <a:ln w="412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F118D8A-F7E2-4C29-9597-50E499654031}"/>
              </a:ext>
            </a:extLst>
          </p:cNvPr>
          <p:cNvGrpSpPr/>
          <p:nvPr/>
        </p:nvGrpSpPr>
        <p:grpSpPr>
          <a:xfrm>
            <a:off x="5410200" y="4724400"/>
            <a:ext cx="1143000" cy="1066800"/>
            <a:chOff x="5410200" y="4724400"/>
            <a:chExt cx="1143000" cy="106680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13B0365-C263-48C9-A495-F786B84CDCC7}"/>
                </a:ext>
              </a:extLst>
            </p:cNvPr>
            <p:cNvSpPr/>
            <p:nvPr/>
          </p:nvSpPr>
          <p:spPr>
            <a:xfrm>
              <a:off x="5410200" y="5257800"/>
              <a:ext cx="1143000" cy="533400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key=40</a:t>
              </a:r>
            </a:p>
          </p:txBody>
        </p:sp>
        <p:sp>
          <p:nvSpPr>
            <p:cNvPr id="39" name="Arrow: Up 38">
              <a:extLst>
                <a:ext uri="{FF2B5EF4-FFF2-40B4-BE49-F238E27FC236}">
                  <a16:creationId xmlns:a16="http://schemas.microsoft.com/office/drawing/2014/main" id="{5C5BFF22-E497-47BD-B3AF-A4BF5868C6B9}"/>
                </a:ext>
              </a:extLst>
            </p:cNvPr>
            <p:cNvSpPr/>
            <p:nvPr/>
          </p:nvSpPr>
          <p:spPr>
            <a:xfrm>
              <a:off x="5905500" y="4724400"/>
              <a:ext cx="266700" cy="533400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42815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2" grpId="0"/>
      <p:bldP spid="23" grpId="0"/>
      <p:bldP spid="26" grpId="0" animBg="1"/>
      <p:bldP spid="27" grpId="0" animBg="1"/>
      <p:bldP spid="2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0"/>
            <a:ext cx="64008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Arrays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839624-3E80-4165-862D-FBDD23D15B07}"/>
              </a:ext>
            </a:extLst>
          </p:cNvPr>
          <p:cNvSpPr/>
          <p:nvPr/>
        </p:nvSpPr>
        <p:spPr>
          <a:xfrm>
            <a:off x="0" y="533400"/>
            <a:ext cx="9144000" cy="380998"/>
          </a:xfrm>
          <a:prstGeom prst="rect">
            <a:avLst/>
          </a:prstGeom>
          <a:solidFill>
            <a:schemeClr val="tx2"/>
          </a:solidFill>
          <a:ln cap="rnd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Search in an unsorted array (Sequential Search)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EFC405-48F3-4D3B-9925-B82EEFCE0A5B}"/>
              </a:ext>
            </a:extLst>
          </p:cNvPr>
          <p:cNvSpPr txBox="1"/>
          <p:nvPr/>
        </p:nvSpPr>
        <p:spPr>
          <a:xfrm>
            <a:off x="0" y="2125682"/>
            <a:ext cx="877180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findElement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[],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n,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key){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28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&lt; n;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] == key)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-</a:t>
            </a:r>
            <a:r>
              <a:rPr lang="en-US" sz="28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5E8B20E-47C8-412C-9E3A-CFA9979B3809}"/>
              </a:ext>
            </a:extLst>
          </p:cNvPr>
          <p:cNvGrpSpPr/>
          <p:nvPr/>
        </p:nvGrpSpPr>
        <p:grpSpPr>
          <a:xfrm>
            <a:off x="2057400" y="914400"/>
            <a:ext cx="3048000" cy="685800"/>
            <a:chOff x="4724400" y="1066800"/>
            <a:chExt cx="3048000" cy="6858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80A3881-5F9B-4899-94FB-C670F99CC38C}"/>
                </a:ext>
              </a:extLst>
            </p:cNvPr>
            <p:cNvSpPr/>
            <p:nvPr/>
          </p:nvSpPr>
          <p:spPr>
            <a:xfrm>
              <a:off x="47244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F3EE08E-B8DF-4DBC-934B-0838B82A1B57}"/>
                </a:ext>
              </a:extLst>
            </p:cNvPr>
            <p:cNvSpPr/>
            <p:nvPr/>
          </p:nvSpPr>
          <p:spPr>
            <a:xfrm>
              <a:off x="53340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34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F67B594-A647-4B57-AABF-6340B9C7C6C9}"/>
                </a:ext>
              </a:extLst>
            </p:cNvPr>
            <p:cNvSpPr/>
            <p:nvPr/>
          </p:nvSpPr>
          <p:spPr>
            <a:xfrm>
              <a:off x="5943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3314111-CD0D-49C8-B043-7D565798AD90}"/>
                </a:ext>
              </a:extLst>
            </p:cNvPr>
            <p:cNvSpPr/>
            <p:nvPr/>
          </p:nvSpPr>
          <p:spPr>
            <a:xfrm>
              <a:off x="65532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89FD87B-D766-4410-BB87-1B890050C147}"/>
                </a:ext>
              </a:extLst>
            </p:cNvPr>
            <p:cNvSpPr/>
            <p:nvPr/>
          </p:nvSpPr>
          <p:spPr>
            <a:xfrm>
              <a:off x="71628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40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91D62C79-6057-41EC-8586-EBF248D56DB5}"/>
              </a:ext>
            </a:extLst>
          </p:cNvPr>
          <p:cNvSpPr/>
          <p:nvPr/>
        </p:nvSpPr>
        <p:spPr>
          <a:xfrm>
            <a:off x="5562600" y="1066800"/>
            <a:ext cx="9144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342A0B-36E1-4CC3-BB75-0A8CF008A3B3}"/>
              </a:ext>
            </a:extLst>
          </p:cNvPr>
          <p:cNvSpPr/>
          <p:nvPr/>
        </p:nvSpPr>
        <p:spPr>
          <a:xfrm>
            <a:off x="7239000" y="1066800"/>
            <a:ext cx="11430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key=40</a:t>
            </a:r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09B5ADD1-3247-417F-BEE1-557043278F10}"/>
              </a:ext>
            </a:extLst>
          </p:cNvPr>
          <p:cNvSpPr/>
          <p:nvPr/>
        </p:nvSpPr>
        <p:spPr>
          <a:xfrm>
            <a:off x="4152900" y="16002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C57023B5-3766-4788-B10B-D50B51B66A58}"/>
              </a:ext>
            </a:extLst>
          </p:cNvPr>
          <p:cNvSpPr/>
          <p:nvPr/>
        </p:nvSpPr>
        <p:spPr>
          <a:xfrm>
            <a:off x="5829300" y="16002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6E9A84E6-E0CF-404D-9F52-57A2A0CD2813}"/>
              </a:ext>
            </a:extLst>
          </p:cNvPr>
          <p:cNvSpPr/>
          <p:nvPr/>
        </p:nvSpPr>
        <p:spPr>
          <a:xfrm>
            <a:off x="7581900" y="16002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C1B7B56-DE21-4D36-B54A-4B0C04CA85D7}"/>
              </a:ext>
            </a:extLst>
          </p:cNvPr>
          <p:cNvGrpSpPr/>
          <p:nvPr/>
        </p:nvGrpSpPr>
        <p:grpSpPr>
          <a:xfrm>
            <a:off x="5715000" y="3962400"/>
            <a:ext cx="3048000" cy="685800"/>
            <a:chOff x="4724400" y="1066800"/>
            <a:chExt cx="3048000" cy="6858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4929856-65CA-4B30-8912-5AD143425573}"/>
                </a:ext>
              </a:extLst>
            </p:cNvPr>
            <p:cNvSpPr/>
            <p:nvPr/>
          </p:nvSpPr>
          <p:spPr>
            <a:xfrm>
              <a:off x="47244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AD6EFE-568B-4118-ACC3-C748E70F04F0}"/>
                </a:ext>
              </a:extLst>
            </p:cNvPr>
            <p:cNvSpPr/>
            <p:nvPr/>
          </p:nvSpPr>
          <p:spPr>
            <a:xfrm>
              <a:off x="53340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34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3C085A8-8A1A-4CEB-9FF6-492AE7B7F64A}"/>
                </a:ext>
              </a:extLst>
            </p:cNvPr>
            <p:cNvSpPr/>
            <p:nvPr/>
          </p:nvSpPr>
          <p:spPr>
            <a:xfrm>
              <a:off x="5943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0F6C7F4-DF5D-429B-8B81-66EAE30FF670}"/>
                </a:ext>
              </a:extLst>
            </p:cNvPr>
            <p:cNvSpPr/>
            <p:nvPr/>
          </p:nvSpPr>
          <p:spPr>
            <a:xfrm>
              <a:off x="65532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1A31049-0E27-4471-9977-7CF1BA00DF97}"/>
                </a:ext>
              </a:extLst>
            </p:cNvPr>
            <p:cNvSpPr/>
            <p:nvPr/>
          </p:nvSpPr>
          <p:spPr>
            <a:xfrm>
              <a:off x="71628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40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95ADA28-F801-48F9-8DCF-39E91B944E56}"/>
              </a:ext>
            </a:extLst>
          </p:cNvPr>
          <p:cNvGrpSpPr/>
          <p:nvPr/>
        </p:nvGrpSpPr>
        <p:grpSpPr>
          <a:xfrm>
            <a:off x="6324602" y="3048000"/>
            <a:ext cx="609598" cy="824843"/>
            <a:chOff x="5715000" y="3048000"/>
            <a:chExt cx="609598" cy="824843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284E63F-3D1B-432E-8192-435AD7D17C61}"/>
                </a:ext>
              </a:extLst>
            </p:cNvPr>
            <p:cNvSpPr/>
            <p:nvPr/>
          </p:nvSpPr>
          <p:spPr>
            <a:xfrm>
              <a:off x="5715000" y="3048000"/>
              <a:ext cx="609598" cy="533400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=1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E441614E-F5E0-4894-9B8F-2765372D5402}"/>
                </a:ext>
              </a:extLst>
            </p:cNvPr>
            <p:cNvCxnSpPr/>
            <p:nvPr/>
          </p:nvCxnSpPr>
          <p:spPr>
            <a:xfrm>
              <a:off x="5981700" y="3426738"/>
              <a:ext cx="0" cy="446105"/>
            </a:xfrm>
            <a:prstGeom prst="straightConnector1">
              <a:avLst/>
            </a:prstGeom>
            <a:ln w="412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149C79D-C0DF-4B53-8987-F2A065E1F185}"/>
              </a:ext>
            </a:extLst>
          </p:cNvPr>
          <p:cNvGrpSpPr/>
          <p:nvPr/>
        </p:nvGrpSpPr>
        <p:grpSpPr>
          <a:xfrm>
            <a:off x="6019800" y="4724400"/>
            <a:ext cx="1143000" cy="1066800"/>
            <a:chOff x="5410200" y="4724400"/>
            <a:chExt cx="1143000" cy="106680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13B0365-C263-48C9-A495-F786B84CDCC7}"/>
                </a:ext>
              </a:extLst>
            </p:cNvPr>
            <p:cNvSpPr/>
            <p:nvPr/>
          </p:nvSpPr>
          <p:spPr>
            <a:xfrm>
              <a:off x="5410200" y="5257800"/>
              <a:ext cx="1143000" cy="533400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key=40</a:t>
              </a:r>
            </a:p>
          </p:txBody>
        </p:sp>
        <p:sp>
          <p:nvSpPr>
            <p:cNvPr id="39" name="Arrow: Up 38">
              <a:extLst>
                <a:ext uri="{FF2B5EF4-FFF2-40B4-BE49-F238E27FC236}">
                  <a16:creationId xmlns:a16="http://schemas.microsoft.com/office/drawing/2014/main" id="{5C5BFF22-E497-47BD-B3AF-A4BF5868C6B9}"/>
                </a:ext>
              </a:extLst>
            </p:cNvPr>
            <p:cNvSpPr/>
            <p:nvPr/>
          </p:nvSpPr>
          <p:spPr>
            <a:xfrm>
              <a:off x="5905500" y="4724400"/>
              <a:ext cx="266700" cy="533400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87585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0"/>
            <a:ext cx="64008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Arrays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839624-3E80-4165-862D-FBDD23D15B07}"/>
              </a:ext>
            </a:extLst>
          </p:cNvPr>
          <p:cNvSpPr/>
          <p:nvPr/>
        </p:nvSpPr>
        <p:spPr>
          <a:xfrm>
            <a:off x="0" y="533400"/>
            <a:ext cx="9144000" cy="380998"/>
          </a:xfrm>
          <a:prstGeom prst="rect">
            <a:avLst/>
          </a:prstGeom>
          <a:solidFill>
            <a:schemeClr val="tx2"/>
          </a:solidFill>
          <a:ln cap="rnd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Search in an unsorted array (Sequential Search)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EFC405-48F3-4D3B-9925-B82EEFCE0A5B}"/>
              </a:ext>
            </a:extLst>
          </p:cNvPr>
          <p:cNvSpPr txBox="1"/>
          <p:nvPr/>
        </p:nvSpPr>
        <p:spPr>
          <a:xfrm>
            <a:off x="0" y="2125682"/>
            <a:ext cx="877180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findElement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[],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n,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key){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28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&lt; n;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] == key)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-</a:t>
            </a:r>
            <a:r>
              <a:rPr lang="en-US" sz="28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5E8B20E-47C8-412C-9E3A-CFA9979B3809}"/>
              </a:ext>
            </a:extLst>
          </p:cNvPr>
          <p:cNvGrpSpPr/>
          <p:nvPr/>
        </p:nvGrpSpPr>
        <p:grpSpPr>
          <a:xfrm>
            <a:off x="2057400" y="914400"/>
            <a:ext cx="3048000" cy="685800"/>
            <a:chOff x="4724400" y="1066800"/>
            <a:chExt cx="3048000" cy="6858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80A3881-5F9B-4899-94FB-C670F99CC38C}"/>
                </a:ext>
              </a:extLst>
            </p:cNvPr>
            <p:cNvSpPr/>
            <p:nvPr/>
          </p:nvSpPr>
          <p:spPr>
            <a:xfrm>
              <a:off x="47244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F3EE08E-B8DF-4DBC-934B-0838B82A1B57}"/>
                </a:ext>
              </a:extLst>
            </p:cNvPr>
            <p:cNvSpPr/>
            <p:nvPr/>
          </p:nvSpPr>
          <p:spPr>
            <a:xfrm>
              <a:off x="53340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34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F67B594-A647-4B57-AABF-6340B9C7C6C9}"/>
                </a:ext>
              </a:extLst>
            </p:cNvPr>
            <p:cNvSpPr/>
            <p:nvPr/>
          </p:nvSpPr>
          <p:spPr>
            <a:xfrm>
              <a:off x="5943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3314111-CD0D-49C8-B043-7D565798AD90}"/>
                </a:ext>
              </a:extLst>
            </p:cNvPr>
            <p:cNvSpPr/>
            <p:nvPr/>
          </p:nvSpPr>
          <p:spPr>
            <a:xfrm>
              <a:off x="65532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89FD87B-D766-4410-BB87-1B890050C147}"/>
                </a:ext>
              </a:extLst>
            </p:cNvPr>
            <p:cNvSpPr/>
            <p:nvPr/>
          </p:nvSpPr>
          <p:spPr>
            <a:xfrm>
              <a:off x="71628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40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91D62C79-6057-41EC-8586-EBF248D56DB5}"/>
              </a:ext>
            </a:extLst>
          </p:cNvPr>
          <p:cNvSpPr/>
          <p:nvPr/>
        </p:nvSpPr>
        <p:spPr>
          <a:xfrm>
            <a:off x="5562600" y="1066800"/>
            <a:ext cx="9144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342A0B-36E1-4CC3-BB75-0A8CF008A3B3}"/>
              </a:ext>
            </a:extLst>
          </p:cNvPr>
          <p:cNvSpPr/>
          <p:nvPr/>
        </p:nvSpPr>
        <p:spPr>
          <a:xfrm>
            <a:off x="7239000" y="1066800"/>
            <a:ext cx="11430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key=40</a:t>
            </a:r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09B5ADD1-3247-417F-BEE1-557043278F10}"/>
              </a:ext>
            </a:extLst>
          </p:cNvPr>
          <p:cNvSpPr/>
          <p:nvPr/>
        </p:nvSpPr>
        <p:spPr>
          <a:xfrm>
            <a:off x="4152900" y="16002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C57023B5-3766-4788-B10B-D50B51B66A58}"/>
              </a:ext>
            </a:extLst>
          </p:cNvPr>
          <p:cNvSpPr/>
          <p:nvPr/>
        </p:nvSpPr>
        <p:spPr>
          <a:xfrm>
            <a:off x="5829300" y="16002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6E9A84E6-E0CF-404D-9F52-57A2A0CD2813}"/>
              </a:ext>
            </a:extLst>
          </p:cNvPr>
          <p:cNvSpPr/>
          <p:nvPr/>
        </p:nvSpPr>
        <p:spPr>
          <a:xfrm>
            <a:off x="7581900" y="16002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C1B7B56-DE21-4D36-B54A-4B0C04CA85D7}"/>
              </a:ext>
            </a:extLst>
          </p:cNvPr>
          <p:cNvGrpSpPr/>
          <p:nvPr/>
        </p:nvGrpSpPr>
        <p:grpSpPr>
          <a:xfrm>
            <a:off x="5715000" y="3962400"/>
            <a:ext cx="3048000" cy="685800"/>
            <a:chOff x="4724400" y="1066800"/>
            <a:chExt cx="3048000" cy="6858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4929856-65CA-4B30-8912-5AD143425573}"/>
                </a:ext>
              </a:extLst>
            </p:cNvPr>
            <p:cNvSpPr/>
            <p:nvPr/>
          </p:nvSpPr>
          <p:spPr>
            <a:xfrm>
              <a:off x="47244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AD6EFE-568B-4118-ACC3-C748E70F04F0}"/>
                </a:ext>
              </a:extLst>
            </p:cNvPr>
            <p:cNvSpPr/>
            <p:nvPr/>
          </p:nvSpPr>
          <p:spPr>
            <a:xfrm>
              <a:off x="53340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34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3C085A8-8A1A-4CEB-9FF6-492AE7B7F64A}"/>
                </a:ext>
              </a:extLst>
            </p:cNvPr>
            <p:cNvSpPr/>
            <p:nvPr/>
          </p:nvSpPr>
          <p:spPr>
            <a:xfrm>
              <a:off x="5943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0F6C7F4-DF5D-429B-8B81-66EAE30FF670}"/>
                </a:ext>
              </a:extLst>
            </p:cNvPr>
            <p:cNvSpPr/>
            <p:nvPr/>
          </p:nvSpPr>
          <p:spPr>
            <a:xfrm>
              <a:off x="65532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1A31049-0E27-4471-9977-7CF1BA00DF97}"/>
                </a:ext>
              </a:extLst>
            </p:cNvPr>
            <p:cNvSpPr/>
            <p:nvPr/>
          </p:nvSpPr>
          <p:spPr>
            <a:xfrm>
              <a:off x="71628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40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95ADA28-F801-48F9-8DCF-39E91B944E56}"/>
              </a:ext>
            </a:extLst>
          </p:cNvPr>
          <p:cNvGrpSpPr/>
          <p:nvPr/>
        </p:nvGrpSpPr>
        <p:grpSpPr>
          <a:xfrm>
            <a:off x="6934202" y="3048000"/>
            <a:ext cx="609598" cy="824843"/>
            <a:chOff x="5715000" y="3048000"/>
            <a:chExt cx="609598" cy="824843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284E63F-3D1B-432E-8192-435AD7D17C61}"/>
                </a:ext>
              </a:extLst>
            </p:cNvPr>
            <p:cNvSpPr/>
            <p:nvPr/>
          </p:nvSpPr>
          <p:spPr>
            <a:xfrm>
              <a:off x="5715000" y="3048000"/>
              <a:ext cx="609598" cy="533400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=2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E441614E-F5E0-4894-9B8F-2765372D5402}"/>
                </a:ext>
              </a:extLst>
            </p:cNvPr>
            <p:cNvCxnSpPr/>
            <p:nvPr/>
          </p:nvCxnSpPr>
          <p:spPr>
            <a:xfrm>
              <a:off x="5981700" y="3426738"/>
              <a:ext cx="0" cy="446105"/>
            </a:xfrm>
            <a:prstGeom prst="straightConnector1">
              <a:avLst/>
            </a:prstGeom>
            <a:ln w="412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149C79D-C0DF-4B53-8987-F2A065E1F185}"/>
              </a:ext>
            </a:extLst>
          </p:cNvPr>
          <p:cNvGrpSpPr/>
          <p:nvPr/>
        </p:nvGrpSpPr>
        <p:grpSpPr>
          <a:xfrm>
            <a:off x="6629400" y="4724400"/>
            <a:ext cx="1143000" cy="1066800"/>
            <a:chOff x="5410200" y="4724400"/>
            <a:chExt cx="1143000" cy="106680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13B0365-C263-48C9-A495-F786B84CDCC7}"/>
                </a:ext>
              </a:extLst>
            </p:cNvPr>
            <p:cNvSpPr/>
            <p:nvPr/>
          </p:nvSpPr>
          <p:spPr>
            <a:xfrm>
              <a:off x="5410200" y="5257800"/>
              <a:ext cx="1143000" cy="533400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key=40</a:t>
              </a:r>
            </a:p>
          </p:txBody>
        </p:sp>
        <p:sp>
          <p:nvSpPr>
            <p:cNvPr id="39" name="Arrow: Up 38">
              <a:extLst>
                <a:ext uri="{FF2B5EF4-FFF2-40B4-BE49-F238E27FC236}">
                  <a16:creationId xmlns:a16="http://schemas.microsoft.com/office/drawing/2014/main" id="{5C5BFF22-E497-47BD-B3AF-A4BF5868C6B9}"/>
                </a:ext>
              </a:extLst>
            </p:cNvPr>
            <p:cNvSpPr/>
            <p:nvPr/>
          </p:nvSpPr>
          <p:spPr>
            <a:xfrm>
              <a:off x="5905500" y="4724400"/>
              <a:ext cx="266700" cy="533400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20026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0"/>
            <a:ext cx="64008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Arrays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839624-3E80-4165-862D-FBDD23D15B07}"/>
              </a:ext>
            </a:extLst>
          </p:cNvPr>
          <p:cNvSpPr/>
          <p:nvPr/>
        </p:nvSpPr>
        <p:spPr>
          <a:xfrm>
            <a:off x="0" y="533400"/>
            <a:ext cx="9144000" cy="380998"/>
          </a:xfrm>
          <a:prstGeom prst="rect">
            <a:avLst/>
          </a:prstGeom>
          <a:solidFill>
            <a:schemeClr val="tx2"/>
          </a:solidFill>
          <a:ln cap="rnd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Search in an unsorted array (Sequential Search)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EFC405-48F3-4D3B-9925-B82EEFCE0A5B}"/>
              </a:ext>
            </a:extLst>
          </p:cNvPr>
          <p:cNvSpPr txBox="1"/>
          <p:nvPr/>
        </p:nvSpPr>
        <p:spPr>
          <a:xfrm>
            <a:off x="0" y="2125682"/>
            <a:ext cx="877180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findElement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[],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n,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key){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28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&lt; n;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] == key)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-</a:t>
            </a:r>
            <a:r>
              <a:rPr lang="en-US" sz="28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5E8B20E-47C8-412C-9E3A-CFA9979B3809}"/>
              </a:ext>
            </a:extLst>
          </p:cNvPr>
          <p:cNvGrpSpPr/>
          <p:nvPr/>
        </p:nvGrpSpPr>
        <p:grpSpPr>
          <a:xfrm>
            <a:off x="2057400" y="914400"/>
            <a:ext cx="3048000" cy="685800"/>
            <a:chOff x="4724400" y="1066800"/>
            <a:chExt cx="3048000" cy="6858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80A3881-5F9B-4899-94FB-C670F99CC38C}"/>
                </a:ext>
              </a:extLst>
            </p:cNvPr>
            <p:cNvSpPr/>
            <p:nvPr/>
          </p:nvSpPr>
          <p:spPr>
            <a:xfrm>
              <a:off x="47244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F3EE08E-B8DF-4DBC-934B-0838B82A1B57}"/>
                </a:ext>
              </a:extLst>
            </p:cNvPr>
            <p:cNvSpPr/>
            <p:nvPr/>
          </p:nvSpPr>
          <p:spPr>
            <a:xfrm>
              <a:off x="53340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34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F67B594-A647-4B57-AABF-6340B9C7C6C9}"/>
                </a:ext>
              </a:extLst>
            </p:cNvPr>
            <p:cNvSpPr/>
            <p:nvPr/>
          </p:nvSpPr>
          <p:spPr>
            <a:xfrm>
              <a:off x="5943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3314111-CD0D-49C8-B043-7D565798AD90}"/>
                </a:ext>
              </a:extLst>
            </p:cNvPr>
            <p:cNvSpPr/>
            <p:nvPr/>
          </p:nvSpPr>
          <p:spPr>
            <a:xfrm>
              <a:off x="65532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89FD87B-D766-4410-BB87-1B890050C147}"/>
                </a:ext>
              </a:extLst>
            </p:cNvPr>
            <p:cNvSpPr/>
            <p:nvPr/>
          </p:nvSpPr>
          <p:spPr>
            <a:xfrm>
              <a:off x="71628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40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91D62C79-6057-41EC-8586-EBF248D56DB5}"/>
              </a:ext>
            </a:extLst>
          </p:cNvPr>
          <p:cNvSpPr/>
          <p:nvPr/>
        </p:nvSpPr>
        <p:spPr>
          <a:xfrm>
            <a:off x="5562600" y="1066800"/>
            <a:ext cx="9144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342A0B-36E1-4CC3-BB75-0A8CF008A3B3}"/>
              </a:ext>
            </a:extLst>
          </p:cNvPr>
          <p:cNvSpPr/>
          <p:nvPr/>
        </p:nvSpPr>
        <p:spPr>
          <a:xfrm>
            <a:off x="7239000" y="1066800"/>
            <a:ext cx="11430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key=40</a:t>
            </a:r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09B5ADD1-3247-417F-BEE1-557043278F10}"/>
              </a:ext>
            </a:extLst>
          </p:cNvPr>
          <p:cNvSpPr/>
          <p:nvPr/>
        </p:nvSpPr>
        <p:spPr>
          <a:xfrm>
            <a:off x="4152900" y="16002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C57023B5-3766-4788-B10B-D50B51B66A58}"/>
              </a:ext>
            </a:extLst>
          </p:cNvPr>
          <p:cNvSpPr/>
          <p:nvPr/>
        </p:nvSpPr>
        <p:spPr>
          <a:xfrm>
            <a:off x="5829300" y="16002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6E9A84E6-E0CF-404D-9F52-57A2A0CD2813}"/>
              </a:ext>
            </a:extLst>
          </p:cNvPr>
          <p:cNvSpPr/>
          <p:nvPr/>
        </p:nvSpPr>
        <p:spPr>
          <a:xfrm>
            <a:off x="7581900" y="16002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C1B7B56-DE21-4D36-B54A-4B0C04CA85D7}"/>
              </a:ext>
            </a:extLst>
          </p:cNvPr>
          <p:cNvGrpSpPr/>
          <p:nvPr/>
        </p:nvGrpSpPr>
        <p:grpSpPr>
          <a:xfrm>
            <a:off x="5715000" y="3962400"/>
            <a:ext cx="3048000" cy="685800"/>
            <a:chOff x="4724400" y="1066800"/>
            <a:chExt cx="3048000" cy="6858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4929856-65CA-4B30-8912-5AD143425573}"/>
                </a:ext>
              </a:extLst>
            </p:cNvPr>
            <p:cNvSpPr/>
            <p:nvPr/>
          </p:nvSpPr>
          <p:spPr>
            <a:xfrm>
              <a:off x="47244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AD6EFE-568B-4118-ACC3-C748E70F04F0}"/>
                </a:ext>
              </a:extLst>
            </p:cNvPr>
            <p:cNvSpPr/>
            <p:nvPr/>
          </p:nvSpPr>
          <p:spPr>
            <a:xfrm>
              <a:off x="53340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34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3C085A8-8A1A-4CEB-9FF6-492AE7B7F64A}"/>
                </a:ext>
              </a:extLst>
            </p:cNvPr>
            <p:cNvSpPr/>
            <p:nvPr/>
          </p:nvSpPr>
          <p:spPr>
            <a:xfrm>
              <a:off x="5943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0F6C7F4-DF5D-429B-8B81-66EAE30FF670}"/>
                </a:ext>
              </a:extLst>
            </p:cNvPr>
            <p:cNvSpPr/>
            <p:nvPr/>
          </p:nvSpPr>
          <p:spPr>
            <a:xfrm>
              <a:off x="65532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1A31049-0E27-4471-9977-7CF1BA00DF97}"/>
                </a:ext>
              </a:extLst>
            </p:cNvPr>
            <p:cNvSpPr/>
            <p:nvPr/>
          </p:nvSpPr>
          <p:spPr>
            <a:xfrm>
              <a:off x="71628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40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95ADA28-F801-48F9-8DCF-39E91B944E56}"/>
              </a:ext>
            </a:extLst>
          </p:cNvPr>
          <p:cNvGrpSpPr/>
          <p:nvPr/>
        </p:nvGrpSpPr>
        <p:grpSpPr>
          <a:xfrm>
            <a:off x="7543800" y="3048000"/>
            <a:ext cx="609598" cy="824843"/>
            <a:chOff x="5715000" y="3048000"/>
            <a:chExt cx="609598" cy="824843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284E63F-3D1B-432E-8192-435AD7D17C61}"/>
                </a:ext>
              </a:extLst>
            </p:cNvPr>
            <p:cNvSpPr/>
            <p:nvPr/>
          </p:nvSpPr>
          <p:spPr>
            <a:xfrm>
              <a:off x="5715000" y="3048000"/>
              <a:ext cx="609598" cy="533400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=3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E441614E-F5E0-4894-9B8F-2765372D5402}"/>
                </a:ext>
              </a:extLst>
            </p:cNvPr>
            <p:cNvCxnSpPr/>
            <p:nvPr/>
          </p:nvCxnSpPr>
          <p:spPr>
            <a:xfrm>
              <a:off x="5981700" y="3426738"/>
              <a:ext cx="0" cy="446105"/>
            </a:xfrm>
            <a:prstGeom prst="straightConnector1">
              <a:avLst/>
            </a:prstGeom>
            <a:ln w="412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149C79D-C0DF-4B53-8987-F2A065E1F185}"/>
              </a:ext>
            </a:extLst>
          </p:cNvPr>
          <p:cNvGrpSpPr/>
          <p:nvPr/>
        </p:nvGrpSpPr>
        <p:grpSpPr>
          <a:xfrm>
            <a:off x="7239000" y="4724400"/>
            <a:ext cx="1143000" cy="1066800"/>
            <a:chOff x="5410200" y="4724400"/>
            <a:chExt cx="1143000" cy="106680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13B0365-C263-48C9-A495-F786B84CDCC7}"/>
                </a:ext>
              </a:extLst>
            </p:cNvPr>
            <p:cNvSpPr/>
            <p:nvPr/>
          </p:nvSpPr>
          <p:spPr>
            <a:xfrm>
              <a:off x="5410200" y="5257800"/>
              <a:ext cx="1143000" cy="533400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key=40</a:t>
              </a:r>
            </a:p>
          </p:txBody>
        </p:sp>
        <p:sp>
          <p:nvSpPr>
            <p:cNvPr id="39" name="Arrow: Up 38">
              <a:extLst>
                <a:ext uri="{FF2B5EF4-FFF2-40B4-BE49-F238E27FC236}">
                  <a16:creationId xmlns:a16="http://schemas.microsoft.com/office/drawing/2014/main" id="{5C5BFF22-E497-47BD-B3AF-A4BF5868C6B9}"/>
                </a:ext>
              </a:extLst>
            </p:cNvPr>
            <p:cNvSpPr/>
            <p:nvPr/>
          </p:nvSpPr>
          <p:spPr>
            <a:xfrm>
              <a:off x="5905500" y="4724400"/>
              <a:ext cx="266700" cy="533400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45401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0"/>
            <a:ext cx="64008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Arrays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839624-3E80-4165-862D-FBDD23D15B07}"/>
              </a:ext>
            </a:extLst>
          </p:cNvPr>
          <p:cNvSpPr/>
          <p:nvPr/>
        </p:nvSpPr>
        <p:spPr>
          <a:xfrm>
            <a:off x="0" y="533400"/>
            <a:ext cx="9144000" cy="380998"/>
          </a:xfrm>
          <a:prstGeom prst="rect">
            <a:avLst/>
          </a:prstGeom>
          <a:solidFill>
            <a:schemeClr val="tx2"/>
          </a:solidFill>
          <a:ln cap="rnd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Search in an unsorted array (Sequential Search)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EFC405-48F3-4D3B-9925-B82EEFCE0A5B}"/>
              </a:ext>
            </a:extLst>
          </p:cNvPr>
          <p:cNvSpPr txBox="1"/>
          <p:nvPr/>
        </p:nvSpPr>
        <p:spPr>
          <a:xfrm>
            <a:off x="0" y="2125682"/>
            <a:ext cx="877180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findElement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[],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n,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key){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28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&lt; n;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] == key)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-</a:t>
            </a:r>
            <a:r>
              <a:rPr lang="en-US" sz="28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5E8B20E-47C8-412C-9E3A-CFA9979B3809}"/>
              </a:ext>
            </a:extLst>
          </p:cNvPr>
          <p:cNvGrpSpPr/>
          <p:nvPr/>
        </p:nvGrpSpPr>
        <p:grpSpPr>
          <a:xfrm>
            <a:off x="2057400" y="914400"/>
            <a:ext cx="3048000" cy="685800"/>
            <a:chOff x="4724400" y="1066800"/>
            <a:chExt cx="3048000" cy="6858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80A3881-5F9B-4899-94FB-C670F99CC38C}"/>
                </a:ext>
              </a:extLst>
            </p:cNvPr>
            <p:cNvSpPr/>
            <p:nvPr/>
          </p:nvSpPr>
          <p:spPr>
            <a:xfrm>
              <a:off x="47244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F3EE08E-B8DF-4DBC-934B-0838B82A1B57}"/>
                </a:ext>
              </a:extLst>
            </p:cNvPr>
            <p:cNvSpPr/>
            <p:nvPr/>
          </p:nvSpPr>
          <p:spPr>
            <a:xfrm>
              <a:off x="53340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34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F67B594-A647-4B57-AABF-6340B9C7C6C9}"/>
                </a:ext>
              </a:extLst>
            </p:cNvPr>
            <p:cNvSpPr/>
            <p:nvPr/>
          </p:nvSpPr>
          <p:spPr>
            <a:xfrm>
              <a:off x="5943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3314111-CD0D-49C8-B043-7D565798AD90}"/>
                </a:ext>
              </a:extLst>
            </p:cNvPr>
            <p:cNvSpPr/>
            <p:nvPr/>
          </p:nvSpPr>
          <p:spPr>
            <a:xfrm>
              <a:off x="65532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89FD87B-D766-4410-BB87-1B890050C147}"/>
                </a:ext>
              </a:extLst>
            </p:cNvPr>
            <p:cNvSpPr/>
            <p:nvPr/>
          </p:nvSpPr>
          <p:spPr>
            <a:xfrm>
              <a:off x="71628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40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91D62C79-6057-41EC-8586-EBF248D56DB5}"/>
              </a:ext>
            </a:extLst>
          </p:cNvPr>
          <p:cNvSpPr/>
          <p:nvPr/>
        </p:nvSpPr>
        <p:spPr>
          <a:xfrm>
            <a:off x="5562600" y="1066800"/>
            <a:ext cx="9144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342A0B-36E1-4CC3-BB75-0A8CF008A3B3}"/>
              </a:ext>
            </a:extLst>
          </p:cNvPr>
          <p:cNvSpPr/>
          <p:nvPr/>
        </p:nvSpPr>
        <p:spPr>
          <a:xfrm>
            <a:off x="7239000" y="1066800"/>
            <a:ext cx="11430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key=40</a:t>
            </a:r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09B5ADD1-3247-417F-BEE1-557043278F10}"/>
              </a:ext>
            </a:extLst>
          </p:cNvPr>
          <p:cNvSpPr/>
          <p:nvPr/>
        </p:nvSpPr>
        <p:spPr>
          <a:xfrm>
            <a:off x="4152900" y="16002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C57023B5-3766-4788-B10B-D50B51B66A58}"/>
              </a:ext>
            </a:extLst>
          </p:cNvPr>
          <p:cNvSpPr/>
          <p:nvPr/>
        </p:nvSpPr>
        <p:spPr>
          <a:xfrm>
            <a:off x="5829300" y="16002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6E9A84E6-E0CF-404D-9F52-57A2A0CD2813}"/>
              </a:ext>
            </a:extLst>
          </p:cNvPr>
          <p:cNvSpPr/>
          <p:nvPr/>
        </p:nvSpPr>
        <p:spPr>
          <a:xfrm>
            <a:off x="7581900" y="16002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C1B7B56-DE21-4D36-B54A-4B0C04CA85D7}"/>
              </a:ext>
            </a:extLst>
          </p:cNvPr>
          <p:cNvGrpSpPr/>
          <p:nvPr/>
        </p:nvGrpSpPr>
        <p:grpSpPr>
          <a:xfrm>
            <a:off x="5715000" y="3962400"/>
            <a:ext cx="3048000" cy="685800"/>
            <a:chOff x="4724400" y="1066800"/>
            <a:chExt cx="3048000" cy="6858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4929856-65CA-4B30-8912-5AD143425573}"/>
                </a:ext>
              </a:extLst>
            </p:cNvPr>
            <p:cNvSpPr/>
            <p:nvPr/>
          </p:nvSpPr>
          <p:spPr>
            <a:xfrm>
              <a:off x="47244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AD6EFE-568B-4118-ACC3-C748E70F04F0}"/>
                </a:ext>
              </a:extLst>
            </p:cNvPr>
            <p:cNvSpPr/>
            <p:nvPr/>
          </p:nvSpPr>
          <p:spPr>
            <a:xfrm>
              <a:off x="53340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34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3C085A8-8A1A-4CEB-9FF6-492AE7B7F64A}"/>
                </a:ext>
              </a:extLst>
            </p:cNvPr>
            <p:cNvSpPr/>
            <p:nvPr/>
          </p:nvSpPr>
          <p:spPr>
            <a:xfrm>
              <a:off x="5943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0F6C7F4-DF5D-429B-8B81-66EAE30FF670}"/>
                </a:ext>
              </a:extLst>
            </p:cNvPr>
            <p:cNvSpPr/>
            <p:nvPr/>
          </p:nvSpPr>
          <p:spPr>
            <a:xfrm>
              <a:off x="65532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1A31049-0E27-4471-9977-7CF1BA00DF97}"/>
                </a:ext>
              </a:extLst>
            </p:cNvPr>
            <p:cNvSpPr/>
            <p:nvPr/>
          </p:nvSpPr>
          <p:spPr>
            <a:xfrm>
              <a:off x="71628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40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95ADA28-F801-48F9-8DCF-39E91B944E56}"/>
              </a:ext>
            </a:extLst>
          </p:cNvPr>
          <p:cNvGrpSpPr/>
          <p:nvPr/>
        </p:nvGrpSpPr>
        <p:grpSpPr>
          <a:xfrm>
            <a:off x="8153402" y="3048000"/>
            <a:ext cx="609598" cy="824843"/>
            <a:chOff x="5715000" y="3048000"/>
            <a:chExt cx="609598" cy="824843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284E63F-3D1B-432E-8192-435AD7D17C61}"/>
                </a:ext>
              </a:extLst>
            </p:cNvPr>
            <p:cNvSpPr/>
            <p:nvPr/>
          </p:nvSpPr>
          <p:spPr>
            <a:xfrm>
              <a:off x="5715000" y="3048000"/>
              <a:ext cx="609598" cy="533400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=4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E441614E-F5E0-4894-9B8F-2765372D5402}"/>
                </a:ext>
              </a:extLst>
            </p:cNvPr>
            <p:cNvCxnSpPr/>
            <p:nvPr/>
          </p:nvCxnSpPr>
          <p:spPr>
            <a:xfrm>
              <a:off x="5981700" y="3426738"/>
              <a:ext cx="0" cy="446105"/>
            </a:xfrm>
            <a:prstGeom prst="straightConnector1">
              <a:avLst/>
            </a:prstGeom>
            <a:ln w="412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149C79D-C0DF-4B53-8987-F2A065E1F185}"/>
              </a:ext>
            </a:extLst>
          </p:cNvPr>
          <p:cNvGrpSpPr/>
          <p:nvPr/>
        </p:nvGrpSpPr>
        <p:grpSpPr>
          <a:xfrm>
            <a:off x="7848600" y="4724400"/>
            <a:ext cx="1143000" cy="1066800"/>
            <a:chOff x="5410200" y="4724400"/>
            <a:chExt cx="1143000" cy="106680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13B0365-C263-48C9-A495-F786B84CDCC7}"/>
                </a:ext>
              </a:extLst>
            </p:cNvPr>
            <p:cNvSpPr/>
            <p:nvPr/>
          </p:nvSpPr>
          <p:spPr>
            <a:xfrm>
              <a:off x="5410200" y="5257800"/>
              <a:ext cx="1143000" cy="533400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key=40</a:t>
              </a:r>
            </a:p>
          </p:txBody>
        </p:sp>
        <p:sp>
          <p:nvSpPr>
            <p:cNvPr id="39" name="Arrow: Up 38">
              <a:extLst>
                <a:ext uri="{FF2B5EF4-FFF2-40B4-BE49-F238E27FC236}">
                  <a16:creationId xmlns:a16="http://schemas.microsoft.com/office/drawing/2014/main" id="{5C5BFF22-E497-47BD-B3AF-A4BF5868C6B9}"/>
                </a:ext>
              </a:extLst>
            </p:cNvPr>
            <p:cNvSpPr/>
            <p:nvPr/>
          </p:nvSpPr>
          <p:spPr>
            <a:xfrm>
              <a:off x="5905500" y="4724400"/>
              <a:ext cx="266700" cy="533400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60532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0"/>
            <a:ext cx="64008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Arrays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839624-3E80-4165-862D-FBDD23D15B07}"/>
              </a:ext>
            </a:extLst>
          </p:cNvPr>
          <p:cNvSpPr/>
          <p:nvPr/>
        </p:nvSpPr>
        <p:spPr>
          <a:xfrm>
            <a:off x="0" y="533400"/>
            <a:ext cx="9144000" cy="380998"/>
          </a:xfrm>
          <a:prstGeom prst="rect">
            <a:avLst/>
          </a:prstGeom>
          <a:solidFill>
            <a:schemeClr val="tx2"/>
          </a:solidFill>
          <a:ln cap="rnd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Search in an unsorted array (Sequential Search)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EFC405-48F3-4D3B-9925-B82EEFCE0A5B}"/>
              </a:ext>
            </a:extLst>
          </p:cNvPr>
          <p:cNvSpPr txBox="1"/>
          <p:nvPr/>
        </p:nvSpPr>
        <p:spPr>
          <a:xfrm>
            <a:off x="0" y="2125682"/>
            <a:ext cx="877180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findElement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[],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n,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key){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28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&lt; n;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] == key)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-</a:t>
            </a:r>
            <a:r>
              <a:rPr lang="en-US" sz="28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5E8B20E-47C8-412C-9E3A-CFA9979B3809}"/>
              </a:ext>
            </a:extLst>
          </p:cNvPr>
          <p:cNvGrpSpPr/>
          <p:nvPr/>
        </p:nvGrpSpPr>
        <p:grpSpPr>
          <a:xfrm>
            <a:off x="2057400" y="914400"/>
            <a:ext cx="3048000" cy="685800"/>
            <a:chOff x="4724400" y="1066800"/>
            <a:chExt cx="3048000" cy="6858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80A3881-5F9B-4899-94FB-C670F99CC38C}"/>
                </a:ext>
              </a:extLst>
            </p:cNvPr>
            <p:cNvSpPr/>
            <p:nvPr/>
          </p:nvSpPr>
          <p:spPr>
            <a:xfrm>
              <a:off x="47244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F3EE08E-B8DF-4DBC-934B-0838B82A1B57}"/>
                </a:ext>
              </a:extLst>
            </p:cNvPr>
            <p:cNvSpPr/>
            <p:nvPr/>
          </p:nvSpPr>
          <p:spPr>
            <a:xfrm>
              <a:off x="53340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34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F67B594-A647-4B57-AABF-6340B9C7C6C9}"/>
                </a:ext>
              </a:extLst>
            </p:cNvPr>
            <p:cNvSpPr/>
            <p:nvPr/>
          </p:nvSpPr>
          <p:spPr>
            <a:xfrm>
              <a:off x="5943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3314111-CD0D-49C8-B043-7D565798AD90}"/>
                </a:ext>
              </a:extLst>
            </p:cNvPr>
            <p:cNvSpPr/>
            <p:nvPr/>
          </p:nvSpPr>
          <p:spPr>
            <a:xfrm>
              <a:off x="65532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89FD87B-D766-4410-BB87-1B890050C147}"/>
                </a:ext>
              </a:extLst>
            </p:cNvPr>
            <p:cNvSpPr/>
            <p:nvPr/>
          </p:nvSpPr>
          <p:spPr>
            <a:xfrm>
              <a:off x="71628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40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91D62C79-6057-41EC-8586-EBF248D56DB5}"/>
              </a:ext>
            </a:extLst>
          </p:cNvPr>
          <p:cNvSpPr/>
          <p:nvPr/>
        </p:nvSpPr>
        <p:spPr>
          <a:xfrm>
            <a:off x="5562600" y="1066800"/>
            <a:ext cx="9144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342A0B-36E1-4CC3-BB75-0A8CF008A3B3}"/>
              </a:ext>
            </a:extLst>
          </p:cNvPr>
          <p:cNvSpPr/>
          <p:nvPr/>
        </p:nvSpPr>
        <p:spPr>
          <a:xfrm>
            <a:off x="7239000" y="1066800"/>
            <a:ext cx="11430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key=40</a:t>
            </a:r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09B5ADD1-3247-417F-BEE1-557043278F10}"/>
              </a:ext>
            </a:extLst>
          </p:cNvPr>
          <p:cNvSpPr/>
          <p:nvPr/>
        </p:nvSpPr>
        <p:spPr>
          <a:xfrm>
            <a:off x="4152900" y="16002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C57023B5-3766-4788-B10B-D50B51B66A58}"/>
              </a:ext>
            </a:extLst>
          </p:cNvPr>
          <p:cNvSpPr/>
          <p:nvPr/>
        </p:nvSpPr>
        <p:spPr>
          <a:xfrm>
            <a:off x="5829300" y="16002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6E9A84E6-E0CF-404D-9F52-57A2A0CD2813}"/>
              </a:ext>
            </a:extLst>
          </p:cNvPr>
          <p:cNvSpPr/>
          <p:nvPr/>
        </p:nvSpPr>
        <p:spPr>
          <a:xfrm>
            <a:off x="7581900" y="16002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C1B7B56-DE21-4D36-B54A-4B0C04CA85D7}"/>
              </a:ext>
            </a:extLst>
          </p:cNvPr>
          <p:cNvGrpSpPr/>
          <p:nvPr/>
        </p:nvGrpSpPr>
        <p:grpSpPr>
          <a:xfrm>
            <a:off x="5715000" y="3962400"/>
            <a:ext cx="3048000" cy="685800"/>
            <a:chOff x="4724400" y="1066800"/>
            <a:chExt cx="3048000" cy="6858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4929856-65CA-4B30-8912-5AD143425573}"/>
                </a:ext>
              </a:extLst>
            </p:cNvPr>
            <p:cNvSpPr/>
            <p:nvPr/>
          </p:nvSpPr>
          <p:spPr>
            <a:xfrm>
              <a:off x="47244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AD6EFE-568B-4118-ACC3-C748E70F04F0}"/>
                </a:ext>
              </a:extLst>
            </p:cNvPr>
            <p:cNvSpPr/>
            <p:nvPr/>
          </p:nvSpPr>
          <p:spPr>
            <a:xfrm>
              <a:off x="53340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34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3C085A8-8A1A-4CEB-9FF6-492AE7B7F64A}"/>
                </a:ext>
              </a:extLst>
            </p:cNvPr>
            <p:cNvSpPr/>
            <p:nvPr/>
          </p:nvSpPr>
          <p:spPr>
            <a:xfrm>
              <a:off x="5943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0F6C7F4-DF5D-429B-8B81-66EAE30FF670}"/>
                </a:ext>
              </a:extLst>
            </p:cNvPr>
            <p:cNvSpPr/>
            <p:nvPr/>
          </p:nvSpPr>
          <p:spPr>
            <a:xfrm>
              <a:off x="65532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1A31049-0E27-4471-9977-7CF1BA00DF97}"/>
                </a:ext>
              </a:extLst>
            </p:cNvPr>
            <p:cNvSpPr/>
            <p:nvPr/>
          </p:nvSpPr>
          <p:spPr>
            <a:xfrm>
              <a:off x="71628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40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95ADA28-F801-48F9-8DCF-39E91B944E56}"/>
              </a:ext>
            </a:extLst>
          </p:cNvPr>
          <p:cNvGrpSpPr/>
          <p:nvPr/>
        </p:nvGrpSpPr>
        <p:grpSpPr>
          <a:xfrm>
            <a:off x="8153402" y="3048000"/>
            <a:ext cx="609598" cy="824843"/>
            <a:chOff x="5715000" y="3048000"/>
            <a:chExt cx="609598" cy="824843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284E63F-3D1B-432E-8192-435AD7D17C61}"/>
                </a:ext>
              </a:extLst>
            </p:cNvPr>
            <p:cNvSpPr/>
            <p:nvPr/>
          </p:nvSpPr>
          <p:spPr>
            <a:xfrm>
              <a:off x="5715000" y="3048000"/>
              <a:ext cx="609598" cy="533400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=4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E441614E-F5E0-4894-9B8F-2765372D5402}"/>
                </a:ext>
              </a:extLst>
            </p:cNvPr>
            <p:cNvCxnSpPr/>
            <p:nvPr/>
          </p:nvCxnSpPr>
          <p:spPr>
            <a:xfrm>
              <a:off x="5981700" y="3426738"/>
              <a:ext cx="0" cy="446105"/>
            </a:xfrm>
            <a:prstGeom prst="straightConnector1">
              <a:avLst/>
            </a:prstGeom>
            <a:ln w="412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149C79D-C0DF-4B53-8987-F2A065E1F185}"/>
              </a:ext>
            </a:extLst>
          </p:cNvPr>
          <p:cNvGrpSpPr/>
          <p:nvPr/>
        </p:nvGrpSpPr>
        <p:grpSpPr>
          <a:xfrm>
            <a:off x="7848600" y="4724400"/>
            <a:ext cx="1143000" cy="1066800"/>
            <a:chOff x="5410200" y="4724400"/>
            <a:chExt cx="1143000" cy="106680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13B0365-C263-48C9-A495-F786B84CDCC7}"/>
                </a:ext>
              </a:extLst>
            </p:cNvPr>
            <p:cNvSpPr/>
            <p:nvPr/>
          </p:nvSpPr>
          <p:spPr>
            <a:xfrm>
              <a:off x="5410200" y="5257800"/>
              <a:ext cx="1143000" cy="533400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key=40</a:t>
              </a:r>
            </a:p>
          </p:txBody>
        </p:sp>
        <p:sp>
          <p:nvSpPr>
            <p:cNvPr id="39" name="Arrow: Up 38">
              <a:extLst>
                <a:ext uri="{FF2B5EF4-FFF2-40B4-BE49-F238E27FC236}">
                  <a16:creationId xmlns:a16="http://schemas.microsoft.com/office/drawing/2014/main" id="{5C5BFF22-E497-47BD-B3AF-A4BF5868C6B9}"/>
                </a:ext>
              </a:extLst>
            </p:cNvPr>
            <p:cNvSpPr/>
            <p:nvPr/>
          </p:nvSpPr>
          <p:spPr>
            <a:xfrm>
              <a:off x="5905500" y="4724400"/>
              <a:ext cx="266700" cy="533400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531B55D0-7353-4BD5-B0E1-3128C6D01A76}"/>
              </a:ext>
            </a:extLst>
          </p:cNvPr>
          <p:cNvSpPr/>
          <p:nvPr/>
        </p:nvSpPr>
        <p:spPr>
          <a:xfrm>
            <a:off x="104249" y="2662518"/>
            <a:ext cx="8040350" cy="2062501"/>
          </a:xfrm>
          <a:custGeom>
            <a:avLst/>
            <a:gdLst>
              <a:gd name="connsiteX0" fmla="*/ 7937092 w 7937092"/>
              <a:gd name="connsiteY0" fmla="*/ 632011 h 2062501"/>
              <a:gd name="connsiteX1" fmla="*/ 5449386 w 7937092"/>
              <a:gd name="connsiteY1" fmla="*/ 632011 h 2062501"/>
              <a:gd name="connsiteX2" fmla="*/ 5220786 w 7937092"/>
              <a:gd name="connsiteY2" fmla="*/ 2017058 h 2062501"/>
              <a:gd name="connsiteX3" fmla="*/ 339504 w 7937092"/>
              <a:gd name="connsiteY3" fmla="*/ 1680882 h 2062501"/>
              <a:gd name="connsiteX4" fmla="*/ 406739 w 7937092"/>
              <a:gd name="connsiteY4" fmla="*/ 1210235 h 2062501"/>
              <a:gd name="connsiteX5" fmla="*/ 326057 w 7937092"/>
              <a:gd name="connsiteY5" fmla="*/ 0 h 2062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37092" h="2062501">
                <a:moveTo>
                  <a:pt x="7937092" y="632011"/>
                </a:moveTo>
                <a:cubicBezTo>
                  <a:pt x="6919598" y="516590"/>
                  <a:pt x="5902104" y="401170"/>
                  <a:pt x="5449386" y="632011"/>
                </a:cubicBezTo>
                <a:cubicBezTo>
                  <a:pt x="4996668" y="862852"/>
                  <a:pt x="6072433" y="1842246"/>
                  <a:pt x="5220786" y="2017058"/>
                </a:cubicBezTo>
                <a:cubicBezTo>
                  <a:pt x="4369139" y="2191870"/>
                  <a:pt x="1141845" y="1815352"/>
                  <a:pt x="339504" y="1680882"/>
                </a:cubicBezTo>
                <a:cubicBezTo>
                  <a:pt x="-462837" y="1546412"/>
                  <a:pt x="408980" y="1490382"/>
                  <a:pt x="406739" y="1210235"/>
                </a:cubicBezTo>
                <a:cubicBezTo>
                  <a:pt x="404498" y="930088"/>
                  <a:pt x="365277" y="465044"/>
                  <a:pt x="326057" y="0"/>
                </a:cubicBezTo>
              </a:path>
            </a:pathLst>
          </a:custGeom>
          <a:noFill/>
          <a:ln w="47625"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990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0"/>
            <a:ext cx="64008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Arrays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839624-3E80-4165-862D-FBDD23D15B07}"/>
              </a:ext>
            </a:extLst>
          </p:cNvPr>
          <p:cNvSpPr/>
          <p:nvPr/>
        </p:nvSpPr>
        <p:spPr>
          <a:xfrm>
            <a:off x="0" y="533400"/>
            <a:ext cx="9144000" cy="380998"/>
          </a:xfrm>
          <a:prstGeom prst="rect">
            <a:avLst/>
          </a:prstGeom>
          <a:solidFill>
            <a:schemeClr val="tx2"/>
          </a:solidFill>
          <a:ln cap="rnd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Search in an unsorted array (Sequential Search)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EFC405-48F3-4D3B-9925-B82EEFCE0A5B}"/>
              </a:ext>
            </a:extLst>
          </p:cNvPr>
          <p:cNvSpPr txBox="1"/>
          <p:nvPr/>
        </p:nvSpPr>
        <p:spPr>
          <a:xfrm>
            <a:off x="67399" y="838200"/>
            <a:ext cx="8771801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main(){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[] = {</a:t>
            </a:r>
            <a:r>
              <a:rPr lang="en-US" sz="2800" dirty="0">
                <a:solidFill>
                  <a:srgbClr val="0986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800" dirty="0">
                <a:solidFill>
                  <a:srgbClr val="0986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34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800" dirty="0">
                <a:solidFill>
                  <a:srgbClr val="0986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800" dirty="0">
                <a:solidFill>
                  <a:srgbClr val="0986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800" dirty="0">
                <a:solidFill>
                  <a:srgbClr val="0986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n = </a:t>
            </a:r>
            <a:r>
              <a:rPr 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sizeof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 / </a:t>
            </a:r>
            <a:r>
              <a:rPr 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sizeof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2800" dirty="0">
                <a:solidFill>
                  <a:srgbClr val="0986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]);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// Using a last element as search element</a:t>
            </a:r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key = </a:t>
            </a:r>
            <a:r>
              <a:rPr lang="en-US" sz="2800" dirty="0">
                <a:solidFill>
                  <a:srgbClr val="0986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index = 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findElement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 n, key);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(index == - </a:t>
            </a:r>
            <a:r>
              <a:rPr lang="en-US" sz="2800" dirty="0">
                <a:solidFill>
                  <a:srgbClr val="0986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&lt;&lt; </a:t>
            </a:r>
            <a:r>
              <a:rPr lang="en-US" sz="2800" dirty="0">
                <a:solidFill>
                  <a:srgbClr val="A315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"Element not found"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&lt;&lt; </a:t>
            </a:r>
            <a:r>
              <a:rPr lang="en-US" sz="2800" dirty="0">
                <a:solidFill>
                  <a:srgbClr val="A315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"Element Found at index: "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&lt;&lt; index;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800" dirty="0">
                <a:solidFill>
                  <a:srgbClr val="0986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5E8B20E-47C8-412C-9E3A-CFA9979B3809}"/>
              </a:ext>
            </a:extLst>
          </p:cNvPr>
          <p:cNvGrpSpPr/>
          <p:nvPr/>
        </p:nvGrpSpPr>
        <p:grpSpPr>
          <a:xfrm>
            <a:off x="5791200" y="1066800"/>
            <a:ext cx="3048000" cy="685800"/>
            <a:chOff x="4724400" y="1066800"/>
            <a:chExt cx="3048000" cy="6858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80A3881-5F9B-4899-94FB-C670F99CC38C}"/>
                </a:ext>
              </a:extLst>
            </p:cNvPr>
            <p:cNvSpPr/>
            <p:nvPr/>
          </p:nvSpPr>
          <p:spPr>
            <a:xfrm>
              <a:off x="47244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F3EE08E-B8DF-4DBC-934B-0838B82A1B57}"/>
                </a:ext>
              </a:extLst>
            </p:cNvPr>
            <p:cNvSpPr/>
            <p:nvPr/>
          </p:nvSpPr>
          <p:spPr>
            <a:xfrm>
              <a:off x="53340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34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F67B594-A647-4B57-AABF-6340B9C7C6C9}"/>
                </a:ext>
              </a:extLst>
            </p:cNvPr>
            <p:cNvSpPr/>
            <p:nvPr/>
          </p:nvSpPr>
          <p:spPr>
            <a:xfrm>
              <a:off x="5943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3314111-CD0D-49C8-B043-7D565798AD90}"/>
                </a:ext>
              </a:extLst>
            </p:cNvPr>
            <p:cNvSpPr/>
            <p:nvPr/>
          </p:nvSpPr>
          <p:spPr>
            <a:xfrm>
              <a:off x="65532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89FD87B-D766-4410-BB87-1B890050C147}"/>
                </a:ext>
              </a:extLst>
            </p:cNvPr>
            <p:cNvSpPr/>
            <p:nvPr/>
          </p:nvSpPr>
          <p:spPr>
            <a:xfrm>
              <a:off x="71628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40</a:t>
              </a:r>
            </a:p>
          </p:txBody>
        </p:sp>
      </p:grp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FA5DC890-2877-4385-8326-B7D9CE04008D}"/>
              </a:ext>
            </a:extLst>
          </p:cNvPr>
          <p:cNvSpPr/>
          <p:nvPr/>
        </p:nvSpPr>
        <p:spPr>
          <a:xfrm>
            <a:off x="4876800" y="1295400"/>
            <a:ext cx="914400" cy="2363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A55880B-ABED-4132-846F-5D73F856E5C1}"/>
              </a:ext>
            </a:extLst>
          </p:cNvPr>
          <p:cNvSpPr/>
          <p:nvPr/>
        </p:nvSpPr>
        <p:spPr>
          <a:xfrm>
            <a:off x="7162800" y="3429000"/>
            <a:ext cx="11430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index=4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E7A7ECDB-AC90-4DEA-B8F9-148AF90EF5C9}"/>
              </a:ext>
            </a:extLst>
          </p:cNvPr>
          <p:cNvSpPr/>
          <p:nvPr/>
        </p:nvSpPr>
        <p:spPr>
          <a:xfrm>
            <a:off x="5791200" y="3581400"/>
            <a:ext cx="914400" cy="2363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1E2093F-CF7D-4B6A-8409-C43326175CF9}"/>
              </a:ext>
            </a:extLst>
          </p:cNvPr>
          <p:cNvSpPr/>
          <p:nvPr/>
        </p:nvSpPr>
        <p:spPr>
          <a:xfrm>
            <a:off x="4742493" y="6037729"/>
            <a:ext cx="4191000" cy="609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Element Found at index: 4</a:t>
            </a:r>
          </a:p>
        </p:txBody>
      </p:sp>
    </p:spTree>
    <p:extLst>
      <p:ext uri="{BB962C8B-B14F-4D97-AF65-F5344CB8AC3E}">
        <p14:creationId xmlns:p14="http://schemas.microsoft.com/office/powerpoint/2010/main" val="4089188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 animBg="1"/>
      <p:bldP spid="2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0"/>
            <a:ext cx="64008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Arrays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839624-3E80-4165-862D-FBDD23D15B07}"/>
              </a:ext>
            </a:extLst>
          </p:cNvPr>
          <p:cNvSpPr/>
          <p:nvPr/>
        </p:nvSpPr>
        <p:spPr>
          <a:xfrm>
            <a:off x="0" y="533400"/>
            <a:ext cx="9144000" cy="380998"/>
          </a:xfrm>
          <a:prstGeom prst="rect">
            <a:avLst/>
          </a:prstGeom>
          <a:solidFill>
            <a:schemeClr val="tx2"/>
          </a:solidFill>
          <a:ln cap="rnd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Search in an unsorted array (Sequential Search)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EFC405-48F3-4D3B-9925-B82EEFCE0A5B}"/>
              </a:ext>
            </a:extLst>
          </p:cNvPr>
          <p:cNvSpPr txBox="1"/>
          <p:nvPr/>
        </p:nvSpPr>
        <p:spPr>
          <a:xfrm>
            <a:off x="67399" y="838200"/>
            <a:ext cx="8771801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main(){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[] = {</a:t>
            </a:r>
            <a:r>
              <a:rPr lang="en-US" sz="2800" dirty="0">
                <a:solidFill>
                  <a:srgbClr val="0986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800" dirty="0">
                <a:solidFill>
                  <a:srgbClr val="0986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34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800" dirty="0">
                <a:solidFill>
                  <a:srgbClr val="0986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800" dirty="0">
                <a:solidFill>
                  <a:srgbClr val="0986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800" dirty="0">
                <a:solidFill>
                  <a:srgbClr val="0986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n = </a:t>
            </a:r>
            <a:r>
              <a:rPr 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sizeof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 / </a:t>
            </a:r>
            <a:r>
              <a:rPr 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sizeof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2800" dirty="0">
                <a:solidFill>
                  <a:srgbClr val="0986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]);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// Using a last element as search element</a:t>
            </a:r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key = </a:t>
            </a:r>
            <a:r>
              <a:rPr lang="en-US" sz="2800" dirty="0">
                <a:solidFill>
                  <a:srgbClr val="0986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index = 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findElement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 n, key);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(index == - </a:t>
            </a:r>
            <a:r>
              <a:rPr lang="en-US" sz="2800" dirty="0">
                <a:solidFill>
                  <a:srgbClr val="0986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&lt;&lt; </a:t>
            </a:r>
            <a:r>
              <a:rPr lang="en-US" sz="2800" dirty="0">
                <a:solidFill>
                  <a:srgbClr val="A315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"Element not found"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&lt;&lt; </a:t>
            </a:r>
            <a:r>
              <a:rPr lang="en-US" sz="2800" dirty="0">
                <a:solidFill>
                  <a:srgbClr val="A315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"Element Found at index: "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&lt;&lt; index;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800" dirty="0">
                <a:solidFill>
                  <a:srgbClr val="0986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5E8B20E-47C8-412C-9E3A-CFA9979B3809}"/>
              </a:ext>
            </a:extLst>
          </p:cNvPr>
          <p:cNvGrpSpPr/>
          <p:nvPr/>
        </p:nvGrpSpPr>
        <p:grpSpPr>
          <a:xfrm>
            <a:off x="5791200" y="1066800"/>
            <a:ext cx="3048000" cy="685800"/>
            <a:chOff x="4724400" y="1066800"/>
            <a:chExt cx="3048000" cy="6858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80A3881-5F9B-4899-94FB-C670F99CC38C}"/>
                </a:ext>
              </a:extLst>
            </p:cNvPr>
            <p:cNvSpPr/>
            <p:nvPr/>
          </p:nvSpPr>
          <p:spPr>
            <a:xfrm>
              <a:off x="47244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F3EE08E-B8DF-4DBC-934B-0838B82A1B57}"/>
                </a:ext>
              </a:extLst>
            </p:cNvPr>
            <p:cNvSpPr/>
            <p:nvPr/>
          </p:nvSpPr>
          <p:spPr>
            <a:xfrm>
              <a:off x="53340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34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F67B594-A647-4B57-AABF-6340B9C7C6C9}"/>
                </a:ext>
              </a:extLst>
            </p:cNvPr>
            <p:cNvSpPr/>
            <p:nvPr/>
          </p:nvSpPr>
          <p:spPr>
            <a:xfrm>
              <a:off x="5943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3314111-CD0D-49C8-B043-7D565798AD90}"/>
                </a:ext>
              </a:extLst>
            </p:cNvPr>
            <p:cNvSpPr/>
            <p:nvPr/>
          </p:nvSpPr>
          <p:spPr>
            <a:xfrm>
              <a:off x="65532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89FD87B-D766-4410-BB87-1B890050C147}"/>
                </a:ext>
              </a:extLst>
            </p:cNvPr>
            <p:cNvSpPr/>
            <p:nvPr/>
          </p:nvSpPr>
          <p:spPr>
            <a:xfrm>
              <a:off x="71628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40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91D62C79-6057-41EC-8586-EBF248D56DB5}"/>
              </a:ext>
            </a:extLst>
          </p:cNvPr>
          <p:cNvSpPr/>
          <p:nvPr/>
        </p:nvSpPr>
        <p:spPr>
          <a:xfrm>
            <a:off x="6248400" y="1752600"/>
            <a:ext cx="9144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342A0B-36E1-4CC3-BB75-0A8CF008A3B3}"/>
              </a:ext>
            </a:extLst>
          </p:cNvPr>
          <p:cNvSpPr/>
          <p:nvPr/>
        </p:nvSpPr>
        <p:spPr>
          <a:xfrm>
            <a:off x="6477000" y="2971800"/>
            <a:ext cx="11430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key=50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FA5DC890-2877-4385-8326-B7D9CE04008D}"/>
              </a:ext>
            </a:extLst>
          </p:cNvPr>
          <p:cNvSpPr/>
          <p:nvPr/>
        </p:nvSpPr>
        <p:spPr>
          <a:xfrm>
            <a:off x="4876800" y="1295400"/>
            <a:ext cx="914400" cy="2363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49CE944F-4F93-4D0A-BED2-9665A773405A}"/>
              </a:ext>
            </a:extLst>
          </p:cNvPr>
          <p:cNvSpPr/>
          <p:nvPr/>
        </p:nvSpPr>
        <p:spPr>
          <a:xfrm>
            <a:off x="5410200" y="1905000"/>
            <a:ext cx="914400" cy="2363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EEA86E80-57CE-4904-AFEF-9E3D93E9C87C}"/>
              </a:ext>
            </a:extLst>
          </p:cNvPr>
          <p:cNvSpPr/>
          <p:nvPr/>
        </p:nvSpPr>
        <p:spPr>
          <a:xfrm>
            <a:off x="5334000" y="3116451"/>
            <a:ext cx="914400" cy="2363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0AFBDC6-5B54-4664-B7BB-5F5FADB96B0F}"/>
              </a:ext>
            </a:extLst>
          </p:cNvPr>
          <p:cNvSpPr/>
          <p:nvPr/>
        </p:nvSpPr>
        <p:spPr>
          <a:xfrm>
            <a:off x="2057400" y="3429000"/>
            <a:ext cx="3733800" cy="533400"/>
          </a:xfrm>
          <a:prstGeom prst="roundRect">
            <a:avLst/>
          </a:prstGeom>
          <a:noFill/>
          <a:ln w="412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959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2" grpId="0"/>
      <p:bldP spid="23" grpId="0"/>
      <p:bldP spid="13" grpId="0" animBg="1"/>
      <p:bldP spid="24" grpId="0" animBg="1"/>
      <p:bldP spid="25" grpId="0" animBg="1"/>
      <p:bldP spid="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0"/>
            <a:ext cx="64008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Arrays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839624-3E80-4165-862D-FBDD23D15B07}"/>
              </a:ext>
            </a:extLst>
          </p:cNvPr>
          <p:cNvSpPr/>
          <p:nvPr/>
        </p:nvSpPr>
        <p:spPr>
          <a:xfrm>
            <a:off x="0" y="533400"/>
            <a:ext cx="9144000" cy="380998"/>
          </a:xfrm>
          <a:prstGeom prst="rect">
            <a:avLst/>
          </a:prstGeom>
          <a:solidFill>
            <a:schemeClr val="tx2"/>
          </a:solidFill>
          <a:ln cap="rnd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Search in an unsorted array (Sequential Search)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EFC405-48F3-4D3B-9925-B82EEFCE0A5B}"/>
              </a:ext>
            </a:extLst>
          </p:cNvPr>
          <p:cNvSpPr txBox="1"/>
          <p:nvPr/>
        </p:nvSpPr>
        <p:spPr>
          <a:xfrm>
            <a:off x="0" y="2125682"/>
            <a:ext cx="877180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findElement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[],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n,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key){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28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&lt; n;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] == key)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-</a:t>
            </a:r>
            <a:r>
              <a:rPr lang="en-US" sz="28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5E8B20E-47C8-412C-9E3A-CFA9979B3809}"/>
              </a:ext>
            </a:extLst>
          </p:cNvPr>
          <p:cNvGrpSpPr/>
          <p:nvPr/>
        </p:nvGrpSpPr>
        <p:grpSpPr>
          <a:xfrm>
            <a:off x="2057400" y="914400"/>
            <a:ext cx="3048000" cy="685800"/>
            <a:chOff x="4724400" y="1066800"/>
            <a:chExt cx="3048000" cy="6858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80A3881-5F9B-4899-94FB-C670F99CC38C}"/>
                </a:ext>
              </a:extLst>
            </p:cNvPr>
            <p:cNvSpPr/>
            <p:nvPr/>
          </p:nvSpPr>
          <p:spPr>
            <a:xfrm>
              <a:off x="47244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F3EE08E-B8DF-4DBC-934B-0838B82A1B57}"/>
                </a:ext>
              </a:extLst>
            </p:cNvPr>
            <p:cNvSpPr/>
            <p:nvPr/>
          </p:nvSpPr>
          <p:spPr>
            <a:xfrm>
              <a:off x="53340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34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F67B594-A647-4B57-AABF-6340B9C7C6C9}"/>
                </a:ext>
              </a:extLst>
            </p:cNvPr>
            <p:cNvSpPr/>
            <p:nvPr/>
          </p:nvSpPr>
          <p:spPr>
            <a:xfrm>
              <a:off x="5943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3314111-CD0D-49C8-B043-7D565798AD90}"/>
                </a:ext>
              </a:extLst>
            </p:cNvPr>
            <p:cNvSpPr/>
            <p:nvPr/>
          </p:nvSpPr>
          <p:spPr>
            <a:xfrm>
              <a:off x="65532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89FD87B-D766-4410-BB87-1B890050C147}"/>
                </a:ext>
              </a:extLst>
            </p:cNvPr>
            <p:cNvSpPr/>
            <p:nvPr/>
          </p:nvSpPr>
          <p:spPr>
            <a:xfrm>
              <a:off x="71628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40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91D62C79-6057-41EC-8586-EBF248D56DB5}"/>
              </a:ext>
            </a:extLst>
          </p:cNvPr>
          <p:cNvSpPr/>
          <p:nvPr/>
        </p:nvSpPr>
        <p:spPr>
          <a:xfrm>
            <a:off x="5562600" y="1066800"/>
            <a:ext cx="9144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342A0B-36E1-4CC3-BB75-0A8CF008A3B3}"/>
              </a:ext>
            </a:extLst>
          </p:cNvPr>
          <p:cNvSpPr/>
          <p:nvPr/>
        </p:nvSpPr>
        <p:spPr>
          <a:xfrm>
            <a:off x="7239000" y="1066800"/>
            <a:ext cx="11430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key=50</a:t>
            </a:r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09B5ADD1-3247-417F-BEE1-557043278F10}"/>
              </a:ext>
            </a:extLst>
          </p:cNvPr>
          <p:cNvSpPr/>
          <p:nvPr/>
        </p:nvSpPr>
        <p:spPr>
          <a:xfrm>
            <a:off x="4152900" y="16002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C57023B5-3766-4788-B10B-D50B51B66A58}"/>
              </a:ext>
            </a:extLst>
          </p:cNvPr>
          <p:cNvSpPr/>
          <p:nvPr/>
        </p:nvSpPr>
        <p:spPr>
          <a:xfrm>
            <a:off x="5829300" y="16002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6E9A84E6-E0CF-404D-9F52-57A2A0CD2813}"/>
              </a:ext>
            </a:extLst>
          </p:cNvPr>
          <p:cNvSpPr/>
          <p:nvPr/>
        </p:nvSpPr>
        <p:spPr>
          <a:xfrm>
            <a:off x="7581900" y="16002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C1B7B56-DE21-4D36-B54A-4B0C04CA85D7}"/>
              </a:ext>
            </a:extLst>
          </p:cNvPr>
          <p:cNvGrpSpPr/>
          <p:nvPr/>
        </p:nvGrpSpPr>
        <p:grpSpPr>
          <a:xfrm>
            <a:off x="5715000" y="3962400"/>
            <a:ext cx="3048000" cy="685800"/>
            <a:chOff x="4724400" y="1066800"/>
            <a:chExt cx="3048000" cy="6858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4929856-65CA-4B30-8912-5AD143425573}"/>
                </a:ext>
              </a:extLst>
            </p:cNvPr>
            <p:cNvSpPr/>
            <p:nvPr/>
          </p:nvSpPr>
          <p:spPr>
            <a:xfrm>
              <a:off x="47244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AD6EFE-568B-4118-ACC3-C748E70F04F0}"/>
                </a:ext>
              </a:extLst>
            </p:cNvPr>
            <p:cNvSpPr/>
            <p:nvPr/>
          </p:nvSpPr>
          <p:spPr>
            <a:xfrm>
              <a:off x="53340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34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3C085A8-8A1A-4CEB-9FF6-492AE7B7F64A}"/>
                </a:ext>
              </a:extLst>
            </p:cNvPr>
            <p:cNvSpPr/>
            <p:nvPr/>
          </p:nvSpPr>
          <p:spPr>
            <a:xfrm>
              <a:off x="5943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0F6C7F4-DF5D-429B-8B81-66EAE30FF670}"/>
                </a:ext>
              </a:extLst>
            </p:cNvPr>
            <p:cNvSpPr/>
            <p:nvPr/>
          </p:nvSpPr>
          <p:spPr>
            <a:xfrm>
              <a:off x="65532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1A31049-0E27-4471-9977-7CF1BA00DF97}"/>
                </a:ext>
              </a:extLst>
            </p:cNvPr>
            <p:cNvSpPr/>
            <p:nvPr/>
          </p:nvSpPr>
          <p:spPr>
            <a:xfrm>
              <a:off x="71628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40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0064622-E628-4327-900F-5A241E882242}"/>
              </a:ext>
            </a:extLst>
          </p:cNvPr>
          <p:cNvGrpSpPr/>
          <p:nvPr/>
        </p:nvGrpSpPr>
        <p:grpSpPr>
          <a:xfrm>
            <a:off x="5715000" y="3048000"/>
            <a:ext cx="609598" cy="824843"/>
            <a:chOff x="5715000" y="3048000"/>
            <a:chExt cx="609598" cy="824843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284E63F-3D1B-432E-8192-435AD7D17C61}"/>
                </a:ext>
              </a:extLst>
            </p:cNvPr>
            <p:cNvSpPr/>
            <p:nvPr/>
          </p:nvSpPr>
          <p:spPr>
            <a:xfrm>
              <a:off x="5715000" y="3048000"/>
              <a:ext cx="609598" cy="533400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=0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E441614E-F5E0-4894-9B8F-2765372D5402}"/>
                </a:ext>
              </a:extLst>
            </p:cNvPr>
            <p:cNvCxnSpPr/>
            <p:nvPr/>
          </p:nvCxnSpPr>
          <p:spPr>
            <a:xfrm>
              <a:off x="5981700" y="3426738"/>
              <a:ext cx="0" cy="446105"/>
            </a:xfrm>
            <a:prstGeom prst="straightConnector1">
              <a:avLst/>
            </a:prstGeom>
            <a:ln w="412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F118D8A-F7E2-4C29-9597-50E499654031}"/>
              </a:ext>
            </a:extLst>
          </p:cNvPr>
          <p:cNvGrpSpPr/>
          <p:nvPr/>
        </p:nvGrpSpPr>
        <p:grpSpPr>
          <a:xfrm>
            <a:off x="5410200" y="4724400"/>
            <a:ext cx="1143000" cy="1066800"/>
            <a:chOff x="5410200" y="4724400"/>
            <a:chExt cx="1143000" cy="106680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13B0365-C263-48C9-A495-F786B84CDCC7}"/>
                </a:ext>
              </a:extLst>
            </p:cNvPr>
            <p:cNvSpPr/>
            <p:nvPr/>
          </p:nvSpPr>
          <p:spPr>
            <a:xfrm>
              <a:off x="5410200" y="5257800"/>
              <a:ext cx="1143000" cy="533400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key=50</a:t>
              </a:r>
            </a:p>
          </p:txBody>
        </p:sp>
        <p:sp>
          <p:nvSpPr>
            <p:cNvPr id="39" name="Arrow: Up 38">
              <a:extLst>
                <a:ext uri="{FF2B5EF4-FFF2-40B4-BE49-F238E27FC236}">
                  <a16:creationId xmlns:a16="http://schemas.microsoft.com/office/drawing/2014/main" id="{5C5BFF22-E497-47BD-B3AF-A4BF5868C6B9}"/>
                </a:ext>
              </a:extLst>
            </p:cNvPr>
            <p:cNvSpPr/>
            <p:nvPr/>
          </p:nvSpPr>
          <p:spPr>
            <a:xfrm>
              <a:off x="5905500" y="4724400"/>
              <a:ext cx="266700" cy="533400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40670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2" grpId="0"/>
      <p:bldP spid="23" grpId="0"/>
      <p:bldP spid="26" grpId="0" animBg="1"/>
      <p:bldP spid="27" grpId="0" animBg="1"/>
      <p:bldP spid="2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0"/>
            <a:ext cx="64008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Arrays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839624-3E80-4165-862D-FBDD23D15B07}"/>
              </a:ext>
            </a:extLst>
          </p:cNvPr>
          <p:cNvSpPr/>
          <p:nvPr/>
        </p:nvSpPr>
        <p:spPr>
          <a:xfrm>
            <a:off x="0" y="533400"/>
            <a:ext cx="9144000" cy="380998"/>
          </a:xfrm>
          <a:prstGeom prst="rect">
            <a:avLst/>
          </a:prstGeom>
          <a:solidFill>
            <a:schemeClr val="tx2"/>
          </a:solidFill>
          <a:ln cap="rnd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Search in an unsorted array (Sequential Search)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EFC405-48F3-4D3B-9925-B82EEFCE0A5B}"/>
              </a:ext>
            </a:extLst>
          </p:cNvPr>
          <p:cNvSpPr txBox="1"/>
          <p:nvPr/>
        </p:nvSpPr>
        <p:spPr>
          <a:xfrm>
            <a:off x="0" y="2125682"/>
            <a:ext cx="877180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findElement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[],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n,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key){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28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&lt; n;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] == key)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-</a:t>
            </a:r>
            <a:r>
              <a:rPr lang="en-US" sz="28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5E8B20E-47C8-412C-9E3A-CFA9979B3809}"/>
              </a:ext>
            </a:extLst>
          </p:cNvPr>
          <p:cNvGrpSpPr/>
          <p:nvPr/>
        </p:nvGrpSpPr>
        <p:grpSpPr>
          <a:xfrm>
            <a:off x="2057400" y="914400"/>
            <a:ext cx="3048000" cy="685800"/>
            <a:chOff x="4724400" y="1066800"/>
            <a:chExt cx="3048000" cy="6858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80A3881-5F9B-4899-94FB-C670F99CC38C}"/>
                </a:ext>
              </a:extLst>
            </p:cNvPr>
            <p:cNvSpPr/>
            <p:nvPr/>
          </p:nvSpPr>
          <p:spPr>
            <a:xfrm>
              <a:off x="47244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F3EE08E-B8DF-4DBC-934B-0838B82A1B57}"/>
                </a:ext>
              </a:extLst>
            </p:cNvPr>
            <p:cNvSpPr/>
            <p:nvPr/>
          </p:nvSpPr>
          <p:spPr>
            <a:xfrm>
              <a:off x="53340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34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F67B594-A647-4B57-AABF-6340B9C7C6C9}"/>
                </a:ext>
              </a:extLst>
            </p:cNvPr>
            <p:cNvSpPr/>
            <p:nvPr/>
          </p:nvSpPr>
          <p:spPr>
            <a:xfrm>
              <a:off x="5943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3314111-CD0D-49C8-B043-7D565798AD90}"/>
                </a:ext>
              </a:extLst>
            </p:cNvPr>
            <p:cNvSpPr/>
            <p:nvPr/>
          </p:nvSpPr>
          <p:spPr>
            <a:xfrm>
              <a:off x="65532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89FD87B-D766-4410-BB87-1B890050C147}"/>
                </a:ext>
              </a:extLst>
            </p:cNvPr>
            <p:cNvSpPr/>
            <p:nvPr/>
          </p:nvSpPr>
          <p:spPr>
            <a:xfrm>
              <a:off x="71628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40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91D62C79-6057-41EC-8586-EBF248D56DB5}"/>
              </a:ext>
            </a:extLst>
          </p:cNvPr>
          <p:cNvSpPr/>
          <p:nvPr/>
        </p:nvSpPr>
        <p:spPr>
          <a:xfrm>
            <a:off x="5562600" y="1066800"/>
            <a:ext cx="9144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342A0B-36E1-4CC3-BB75-0A8CF008A3B3}"/>
              </a:ext>
            </a:extLst>
          </p:cNvPr>
          <p:cNvSpPr/>
          <p:nvPr/>
        </p:nvSpPr>
        <p:spPr>
          <a:xfrm>
            <a:off x="7239000" y="1066800"/>
            <a:ext cx="11430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key=50</a:t>
            </a:r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09B5ADD1-3247-417F-BEE1-557043278F10}"/>
              </a:ext>
            </a:extLst>
          </p:cNvPr>
          <p:cNvSpPr/>
          <p:nvPr/>
        </p:nvSpPr>
        <p:spPr>
          <a:xfrm>
            <a:off x="4152900" y="16002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C57023B5-3766-4788-B10B-D50B51B66A58}"/>
              </a:ext>
            </a:extLst>
          </p:cNvPr>
          <p:cNvSpPr/>
          <p:nvPr/>
        </p:nvSpPr>
        <p:spPr>
          <a:xfrm>
            <a:off x="5829300" y="16002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6E9A84E6-E0CF-404D-9F52-57A2A0CD2813}"/>
              </a:ext>
            </a:extLst>
          </p:cNvPr>
          <p:cNvSpPr/>
          <p:nvPr/>
        </p:nvSpPr>
        <p:spPr>
          <a:xfrm>
            <a:off x="7581900" y="16002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C1B7B56-DE21-4D36-B54A-4B0C04CA85D7}"/>
              </a:ext>
            </a:extLst>
          </p:cNvPr>
          <p:cNvGrpSpPr/>
          <p:nvPr/>
        </p:nvGrpSpPr>
        <p:grpSpPr>
          <a:xfrm>
            <a:off x="5715000" y="3962400"/>
            <a:ext cx="3048000" cy="685800"/>
            <a:chOff x="4724400" y="1066800"/>
            <a:chExt cx="3048000" cy="6858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4929856-65CA-4B30-8912-5AD143425573}"/>
                </a:ext>
              </a:extLst>
            </p:cNvPr>
            <p:cNvSpPr/>
            <p:nvPr/>
          </p:nvSpPr>
          <p:spPr>
            <a:xfrm>
              <a:off x="47244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AD6EFE-568B-4118-ACC3-C748E70F04F0}"/>
                </a:ext>
              </a:extLst>
            </p:cNvPr>
            <p:cNvSpPr/>
            <p:nvPr/>
          </p:nvSpPr>
          <p:spPr>
            <a:xfrm>
              <a:off x="53340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34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3C085A8-8A1A-4CEB-9FF6-492AE7B7F64A}"/>
                </a:ext>
              </a:extLst>
            </p:cNvPr>
            <p:cNvSpPr/>
            <p:nvPr/>
          </p:nvSpPr>
          <p:spPr>
            <a:xfrm>
              <a:off x="5943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0F6C7F4-DF5D-429B-8B81-66EAE30FF670}"/>
                </a:ext>
              </a:extLst>
            </p:cNvPr>
            <p:cNvSpPr/>
            <p:nvPr/>
          </p:nvSpPr>
          <p:spPr>
            <a:xfrm>
              <a:off x="65532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1A31049-0E27-4471-9977-7CF1BA00DF97}"/>
                </a:ext>
              </a:extLst>
            </p:cNvPr>
            <p:cNvSpPr/>
            <p:nvPr/>
          </p:nvSpPr>
          <p:spPr>
            <a:xfrm>
              <a:off x="71628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40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95ADA28-F801-48F9-8DCF-39E91B944E56}"/>
              </a:ext>
            </a:extLst>
          </p:cNvPr>
          <p:cNvGrpSpPr/>
          <p:nvPr/>
        </p:nvGrpSpPr>
        <p:grpSpPr>
          <a:xfrm>
            <a:off x="6324602" y="3048000"/>
            <a:ext cx="609598" cy="824843"/>
            <a:chOff x="5715000" y="3048000"/>
            <a:chExt cx="609598" cy="824843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284E63F-3D1B-432E-8192-435AD7D17C61}"/>
                </a:ext>
              </a:extLst>
            </p:cNvPr>
            <p:cNvSpPr/>
            <p:nvPr/>
          </p:nvSpPr>
          <p:spPr>
            <a:xfrm>
              <a:off x="5715000" y="3048000"/>
              <a:ext cx="609598" cy="533400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=1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E441614E-F5E0-4894-9B8F-2765372D5402}"/>
                </a:ext>
              </a:extLst>
            </p:cNvPr>
            <p:cNvCxnSpPr/>
            <p:nvPr/>
          </p:nvCxnSpPr>
          <p:spPr>
            <a:xfrm>
              <a:off x="5981700" y="3426738"/>
              <a:ext cx="0" cy="446105"/>
            </a:xfrm>
            <a:prstGeom prst="straightConnector1">
              <a:avLst/>
            </a:prstGeom>
            <a:ln w="412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149C79D-C0DF-4B53-8987-F2A065E1F185}"/>
              </a:ext>
            </a:extLst>
          </p:cNvPr>
          <p:cNvGrpSpPr/>
          <p:nvPr/>
        </p:nvGrpSpPr>
        <p:grpSpPr>
          <a:xfrm>
            <a:off x="6019800" y="4724400"/>
            <a:ext cx="1143000" cy="1066800"/>
            <a:chOff x="5410200" y="4724400"/>
            <a:chExt cx="1143000" cy="106680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13B0365-C263-48C9-A495-F786B84CDCC7}"/>
                </a:ext>
              </a:extLst>
            </p:cNvPr>
            <p:cNvSpPr/>
            <p:nvPr/>
          </p:nvSpPr>
          <p:spPr>
            <a:xfrm>
              <a:off x="5410200" y="5257800"/>
              <a:ext cx="1143000" cy="533400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key=50</a:t>
              </a:r>
            </a:p>
          </p:txBody>
        </p:sp>
        <p:sp>
          <p:nvSpPr>
            <p:cNvPr id="39" name="Arrow: Up 38">
              <a:extLst>
                <a:ext uri="{FF2B5EF4-FFF2-40B4-BE49-F238E27FC236}">
                  <a16:creationId xmlns:a16="http://schemas.microsoft.com/office/drawing/2014/main" id="{5C5BFF22-E497-47BD-B3AF-A4BF5868C6B9}"/>
                </a:ext>
              </a:extLst>
            </p:cNvPr>
            <p:cNvSpPr/>
            <p:nvPr/>
          </p:nvSpPr>
          <p:spPr>
            <a:xfrm>
              <a:off x="5905500" y="4724400"/>
              <a:ext cx="266700" cy="533400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65168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0"/>
            <a:ext cx="64008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Arrays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839624-3E80-4165-862D-FBDD23D15B07}"/>
              </a:ext>
            </a:extLst>
          </p:cNvPr>
          <p:cNvSpPr/>
          <p:nvPr/>
        </p:nvSpPr>
        <p:spPr>
          <a:xfrm>
            <a:off x="0" y="533400"/>
            <a:ext cx="9144000" cy="380998"/>
          </a:xfrm>
          <a:prstGeom prst="rect">
            <a:avLst/>
          </a:prstGeom>
          <a:solidFill>
            <a:schemeClr val="tx2"/>
          </a:solidFill>
          <a:ln cap="rnd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Search in an unsorted array (Sequential Search)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EFC405-48F3-4D3B-9925-B82EEFCE0A5B}"/>
              </a:ext>
            </a:extLst>
          </p:cNvPr>
          <p:cNvSpPr txBox="1"/>
          <p:nvPr/>
        </p:nvSpPr>
        <p:spPr>
          <a:xfrm>
            <a:off x="0" y="2125682"/>
            <a:ext cx="877180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findElement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[],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n,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key){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28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&lt; n;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] == key)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-</a:t>
            </a:r>
            <a:r>
              <a:rPr lang="en-US" sz="28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5E8B20E-47C8-412C-9E3A-CFA9979B3809}"/>
              </a:ext>
            </a:extLst>
          </p:cNvPr>
          <p:cNvGrpSpPr/>
          <p:nvPr/>
        </p:nvGrpSpPr>
        <p:grpSpPr>
          <a:xfrm>
            <a:off x="2057400" y="914400"/>
            <a:ext cx="3048000" cy="685800"/>
            <a:chOff x="4724400" y="1066800"/>
            <a:chExt cx="3048000" cy="6858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80A3881-5F9B-4899-94FB-C670F99CC38C}"/>
                </a:ext>
              </a:extLst>
            </p:cNvPr>
            <p:cNvSpPr/>
            <p:nvPr/>
          </p:nvSpPr>
          <p:spPr>
            <a:xfrm>
              <a:off x="47244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F3EE08E-B8DF-4DBC-934B-0838B82A1B57}"/>
                </a:ext>
              </a:extLst>
            </p:cNvPr>
            <p:cNvSpPr/>
            <p:nvPr/>
          </p:nvSpPr>
          <p:spPr>
            <a:xfrm>
              <a:off x="53340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34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F67B594-A647-4B57-AABF-6340B9C7C6C9}"/>
                </a:ext>
              </a:extLst>
            </p:cNvPr>
            <p:cNvSpPr/>
            <p:nvPr/>
          </p:nvSpPr>
          <p:spPr>
            <a:xfrm>
              <a:off x="5943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3314111-CD0D-49C8-B043-7D565798AD90}"/>
                </a:ext>
              </a:extLst>
            </p:cNvPr>
            <p:cNvSpPr/>
            <p:nvPr/>
          </p:nvSpPr>
          <p:spPr>
            <a:xfrm>
              <a:off x="65532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89FD87B-D766-4410-BB87-1B890050C147}"/>
                </a:ext>
              </a:extLst>
            </p:cNvPr>
            <p:cNvSpPr/>
            <p:nvPr/>
          </p:nvSpPr>
          <p:spPr>
            <a:xfrm>
              <a:off x="71628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40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91D62C79-6057-41EC-8586-EBF248D56DB5}"/>
              </a:ext>
            </a:extLst>
          </p:cNvPr>
          <p:cNvSpPr/>
          <p:nvPr/>
        </p:nvSpPr>
        <p:spPr>
          <a:xfrm>
            <a:off x="5562600" y="1066800"/>
            <a:ext cx="9144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342A0B-36E1-4CC3-BB75-0A8CF008A3B3}"/>
              </a:ext>
            </a:extLst>
          </p:cNvPr>
          <p:cNvSpPr/>
          <p:nvPr/>
        </p:nvSpPr>
        <p:spPr>
          <a:xfrm>
            <a:off x="7239000" y="1066800"/>
            <a:ext cx="11430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key=50</a:t>
            </a:r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09B5ADD1-3247-417F-BEE1-557043278F10}"/>
              </a:ext>
            </a:extLst>
          </p:cNvPr>
          <p:cNvSpPr/>
          <p:nvPr/>
        </p:nvSpPr>
        <p:spPr>
          <a:xfrm>
            <a:off x="4152900" y="16002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C57023B5-3766-4788-B10B-D50B51B66A58}"/>
              </a:ext>
            </a:extLst>
          </p:cNvPr>
          <p:cNvSpPr/>
          <p:nvPr/>
        </p:nvSpPr>
        <p:spPr>
          <a:xfrm>
            <a:off x="5829300" y="16002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6E9A84E6-E0CF-404D-9F52-57A2A0CD2813}"/>
              </a:ext>
            </a:extLst>
          </p:cNvPr>
          <p:cNvSpPr/>
          <p:nvPr/>
        </p:nvSpPr>
        <p:spPr>
          <a:xfrm>
            <a:off x="7581900" y="16002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C1B7B56-DE21-4D36-B54A-4B0C04CA85D7}"/>
              </a:ext>
            </a:extLst>
          </p:cNvPr>
          <p:cNvGrpSpPr/>
          <p:nvPr/>
        </p:nvGrpSpPr>
        <p:grpSpPr>
          <a:xfrm>
            <a:off x="5715000" y="3962400"/>
            <a:ext cx="3048000" cy="685800"/>
            <a:chOff x="4724400" y="1066800"/>
            <a:chExt cx="3048000" cy="6858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4929856-65CA-4B30-8912-5AD143425573}"/>
                </a:ext>
              </a:extLst>
            </p:cNvPr>
            <p:cNvSpPr/>
            <p:nvPr/>
          </p:nvSpPr>
          <p:spPr>
            <a:xfrm>
              <a:off x="47244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AD6EFE-568B-4118-ACC3-C748E70F04F0}"/>
                </a:ext>
              </a:extLst>
            </p:cNvPr>
            <p:cNvSpPr/>
            <p:nvPr/>
          </p:nvSpPr>
          <p:spPr>
            <a:xfrm>
              <a:off x="53340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34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3C085A8-8A1A-4CEB-9FF6-492AE7B7F64A}"/>
                </a:ext>
              </a:extLst>
            </p:cNvPr>
            <p:cNvSpPr/>
            <p:nvPr/>
          </p:nvSpPr>
          <p:spPr>
            <a:xfrm>
              <a:off x="5943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0F6C7F4-DF5D-429B-8B81-66EAE30FF670}"/>
                </a:ext>
              </a:extLst>
            </p:cNvPr>
            <p:cNvSpPr/>
            <p:nvPr/>
          </p:nvSpPr>
          <p:spPr>
            <a:xfrm>
              <a:off x="65532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1A31049-0E27-4471-9977-7CF1BA00DF97}"/>
                </a:ext>
              </a:extLst>
            </p:cNvPr>
            <p:cNvSpPr/>
            <p:nvPr/>
          </p:nvSpPr>
          <p:spPr>
            <a:xfrm>
              <a:off x="71628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40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95ADA28-F801-48F9-8DCF-39E91B944E56}"/>
              </a:ext>
            </a:extLst>
          </p:cNvPr>
          <p:cNvGrpSpPr/>
          <p:nvPr/>
        </p:nvGrpSpPr>
        <p:grpSpPr>
          <a:xfrm>
            <a:off x="6934202" y="3048000"/>
            <a:ext cx="609598" cy="824843"/>
            <a:chOff x="5715000" y="3048000"/>
            <a:chExt cx="609598" cy="824843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284E63F-3D1B-432E-8192-435AD7D17C61}"/>
                </a:ext>
              </a:extLst>
            </p:cNvPr>
            <p:cNvSpPr/>
            <p:nvPr/>
          </p:nvSpPr>
          <p:spPr>
            <a:xfrm>
              <a:off x="5715000" y="3048000"/>
              <a:ext cx="609598" cy="533400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=2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E441614E-F5E0-4894-9B8F-2765372D5402}"/>
                </a:ext>
              </a:extLst>
            </p:cNvPr>
            <p:cNvCxnSpPr/>
            <p:nvPr/>
          </p:nvCxnSpPr>
          <p:spPr>
            <a:xfrm>
              <a:off x="5981700" y="3426738"/>
              <a:ext cx="0" cy="446105"/>
            </a:xfrm>
            <a:prstGeom prst="straightConnector1">
              <a:avLst/>
            </a:prstGeom>
            <a:ln w="412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149C79D-C0DF-4B53-8987-F2A065E1F185}"/>
              </a:ext>
            </a:extLst>
          </p:cNvPr>
          <p:cNvGrpSpPr/>
          <p:nvPr/>
        </p:nvGrpSpPr>
        <p:grpSpPr>
          <a:xfrm>
            <a:off x="6629400" y="4724400"/>
            <a:ext cx="1143000" cy="1066800"/>
            <a:chOff x="5410200" y="4724400"/>
            <a:chExt cx="1143000" cy="106680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13B0365-C263-48C9-A495-F786B84CDCC7}"/>
                </a:ext>
              </a:extLst>
            </p:cNvPr>
            <p:cNvSpPr/>
            <p:nvPr/>
          </p:nvSpPr>
          <p:spPr>
            <a:xfrm>
              <a:off x="5410200" y="5257800"/>
              <a:ext cx="1143000" cy="533400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key=50</a:t>
              </a:r>
            </a:p>
          </p:txBody>
        </p:sp>
        <p:sp>
          <p:nvSpPr>
            <p:cNvPr id="39" name="Arrow: Up 38">
              <a:extLst>
                <a:ext uri="{FF2B5EF4-FFF2-40B4-BE49-F238E27FC236}">
                  <a16:creationId xmlns:a16="http://schemas.microsoft.com/office/drawing/2014/main" id="{5C5BFF22-E497-47BD-B3AF-A4BF5868C6B9}"/>
                </a:ext>
              </a:extLst>
            </p:cNvPr>
            <p:cNvSpPr/>
            <p:nvPr/>
          </p:nvSpPr>
          <p:spPr>
            <a:xfrm>
              <a:off x="5905500" y="4724400"/>
              <a:ext cx="266700" cy="533400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53030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0"/>
            <a:ext cx="64008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Arrays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839624-3E80-4165-862D-FBDD23D15B07}"/>
              </a:ext>
            </a:extLst>
          </p:cNvPr>
          <p:cNvSpPr/>
          <p:nvPr/>
        </p:nvSpPr>
        <p:spPr>
          <a:xfrm>
            <a:off x="0" y="533400"/>
            <a:ext cx="9144000" cy="380998"/>
          </a:xfrm>
          <a:prstGeom prst="rect">
            <a:avLst/>
          </a:prstGeom>
          <a:solidFill>
            <a:schemeClr val="tx2"/>
          </a:solidFill>
          <a:ln cap="rnd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Search in an unsorted array (Sequential Search)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EFC405-48F3-4D3B-9925-B82EEFCE0A5B}"/>
              </a:ext>
            </a:extLst>
          </p:cNvPr>
          <p:cNvSpPr txBox="1"/>
          <p:nvPr/>
        </p:nvSpPr>
        <p:spPr>
          <a:xfrm>
            <a:off x="0" y="2125682"/>
            <a:ext cx="877180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findElement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[],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n,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key){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28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&lt; n;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] == key)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-</a:t>
            </a:r>
            <a:r>
              <a:rPr lang="en-US" sz="28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5E8B20E-47C8-412C-9E3A-CFA9979B3809}"/>
              </a:ext>
            </a:extLst>
          </p:cNvPr>
          <p:cNvGrpSpPr/>
          <p:nvPr/>
        </p:nvGrpSpPr>
        <p:grpSpPr>
          <a:xfrm>
            <a:off x="2057400" y="914400"/>
            <a:ext cx="3048000" cy="685800"/>
            <a:chOff x="4724400" y="1066800"/>
            <a:chExt cx="3048000" cy="6858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80A3881-5F9B-4899-94FB-C670F99CC38C}"/>
                </a:ext>
              </a:extLst>
            </p:cNvPr>
            <p:cNvSpPr/>
            <p:nvPr/>
          </p:nvSpPr>
          <p:spPr>
            <a:xfrm>
              <a:off x="47244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F3EE08E-B8DF-4DBC-934B-0838B82A1B57}"/>
                </a:ext>
              </a:extLst>
            </p:cNvPr>
            <p:cNvSpPr/>
            <p:nvPr/>
          </p:nvSpPr>
          <p:spPr>
            <a:xfrm>
              <a:off x="53340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34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F67B594-A647-4B57-AABF-6340B9C7C6C9}"/>
                </a:ext>
              </a:extLst>
            </p:cNvPr>
            <p:cNvSpPr/>
            <p:nvPr/>
          </p:nvSpPr>
          <p:spPr>
            <a:xfrm>
              <a:off x="5943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3314111-CD0D-49C8-B043-7D565798AD90}"/>
                </a:ext>
              </a:extLst>
            </p:cNvPr>
            <p:cNvSpPr/>
            <p:nvPr/>
          </p:nvSpPr>
          <p:spPr>
            <a:xfrm>
              <a:off x="65532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89FD87B-D766-4410-BB87-1B890050C147}"/>
                </a:ext>
              </a:extLst>
            </p:cNvPr>
            <p:cNvSpPr/>
            <p:nvPr/>
          </p:nvSpPr>
          <p:spPr>
            <a:xfrm>
              <a:off x="71628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40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91D62C79-6057-41EC-8586-EBF248D56DB5}"/>
              </a:ext>
            </a:extLst>
          </p:cNvPr>
          <p:cNvSpPr/>
          <p:nvPr/>
        </p:nvSpPr>
        <p:spPr>
          <a:xfrm>
            <a:off x="5562600" y="1066800"/>
            <a:ext cx="9144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342A0B-36E1-4CC3-BB75-0A8CF008A3B3}"/>
              </a:ext>
            </a:extLst>
          </p:cNvPr>
          <p:cNvSpPr/>
          <p:nvPr/>
        </p:nvSpPr>
        <p:spPr>
          <a:xfrm>
            <a:off x="7239000" y="1066800"/>
            <a:ext cx="11430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key=50</a:t>
            </a:r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09B5ADD1-3247-417F-BEE1-557043278F10}"/>
              </a:ext>
            </a:extLst>
          </p:cNvPr>
          <p:cNvSpPr/>
          <p:nvPr/>
        </p:nvSpPr>
        <p:spPr>
          <a:xfrm>
            <a:off x="4152900" y="16002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C57023B5-3766-4788-B10B-D50B51B66A58}"/>
              </a:ext>
            </a:extLst>
          </p:cNvPr>
          <p:cNvSpPr/>
          <p:nvPr/>
        </p:nvSpPr>
        <p:spPr>
          <a:xfrm>
            <a:off x="5829300" y="16002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6E9A84E6-E0CF-404D-9F52-57A2A0CD2813}"/>
              </a:ext>
            </a:extLst>
          </p:cNvPr>
          <p:cNvSpPr/>
          <p:nvPr/>
        </p:nvSpPr>
        <p:spPr>
          <a:xfrm>
            <a:off x="7581900" y="16002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C1B7B56-DE21-4D36-B54A-4B0C04CA85D7}"/>
              </a:ext>
            </a:extLst>
          </p:cNvPr>
          <p:cNvGrpSpPr/>
          <p:nvPr/>
        </p:nvGrpSpPr>
        <p:grpSpPr>
          <a:xfrm>
            <a:off x="5715000" y="3962400"/>
            <a:ext cx="3048000" cy="685800"/>
            <a:chOff x="4724400" y="1066800"/>
            <a:chExt cx="3048000" cy="6858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4929856-65CA-4B30-8912-5AD143425573}"/>
                </a:ext>
              </a:extLst>
            </p:cNvPr>
            <p:cNvSpPr/>
            <p:nvPr/>
          </p:nvSpPr>
          <p:spPr>
            <a:xfrm>
              <a:off x="47244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AD6EFE-568B-4118-ACC3-C748E70F04F0}"/>
                </a:ext>
              </a:extLst>
            </p:cNvPr>
            <p:cNvSpPr/>
            <p:nvPr/>
          </p:nvSpPr>
          <p:spPr>
            <a:xfrm>
              <a:off x="53340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34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3C085A8-8A1A-4CEB-9FF6-492AE7B7F64A}"/>
                </a:ext>
              </a:extLst>
            </p:cNvPr>
            <p:cNvSpPr/>
            <p:nvPr/>
          </p:nvSpPr>
          <p:spPr>
            <a:xfrm>
              <a:off x="5943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0F6C7F4-DF5D-429B-8B81-66EAE30FF670}"/>
                </a:ext>
              </a:extLst>
            </p:cNvPr>
            <p:cNvSpPr/>
            <p:nvPr/>
          </p:nvSpPr>
          <p:spPr>
            <a:xfrm>
              <a:off x="65532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1A31049-0E27-4471-9977-7CF1BA00DF97}"/>
                </a:ext>
              </a:extLst>
            </p:cNvPr>
            <p:cNvSpPr/>
            <p:nvPr/>
          </p:nvSpPr>
          <p:spPr>
            <a:xfrm>
              <a:off x="71628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40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95ADA28-F801-48F9-8DCF-39E91B944E56}"/>
              </a:ext>
            </a:extLst>
          </p:cNvPr>
          <p:cNvGrpSpPr/>
          <p:nvPr/>
        </p:nvGrpSpPr>
        <p:grpSpPr>
          <a:xfrm>
            <a:off x="7543800" y="3048000"/>
            <a:ext cx="609598" cy="824843"/>
            <a:chOff x="5715000" y="3048000"/>
            <a:chExt cx="609598" cy="824843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284E63F-3D1B-432E-8192-435AD7D17C61}"/>
                </a:ext>
              </a:extLst>
            </p:cNvPr>
            <p:cNvSpPr/>
            <p:nvPr/>
          </p:nvSpPr>
          <p:spPr>
            <a:xfrm>
              <a:off x="5715000" y="3048000"/>
              <a:ext cx="609598" cy="533400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=3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E441614E-F5E0-4894-9B8F-2765372D5402}"/>
                </a:ext>
              </a:extLst>
            </p:cNvPr>
            <p:cNvCxnSpPr/>
            <p:nvPr/>
          </p:nvCxnSpPr>
          <p:spPr>
            <a:xfrm>
              <a:off x="5981700" y="3426738"/>
              <a:ext cx="0" cy="446105"/>
            </a:xfrm>
            <a:prstGeom prst="straightConnector1">
              <a:avLst/>
            </a:prstGeom>
            <a:ln w="412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149C79D-C0DF-4B53-8987-F2A065E1F185}"/>
              </a:ext>
            </a:extLst>
          </p:cNvPr>
          <p:cNvGrpSpPr/>
          <p:nvPr/>
        </p:nvGrpSpPr>
        <p:grpSpPr>
          <a:xfrm>
            <a:off x="7239000" y="4724400"/>
            <a:ext cx="1143000" cy="1066800"/>
            <a:chOff x="5410200" y="4724400"/>
            <a:chExt cx="1143000" cy="106680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13B0365-C263-48C9-A495-F786B84CDCC7}"/>
                </a:ext>
              </a:extLst>
            </p:cNvPr>
            <p:cNvSpPr/>
            <p:nvPr/>
          </p:nvSpPr>
          <p:spPr>
            <a:xfrm>
              <a:off x="5410200" y="5257800"/>
              <a:ext cx="1143000" cy="533400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key=50</a:t>
              </a:r>
            </a:p>
          </p:txBody>
        </p:sp>
        <p:sp>
          <p:nvSpPr>
            <p:cNvPr id="39" name="Arrow: Up 38">
              <a:extLst>
                <a:ext uri="{FF2B5EF4-FFF2-40B4-BE49-F238E27FC236}">
                  <a16:creationId xmlns:a16="http://schemas.microsoft.com/office/drawing/2014/main" id="{5C5BFF22-E497-47BD-B3AF-A4BF5868C6B9}"/>
                </a:ext>
              </a:extLst>
            </p:cNvPr>
            <p:cNvSpPr/>
            <p:nvPr/>
          </p:nvSpPr>
          <p:spPr>
            <a:xfrm>
              <a:off x="5905500" y="4724400"/>
              <a:ext cx="266700" cy="533400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77017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0"/>
            <a:ext cx="64008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Arrays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839624-3E80-4165-862D-FBDD23D15B07}"/>
              </a:ext>
            </a:extLst>
          </p:cNvPr>
          <p:cNvSpPr/>
          <p:nvPr/>
        </p:nvSpPr>
        <p:spPr>
          <a:xfrm>
            <a:off x="0" y="533400"/>
            <a:ext cx="9144000" cy="380998"/>
          </a:xfrm>
          <a:prstGeom prst="rect">
            <a:avLst/>
          </a:prstGeom>
          <a:solidFill>
            <a:schemeClr val="tx2"/>
          </a:solidFill>
          <a:ln cap="rnd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Search in an unsorted array (Sequential Search)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EFC405-48F3-4D3B-9925-B82EEFCE0A5B}"/>
              </a:ext>
            </a:extLst>
          </p:cNvPr>
          <p:cNvSpPr txBox="1"/>
          <p:nvPr/>
        </p:nvSpPr>
        <p:spPr>
          <a:xfrm>
            <a:off x="0" y="2125682"/>
            <a:ext cx="877180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findElement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[],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n,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key){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28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&lt; n;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] == key)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-</a:t>
            </a:r>
            <a:r>
              <a:rPr lang="en-US" sz="28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5E8B20E-47C8-412C-9E3A-CFA9979B3809}"/>
              </a:ext>
            </a:extLst>
          </p:cNvPr>
          <p:cNvGrpSpPr/>
          <p:nvPr/>
        </p:nvGrpSpPr>
        <p:grpSpPr>
          <a:xfrm>
            <a:off x="2057400" y="914400"/>
            <a:ext cx="3048000" cy="685800"/>
            <a:chOff x="4724400" y="1066800"/>
            <a:chExt cx="3048000" cy="6858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80A3881-5F9B-4899-94FB-C670F99CC38C}"/>
                </a:ext>
              </a:extLst>
            </p:cNvPr>
            <p:cNvSpPr/>
            <p:nvPr/>
          </p:nvSpPr>
          <p:spPr>
            <a:xfrm>
              <a:off x="47244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F3EE08E-B8DF-4DBC-934B-0838B82A1B57}"/>
                </a:ext>
              </a:extLst>
            </p:cNvPr>
            <p:cNvSpPr/>
            <p:nvPr/>
          </p:nvSpPr>
          <p:spPr>
            <a:xfrm>
              <a:off x="53340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34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F67B594-A647-4B57-AABF-6340B9C7C6C9}"/>
                </a:ext>
              </a:extLst>
            </p:cNvPr>
            <p:cNvSpPr/>
            <p:nvPr/>
          </p:nvSpPr>
          <p:spPr>
            <a:xfrm>
              <a:off x="5943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3314111-CD0D-49C8-B043-7D565798AD90}"/>
                </a:ext>
              </a:extLst>
            </p:cNvPr>
            <p:cNvSpPr/>
            <p:nvPr/>
          </p:nvSpPr>
          <p:spPr>
            <a:xfrm>
              <a:off x="65532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89FD87B-D766-4410-BB87-1B890050C147}"/>
                </a:ext>
              </a:extLst>
            </p:cNvPr>
            <p:cNvSpPr/>
            <p:nvPr/>
          </p:nvSpPr>
          <p:spPr>
            <a:xfrm>
              <a:off x="71628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40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91D62C79-6057-41EC-8586-EBF248D56DB5}"/>
              </a:ext>
            </a:extLst>
          </p:cNvPr>
          <p:cNvSpPr/>
          <p:nvPr/>
        </p:nvSpPr>
        <p:spPr>
          <a:xfrm>
            <a:off x="5562600" y="1066800"/>
            <a:ext cx="9144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342A0B-36E1-4CC3-BB75-0A8CF008A3B3}"/>
              </a:ext>
            </a:extLst>
          </p:cNvPr>
          <p:cNvSpPr/>
          <p:nvPr/>
        </p:nvSpPr>
        <p:spPr>
          <a:xfrm>
            <a:off x="7239000" y="1066800"/>
            <a:ext cx="11430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key=50</a:t>
            </a:r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09B5ADD1-3247-417F-BEE1-557043278F10}"/>
              </a:ext>
            </a:extLst>
          </p:cNvPr>
          <p:cNvSpPr/>
          <p:nvPr/>
        </p:nvSpPr>
        <p:spPr>
          <a:xfrm>
            <a:off x="4152900" y="16002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C57023B5-3766-4788-B10B-D50B51B66A58}"/>
              </a:ext>
            </a:extLst>
          </p:cNvPr>
          <p:cNvSpPr/>
          <p:nvPr/>
        </p:nvSpPr>
        <p:spPr>
          <a:xfrm>
            <a:off x="5829300" y="16002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6E9A84E6-E0CF-404D-9F52-57A2A0CD2813}"/>
              </a:ext>
            </a:extLst>
          </p:cNvPr>
          <p:cNvSpPr/>
          <p:nvPr/>
        </p:nvSpPr>
        <p:spPr>
          <a:xfrm>
            <a:off x="7581900" y="16002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C1B7B56-DE21-4D36-B54A-4B0C04CA85D7}"/>
              </a:ext>
            </a:extLst>
          </p:cNvPr>
          <p:cNvGrpSpPr/>
          <p:nvPr/>
        </p:nvGrpSpPr>
        <p:grpSpPr>
          <a:xfrm>
            <a:off x="5715000" y="3962400"/>
            <a:ext cx="3048000" cy="685800"/>
            <a:chOff x="4724400" y="1066800"/>
            <a:chExt cx="3048000" cy="6858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4929856-65CA-4B30-8912-5AD143425573}"/>
                </a:ext>
              </a:extLst>
            </p:cNvPr>
            <p:cNvSpPr/>
            <p:nvPr/>
          </p:nvSpPr>
          <p:spPr>
            <a:xfrm>
              <a:off x="47244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AD6EFE-568B-4118-ACC3-C748E70F04F0}"/>
                </a:ext>
              </a:extLst>
            </p:cNvPr>
            <p:cNvSpPr/>
            <p:nvPr/>
          </p:nvSpPr>
          <p:spPr>
            <a:xfrm>
              <a:off x="53340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34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3C085A8-8A1A-4CEB-9FF6-492AE7B7F64A}"/>
                </a:ext>
              </a:extLst>
            </p:cNvPr>
            <p:cNvSpPr/>
            <p:nvPr/>
          </p:nvSpPr>
          <p:spPr>
            <a:xfrm>
              <a:off x="5943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0F6C7F4-DF5D-429B-8B81-66EAE30FF670}"/>
                </a:ext>
              </a:extLst>
            </p:cNvPr>
            <p:cNvSpPr/>
            <p:nvPr/>
          </p:nvSpPr>
          <p:spPr>
            <a:xfrm>
              <a:off x="65532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1A31049-0E27-4471-9977-7CF1BA00DF97}"/>
                </a:ext>
              </a:extLst>
            </p:cNvPr>
            <p:cNvSpPr/>
            <p:nvPr/>
          </p:nvSpPr>
          <p:spPr>
            <a:xfrm>
              <a:off x="71628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40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95ADA28-F801-48F9-8DCF-39E91B944E56}"/>
              </a:ext>
            </a:extLst>
          </p:cNvPr>
          <p:cNvGrpSpPr/>
          <p:nvPr/>
        </p:nvGrpSpPr>
        <p:grpSpPr>
          <a:xfrm>
            <a:off x="8153402" y="3048000"/>
            <a:ext cx="609598" cy="824843"/>
            <a:chOff x="5715000" y="3048000"/>
            <a:chExt cx="609598" cy="824843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284E63F-3D1B-432E-8192-435AD7D17C61}"/>
                </a:ext>
              </a:extLst>
            </p:cNvPr>
            <p:cNvSpPr/>
            <p:nvPr/>
          </p:nvSpPr>
          <p:spPr>
            <a:xfrm>
              <a:off x="5715000" y="3048000"/>
              <a:ext cx="609598" cy="533400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=4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E441614E-F5E0-4894-9B8F-2765372D5402}"/>
                </a:ext>
              </a:extLst>
            </p:cNvPr>
            <p:cNvCxnSpPr/>
            <p:nvPr/>
          </p:nvCxnSpPr>
          <p:spPr>
            <a:xfrm>
              <a:off x="5981700" y="3426738"/>
              <a:ext cx="0" cy="446105"/>
            </a:xfrm>
            <a:prstGeom prst="straightConnector1">
              <a:avLst/>
            </a:prstGeom>
            <a:ln w="412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149C79D-C0DF-4B53-8987-F2A065E1F185}"/>
              </a:ext>
            </a:extLst>
          </p:cNvPr>
          <p:cNvGrpSpPr/>
          <p:nvPr/>
        </p:nvGrpSpPr>
        <p:grpSpPr>
          <a:xfrm>
            <a:off x="7848600" y="4724400"/>
            <a:ext cx="1143000" cy="1066800"/>
            <a:chOff x="5410200" y="4724400"/>
            <a:chExt cx="1143000" cy="106680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13B0365-C263-48C9-A495-F786B84CDCC7}"/>
                </a:ext>
              </a:extLst>
            </p:cNvPr>
            <p:cNvSpPr/>
            <p:nvPr/>
          </p:nvSpPr>
          <p:spPr>
            <a:xfrm>
              <a:off x="5410200" y="5257800"/>
              <a:ext cx="1143000" cy="533400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key=50</a:t>
              </a:r>
            </a:p>
          </p:txBody>
        </p:sp>
        <p:sp>
          <p:nvSpPr>
            <p:cNvPr id="39" name="Arrow: Up 38">
              <a:extLst>
                <a:ext uri="{FF2B5EF4-FFF2-40B4-BE49-F238E27FC236}">
                  <a16:creationId xmlns:a16="http://schemas.microsoft.com/office/drawing/2014/main" id="{5C5BFF22-E497-47BD-B3AF-A4BF5868C6B9}"/>
                </a:ext>
              </a:extLst>
            </p:cNvPr>
            <p:cNvSpPr/>
            <p:nvPr/>
          </p:nvSpPr>
          <p:spPr>
            <a:xfrm>
              <a:off x="5905500" y="4724400"/>
              <a:ext cx="266700" cy="533400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67322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0"/>
            <a:ext cx="64008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Arrays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839624-3E80-4165-862D-FBDD23D15B07}"/>
              </a:ext>
            </a:extLst>
          </p:cNvPr>
          <p:cNvSpPr/>
          <p:nvPr/>
        </p:nvSpPr>
        <p:spPr>
          <a:xfrm>
            <a:off x="0" y="533400"/>
            <a:ext cx="9144000" cy="380998"/>
          </a:xfrm>
          <a:prstGeom prst="rect">
            <a:avLst/>
          </a:prstGeom>
          <a:solidFill>
            <a:schemeClr val="tx2"/>
          </a:solidFill>
          <a:ln cap="rnd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Search in an unsorted array (Sequential Search)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EFC405-48F3-4D3B-9925-B82EEFCE0A5B}"/>
              </a:ext>
            </a:extLst>
          </p:cNvPr>
          <p:cNvSpPr txBox="1"/>
          <p:nvPr/>
        </p:nvSpPr>
        <p:spPr>
          <a:xfrm>
            <a:off x="0" y="2125682"/>
            <a:ext cx="877180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findElement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[],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n,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key){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28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&lt; n;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] == key)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-</a:t>
            </a:r>
            <a:r>
              <a:rPr lang="en-US" sz="28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5E8B20E-47C8-412C-9E3A-CFA9979B3809}"/>
              </a:ext>
            </a:extLst>
          </p:cNvPr>
          <p:cNvGrpSpPr/>
          <p:nvPr/>
        </p:nvGrpSpPr>
        <p:grpSpPr>
          <a:xfrm>
            <a:off x="2057400" y="914400"/>
            <a:ext cx="3048000" cy="685800"/>
            <a:chOff x="4724400" y="1066800"/>
            <a:chExt cx="3048000" cy="6858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80A3881-5F9B-4899-94FB-C670F99CC38C}"/>
                </a:ext>
              </a:extLst>
            </p:cNvPr>
            <p:cNvSpPr/>
            <p:nvPr/>
          </p:nvSpPr>
          <p:spPr>
            <a:xfrm>
              <a:off x="47244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F3EE08E-B8DF-4DBC-934B-0838B82A1B57}"/>
                </a:ext>
              </a:extLst>
            </p:cNvPr>
            <p:cNvSpPr/>
            <p:nvPr/>
          </p:nvSpPr>
          <p:spPr>
            <a:xfrm>
              <a:off x="53340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34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F67B594-A647-4B57-AABF-6340B9C7C6C9}"/>
                </a:ext>
              </a:extLst>
            </p:cNvPr>
            <p:cNvSpPr/>
            <p:nvPr/>
          </p:nvSpPr>
          <p:spPr>
            <a:xfrm>
              <a:off x="5943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3314111-CD0D-49C8-B043-7D565798AD90}"/>
                </a:ext>
              </a:extLst>
            </p:cNvPr>
            <p:cNvSpPr/>
            <p:nvPr/>
          </p:nvSpPr>
          <p:spPr>
            <a:xfrm>
              <a:off x="65532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89FD87B-D766-4410-BB87-1B890050C147}"/>
                </a:ext>
              </a:extLst>
            </p:cNvPr>
            <p:cNvSpPr/>
            <p:nvPr/>
          </p:nvSpPr>
          <p:spPr>
            <a:xfrm>
              <a:off x="71628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40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91D62C79-6057-41EC-8586-EBF248D56DB5}"/>
              </a:ext>
            </a:extLst>
          </p:cNvPr>
          <p:cNvSpPr/>
          <p:nvPr/>
        </p:nvSpPr>
        <p:spPr>
          <a:xfrm>
            <a:off x="5562600" y="1066800"/>
            <a:ext cx="9144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342A0B-36E1-4CC3-BB75-0A8CF008A3B3}"/>
              </a:ext>
            </a:extLst>
          </p:cNvPr>
          <p:cNvSpPr/>
          <p:nvPr/>
        </p:nvSpPr>
        <p:spPr>
          <a:xfrm>
            <a:off x="7239000" y="1066800"/>
            <a:ext cx="11430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key=40</a:t>
            </a:r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09B5ADD1-3247-417F-BEE1-557043278F10}"/>
              </a:ext>
            </a:extLst>
          </p:cNvPr>
          <p:cNvSpPr/>
          <p:nvPr/>
        </p:nvSpPr>
        <p:spPr>
          <a:xfrm>
            <a:off x="4152900" y="16002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C57023B5-3766-4788-B10B-D50B51B66A58}"/>
              </a:ext>
            </a:extLst>
          </p:cNvPr>
          <p:cNvSpPr/>
          <p:nvPr/>
        </p:nvSpPr>
        <p:spPr>
          <a:xfrm>
            <a:off x="5829300" y="16002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6E9A84E6-E0CF-404D-9F52-57A2A0CD2813}"/>
              </a:ext>
            </a:extLst>
          </p:cNvPr>
          <p:cNvSpPr/>
          <p:nvPr/>
        </p:nvSpPr>
        <p:spPr>
          <a:xfrm>
            <a:off x="7581900" y="16002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C1B7B56-DE21-4D36-B54A-4B0C04CA85D7}"/>
              </a:ext>
            </a:extLst>
          </p:cNvPr>
          <p:cNvGrpSpPr/>
          <p:nvPr/>
        </p:nvGrpSpPr>
        <p:grpSpPr>
          <a:xfrm>
            <a:off x="5715000" y="3962400"/>
            <a:ext cx="3048000" cy="685800"/>
            <a:chOff x="4724400" y="1066800"/>
            <a:chExt cx="3048000" cy="6858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4929856-65CA-4B30-8912-5AD143425573}"/>
                </a:ext>
              </a:extLst>
            </p:cNvPr>
            <p:cNvSpPr/>
            <p:nvPr/>
          </p:nvSpPr>
          <p:spPr>
            <a:xfrm>
              <a:off x="47244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AD6EFE-568B-4118-ACC3-C748E70F04F0}"/>
                </a:ext>
              </a:extLst>
            </p:cNvPr>
            <p:cNvSpPr/>
            <p:nvPr/>
          </p:nvSpPr>
          <p:spPr>
            <a:xfrm>
              <a:off x="53340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34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3C085A8-8A1A-4CEB-9FF6-492AE7B7F64A}"/>
                </a:ext>
              </a:extLst>
            </p:cNvPr>
            <p:cNvSpPr/>
            <p:nvPr/>
          </p:nvSpPr>
          <p:spPr>
            <a:xfrm>
              <a:off x="5943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0F6C7F4-DF5D-429B-8B81-66EAE30FF670}"/>
                </a:ext>
              </a:extLst>
            </p:cNvPr>
            <p:cNvSpPr/>
            <p:nvPr/>
          </p:nvSpPr>
          <p:spPr>
            <a:xfrm>
              <a:off x="65532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1A31049-0E27-4471-9977-7CF1BA00DF97}"/>
                </a:ext>
              </a:extLst>
            </p:cNvPr>
            <p:cNvSpPr/>
            <p:nvPr/>
          </p:nvSpPr>
          <p:spPr>
            <a:xfrm>
              <a:off x="71628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40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95ADA28-F801-48F9-8DCF-39E91B944E56}"/>
              </a:ext>
            </a:extLst>
          </p:cNvPr>
          <p:cNvGrpSpPr/>
          <p:nvPr/>
        </p:nvGrpSpPr>
        <p:grpSpPr>
          <a:xfrm>
            <a:off x="8153402" y="3048000"/>
            <a:ext cx="609598" cy="824843"/>
            <a:chOff x="5715000" y="3048000"/>
            <a:chExt cx="609598" cy="824843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284E63F-3D1B-432E-8192-435AD7D17C61}"/>
                </a:ext>
              </a:extLst>
            </p:cNvPr>
            <p:cNvSpPr/>
            <p:nvPr/>
          </p:nvSpPr>
          <p:spPr>
            <a:xfrm>
              <a:off x="5715000" y="3048000"/>
              <a:ext cx="609598" cy="533400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=4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E441614E-F5E0-4894-9B8F-2765372D5402}"/>
                </a:ext>
              </a:extLst>
            </p:cNvPr>
            <p:cNvCxnSpPr/>
            <p:nvPr/>
          </p:nvCxnSpPr>
          <p:spPr>
            <a:xfrm>
              <a:off x="5981700" y="3426738"/>
              <a:ext cx="0" cy="446105"/>
            </a:xfrm>
            <a:prstGeom prst="straightConnector1">
              <a:avLst/>
            </a:prstGeom>
            <a:ln w="412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149C79D-C0DF-4B53-8987-F2A065E1F185}"/>
              </a:ext>
            </a:extLst>
          </p:cNvPr>
          <p:cNvGrpSpPr/>
          <p:nvPr/>
        </p:nvGrpSpPr>
        <p:grpSpPr>
          <a:xfrm>
            <a:off x="7848600" y="4724400"/>
            <a:ext cx="1143000" cy="1066800"/>
            <a:chOff x="5410200" y="4724400"/>
            <a:chExt cx="1143000" cy="106680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13B0365-C263-48C9-A495-F786B84CDCC7}"/>
                </a:ext>
              </a:extLst>
            </p:cNvPr>
            <p:cNvSpPr/>
            <p:nvPr/>
          </p:nvSpPr>
          <p:spPr>
            <a:xfrm>
              <a:off x="5410200" y="5257800"/>
              <a:ext cx="1143000" cy="533400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key=40</a:t>
              </a:r>
            </a:p>
          </p:txBody>
        </p:sp>
        <p:sp>
          <p:nvSpPr>
            <p:cNvPr id="39" name="Arrow: Up 38">
              <a:extLst>
                <a:ext uri="{FF2B5EF4-FFF2-40B4-BE49-F238E27FC236}">
                  <a16:creationId xmlns:a16="http://schemas.microsoft.com/office/drawing/2014/main" id="{5C5BFF22-E497-47BD-B3AF-A4BF5868C6B9}"/>
                </a:ext>
              </a:extLst>
            </p:cNvPr>
            <p:cNvSpPr/>
            <p:nvPr/>
          </p:nvSpPr>
          <p:spPr>
            <a:xfrm>
              <a:off x="5905500" y="4724400"/>
              <a:ext cx="266700" cy="533400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2980149-3523-4AE9-8085-EA7185E79B76}"/>
              </a:ext>
            </a:extLst>
          </p:cNvPr>
          <p:cNvSpPr/>
          <p:nvPr/>
        </p:nvSpPr>
        <p:spPr>
          <a:xfrm>
            <a:off x="218110" y="2590800"/>
            <a:ext cx="2314420" cy="2250141"/>
          </a:xfrm>
          <a:custGeom>
            <a:avLst/>
            <a:gdLst>
              <a:gd name="connsiteX0" fmla="*/ 2148572 w 2314420"/>
              <a:gd name="connsiteY0" fmla="*/ 2057400 h 2057400"/>
              <a:gd name="connsiteX1" fmla="*/ 2121678 w 2314420"/>
              <a:gd name="connsiteY1" fmla="*/ 1573306 h 2057400"/>
              <a:gd name="connsiteX2" fmla="*/ 212196 w 2314420"/>
              <a:gd name="connsiteY2" fmla="*/ 1452283 h 2057400"/>
              <a:gd name="connsiteX3" fmla="*/ 131514 w 2314420"/>
              <a:gd name="connsiteY3" fmla="*/ 0 h 2057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14420" h="2057400">
                <a:moveTo>
                  <a:pt x="2148572" y="2057400"/>
                </a:moveTo>
                <a:cubicBezTo>
                  <a:pt x="2296489" y="1865779"/>
                  <a:pt x="2444407" y="1674159"/>
                  <a:pt x="2121678" y="1573306"/>
                </a:cubicBezTo>
                <a:cubicBezTo>
                  <a:pt x="1798949" y="1472453"/>
                  <a:pt x="543890" y="1714501"/>
                  <a:pt x="212196" y="1452283"/>
                </a:cubicBezTo>
                <a:cubicBezTo>
                  <a:pt x="-119498" y="1190065"/>
                  <a:pt x="6008" y="595032"/>
                  <a:pt x="131514" y="0"/>
                </a:cubicBezTo>
              </a:path>
            </a:pathLst>
          </a:custGeom>
          <a:noFill/>
          <a:ln w="47625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012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0"/>
            <a:ext cx="64008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Arrays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839624-3E80-4165-862D-FBDD23D15B07}"/>
              </a:ext>
            </a:extLst>
          </p:cNvPr>
          <p:cNvSpPr/>
          <p:nvPr/>
        </p:nvSpPr>
        <p:spPr>
          <a:xfrm>
            <a:off x="0" y="533400"/>
            <a:ext cx="9144000" cy="380998"/>
          </a:xfrm>
          <a:prstGeom prst="rect">
            <a:avLst/>
          </a:prstGeom>
          <a:solidFill>
            <a:schemeClr val="tx2"/>
          </a:solidFill>
          <a:ln cap="rnd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Search in an unsorted array (Sequential Search)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EFC405-48F3-4D3B-9925-B82EEFCE0A5B}"/>
              </a:ext>
            </a:extLst>
          </p:cNvPr>
          <p:cNvSpPr txBox="1"/>
          <p:nvPr/>
        </p:nvSpPr>
        <p:spPr>
          <a:xfrm>
            <a:off x="67399" y="838200"/>
            <a:ext cx="8771801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main(){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[] = {</a:t>
            </a:r>
            <a:r>
              <a:rPr lang="en-US" sz="2800" dirty="0">
                <a:solidFill>
                  <a:srgbClr val="0986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800" dirty="0">
                <a:solidFill>
                  <a:srgbClr val="0986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34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800" dirty="0">
                <a:solidFill>
                  <a:srgbClr val="0986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800" dirty="0">
                <a:solidFill>
                  <a:srgbClr val="0986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800" dirty="0">
                <a:solidFill>
                  <a:srgbClr val="0986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n = </a:t>
            </a:r>
            <a:r>
              <a:rPr 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sizeof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 / </a:t>
            </a:r>
            <a:r>
              <a:rPr 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sizeof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2800" dirty="0">
                <a:solidFill>
                  <a:srgbClr val="0986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]);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// Using a last element as search element</a:t>
            </a:r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key = </a:t>
            </a:r>
            <a:r>
              <a:rPr lang="en-US" sz="2800" dirty="0">
                <a:solidFill>
                  <a:srgbClr val="0986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index = 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findElement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 n, key);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(index == - </a:t>
            </a:r>
            <a:r>
              <a:rPr lang="en-US" sz="2800" dirty="0">
                <a:solidFill>
                  <a:srgbClr val="0986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&lt;&lt; </a:t>
            </a:r>
            <a:r>
              <a:rPr lang="en-US" sz="2800" dirty="0">
                <a:solidFill>
                  <a:srgbClr val="A315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"Element not found"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&lt;&lt; </a:t>
            </a:r>
            <a:r>
              <a:rPr lang="en-US" sz="2800" dirty="0">
                <a:solidFill>
                  <a:srgbClr val="A315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"Element Found at index: "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&lt;&lt; index;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800" dirty="0">
                <a:solidFill>
                  <a:srgbClr val="0986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5E8B20E-47C8-412C-9E3A-CFA9979B3809}"/>
              </a:ext>
            </a:extLst>
          </p:cNvPr>
          <p:cNvGrpSpPr/>
          <p:nvPr/>
        </p:nvGrpSpPr>
        <p:grpSpPr>
          <a:xfrm>
            <a:off x="5791200" y="1066800"/>
            <a:ext cx="3048000" cy="685800"/>
            <a:chOff x="4724400" y="1066800"/>
            <a:chExt cx="3048000" cy="6858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80A3881-5F9B-4899-94FB-C670F99CC38C}"/>
                </a:ext>
              </a:extLst>
            </p:cNvPr>
            <p:cNvSpPr/>
            <p:nvPr/>
          </p:nvSpPr>
          <p:spPr>
            <a:xfrm>
              <a:off x="47244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F3EE08E-B8DF-4DBC-934B-0838B82A1B57}"/>
                </a:ext>
              </a:extLst>
            </p:cNvPr>
            <p:cNvSpPr/>
            <p:nvPr/>
          </p:nvSpPr>
          <p:spPr>
            <a:xfrm>
              <a:off x="53340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34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F67B594-A647-4B57-AABF-6340B9C7C6C9}"/>
                </a:ext>
              </a:extLst>
            </p:cNvPr>
            <p:cNvSpPr/>
            <p:nvPr/>
          </p:nvSpPr>
          <p:spPr>
            <a:xfrm>
              <a:off x="5943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3314111-CD0D-49C8-B043-7D565798AD90}"/>
                </a:ext>
              </a:extLst>
            </p:cNvPr>
            <p:cNvSpPr/>
            <p:nvPr/>
          </p:nvSpPr>
          <p:spPr>
            <a:xfrm>
              <a:off x="65532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89FD87B-D766-4410-BB87-1B890050C147}"/>
                </a:ext>
              </a:extLst>
            </p:cNvPr>
            <p:cNvSpPr/>
            <p:nvPr/>
          </p:nvSpPr>
          <p:spPr>
            <a:xfrm>
              <a:off x="71628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40</a:t>
              </a:r>
            </a:p>
          </p:txBody>
        </p:sp>
      </p:grp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FA5DC890-2877-4385-8326-B7D9CE04008D}"/>
              </a:ext>
            </a:extLst>
          </p:cNvPr>
          <p:cNvSpPr/>
          <p:nvPr/>
        </p:nvSpPr>
        <p:spPr>
          <a:xfrm>
            <a:off x="4876800" y="1295400"/>
            <a:ext cx="914400" cy="2363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A55880B-ABED-4132-846F-5D73F856E5C1}"/>
              </a:ext>
            </a:extLst>
          </p:cNvPr>
          <p:cNvSpPr/>
          <p:nvPr/>
        </p:nvSpPr>
        <p:spPr>
          <a:xfrm>
            <a:off x="7162800" y="3429000"/>
            <a:ext cx="13716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index=-1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E7A7ECDB-AC90-4DEA-B8F9-148AF90EF5C9}"/>
              </a:ext>
            </a:extLst>
          </p:cNvPr>
          <p:cNvSpPr/>
          <p:nvPr/>
        </p:nvSpPr>
        <p:spPr>
          <a:xfrm>
            <a:off x="5791200" y="3581400"/>
            <a:ext cx="914400" cy="2363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1E2093F-CF7D-4B6A-8409-C43326175CF9}"/>
              </a:ext>
            </a:extLst>
          </p:cNvPr>
          <p:cNvSpPr/>
          <p:nvPr/>
        </p:nvSpPr>
        <p:spPr>
          <a:xfrm>
            <a:off x="5372100" y="4800601"/>
            <a:ext cx="3467100" cy="609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Element not found</a:t>
            </a:r>
          </a:p>
        </p:txBody>
      </p:sp>
    </p:spTree>
    <p:extLst>
      <p:ext uri="{BB962C8B-B14F-4D97-AF65-F5344CB8AC3E}">
        <p14:creationId xmlns:p14="http://schemas.microsoft.com/office/powerpoint/2010/main" val="765357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 animBg="1"/>
      <p:bldP spid="2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112705"/>
            <a:ext cx="64008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Arrays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839624-3E80-4165-862D-FBDD23D15B07}"/>
              </a:ext>
            </a:extLst>
          </p:cNvPr>
          <p:cNvSpPr/>
          <p:nvPr/>
        </p:nvSpPr>
        <p:spPr>
          <a:xfrm>
            <a:off x="0" y="762000"/>
            <a:ext cx="9144000" cy="380998"/>
          </a:xfrm>
          <a:prstGeom prst="rect">
            <a:avLst/>
          </a:prstGeom>
          <a:solidFill>
            <a:schemeClr val="tx2"/>
          </a:solidFill>
          <a:ln cap="rnd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Insert in an unsorted array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60A103A-75AF-4595-873D-7EFA47018C38}"/>
                  </a:ext>
                </a:extLst>
              </p:cNvPr>
              <p:cNvSpPr txBox="1"/>
              <p:nvPr/>
            </p:nvSpPr>
            <p:spPr>
              <a:xfrm>
                <a:off x="152564" y="1295400"/>
                <a:ext cx="9000401" cy="16312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ts val="3000"/>
                  </a:lnSpc>
                </a:pPr>
                <a:r>
                  <a:rPr lang="en-US" sz="2400" dirty="0">
                    <a:latin typeface="Times New Roman" pitchFamily="18" charset="0"/>
                    <a:ea typeface="Times New Roman"/>
                    <a:cs typeface="Times New Roman" pitchFamily="18" charset="0"/>
                  </a:rPr>
                  <a:t>In an unsorted array, the insert operation is </a:t>
                </a:r>
                <a:r>
                  <a:rPr lang="en-US" sz="2400" b="1" dirty="0">
                    <a:solidFill>
                      <a:srgbClr val="FF0000"/>
                    </a:solidFill>
                    <a:latin typeface="Times New Roman" pitchFamily="18" charset="0"/>
                    <a:ea typeface="Times New Roman"/>
                    <a:cs typeface="Times New Roman" pitchFamily="18" charset="0"/>
                  </a:rPr>
                  <a:t>faster</a:t>
                </a:r>
                <a:r>
                  <a:rPr lang="en-US" sz="2400" dirty="0">
                    <a:latin typeface="Times New Roman" pitchFamily="18" charset="0"/>
                    <a:ea typeface="Times New Roman"/>
                    <a:cs typeface="Times New Roman" pitchFamily="18" charset="0"/>
                  </a:rPr>
                  <a:t> as compared to sorted array because we don’t have to care about the position at which the element is to be placed. 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The </a:t>
                </a:r>
                <a:r>
                  <a:rPr lang="en-US" sz="2400" b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time complexity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of </a:t>
                </a:r>
                <a:r>
                  <a:rPr lang="en-US" sz="2400" b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insert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in an </a:t>
                </a:r>
                <a:r>
                  <a:rPr lang="en-US" sz="2400" b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unsorted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array is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𝑶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(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𝟏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)</m:t>
                    </m:r>
                  </m:oMath>
                </a14:m>
                <a:endParaRPr lang="en-US" sz="2400" b="1" dirty="0">
                  <a:latin typeface="Times New Roman" pitchFamily="18" charset="0"/>
                  <a:ea typeface="Times New Roman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60A103A-75AF-4595-873D-7EFA47018C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564" y="1295400"/>
                <a:ext cx="9000401" cy="1631216"/>
              </a:xfrm>
              <a:prstGeom prst="rect">
                <a:avLst/>
              </a:prstGeom>
              <a:blipFill>
                <a:blip r:embed="rId5"/>
                <a:stretch>
                  <a:fillRect l="-1016" t="-3371" r="-1084" b="-59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C2DB526D-9BF3-42AB-9058-9BCBC8D7F2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0" y="3079018"/>
            <a:ext cx="5858853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324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5334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0"/>
            <a:ext cx="64008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Insert in an unsorted array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EFC405-48F3-4D3B-9925-B82EEFCE0A5B}"/>
              </a:ext>
            </a:extLst>
          </p:cNvPr>
          <p:cNvSpPr txBox="1"/>
          <p:nvPr/>
        </p:nvSpPr>
        <p:spPr>
          <a:xfrm>
            <a:off x="67399" y="533400"/>
            <a:ext cx="8771801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main(){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 = {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12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16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20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size = 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 / 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n =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key =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26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"\n Before Insertion: 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&lt; n;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]&lt;&lt; 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 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 if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(n &lt; size)    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 n =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insertUnsorted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n, key, capacity);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"\n After Insertion: 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&lt; n;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 &lt;&lt; 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 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5E8B20E-47C8-412C-9E3A-CFA9979B3809}"/>
              </a:ext>
            </a:extLst>
          </p:cNvPr>
          <p:cNvGrpSpPr/>
          <p:nvPr/>
        </p:nvGrpSpPr>
        <p:grpSpPr>
          <a:xfrm>
            <a:off x="5791200" y="609600"/>
            <a:ext cx="3048000" cy="685800"/>
            <a:chOff x="4724400" y="1066800"/>
            <a:chExt cx="3048000" cy="6858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80A3881-5F9B-4899-94FB-C670F99CC38C}"/>
                </a:ext>
              </a:extLst>
            </p:cNvPr>
            <p:cNvSpPr/>
            <p:nvPr/>
          </p:nvSpPr>
          <p:spPr>
            <a:xfrm>
              <a:off x="47244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F3EE08E-B8DF-4DBC-934B-0838B82A1B57}"/>
                </a:ext>
              </a:extLst>
            </p:cNvPr>
            <p:cNvSpPr/>
            <p:nvPr/>
          </p:nvSpPr>
          <p:spPr>
            <a:xfrm>
              <a:off x="53340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16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F67B594-A647-4B57-AABF-6340B9C7C6C9}"/>
                </a:ext>
              </a:extLst>
            </p:cNvPr>
            <p:cNvSpPr/>
            <p:nvPr/>
          </p:nvSpPr>
          <p:spPr>
            <a:xfrm>
              <a:off x="5943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3314111-CD0D-49C8-B043-7D565798AD90}"/>
                </a:ext>
              </a:extLst>
            </p:cNvPr>
            <p:cNvSpPr/>
            <p:nvPr/>
          </p:nvSpPr>
          <p:spPr>
            <a:xfrm>
              <a:off x="65532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89FD87B-D766-4410-BB87-1B890050C147}"/>
                </a:ext>
              </a:extLst>
            </p:cNvPr>
            <p:cNvSpPr/>
            <p:nvPr/>
          </p:nvSpPr>
          <p:spPr>
            <a:xfrm>
              <a:off x="71628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91D62C79-6057-41EC-8586-EBF248D56DB5}"/>
              </a:ext>
            </a:extLst>
          </p:cNvPr>
          <p:cNvSpPr/>
          <p:nvPr/>
        </p:nvSpPr>
        <p:spPr>
          <a:xfrm>
            <a:off x="4419600" y="1600200"/>
            <a:ext cx="9144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342A0B-36E1-4CC3-BB75-0A8CF008A3B3}"/>
              </a:ext>
            </a:extLst>
          </p:cNvPr>
          <p:cNvSpPr/>
          <p:nvPr/>
        </p:nvSpPr>
        <p:spPr>
          <a:xfrm>
            <a:off x="4648200" y="1981200"/>
            <a:ext cx="11430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key=26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FA5DC890-2877-4385-8326-B7D9CE04008D}"/>
              </a:ext>
            </a:extLst>
          </p:cNvPr>
          <p:cNvSpPr/>
          <p:nvPr/>
        </p:nvSpPr>
        <p:spPr>
          <a:xfrm>
            <a:off x="4876800" y="838200"/>
            <a:ext cx="914400" cy="2363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49CE944F-4F93-4D0A-BED2-9665A773405A}"/>
              </a:ext>
            </a:extLst>
          </p:cNvPr>
          <p:cNvSpPr/>
          <p:nvPr/>
        </p:nvSpPr>
        <p:spPr>
          <a:xfrm>
            <a:off x="3581400" y="1752600"/>
            <a:ext cx="914400" cy="2363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EEA86E80-57CE-4904-AFEF-9E3D93E9C87C}"/>
              </a:ext>
            </a:extLst>
          </p:cNvPr>
          <p:cNvSpPr/>
          <p:nvPr/>
        </p:nvSpPr>
        <p:spPr>
          <a:xfrm>
            <a:off x="3505200" y="2125851"/>
            <a:ext cx="914400" cy="2363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0AFBDC6-5B54-4664-B7BB-5F5FADB96B0F}"/>
              </a:ext>
            </a:extLst>
          </p:cNvPr>
          <p:cNvSpPr/>
          <p:nvPr/>
        </p:nvSpPr>
        <p:spPr>
          <a:xfrm>
            <a:off x="1066800" y="4198748"/>
            <a:ext cx="7315200" cy="449451"/>
          </a:xfrm>
          <a:prstGeom prst="roundRect">
            <a:avLst/>
          </a:prstGeom>
          <a:noFill/>
          <a:ln w="412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ABB3603-3772-4EFB-8B41-B63ED08C2C45}"/>
              </a:ext>
            </a:extLst>
          </p:cNvPr>
          <p:cNvSpPr/>
          <p:nvPr/>
        </p:nvSpPr>
        <p:spPr>
          <a:xfrm>
            <a:off x="7924800" y="1219200"/>
            <a:ext cx="9906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size=5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2EEDE2FC-080C-44DB-A325-3729DC60122D}"/>
              </a:ext>
            </a:extLst>
          </p:cNvPr>
          <p:cNvSpPr/>
          <p:nvPr/>
        </p:nvSpPr>
        <p:spPr>
          <a:xfrm>
            <a:off x="7239000" y="1371600"/>
            <a:ext cx="609600" cy="3125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1D9DA58-C739-45DC-88D9-6056332D52EB}"/>
              </a:ext>
            </a:extLst>
          </p:cNvPr>
          <p:cNvSpPr/>
          <p:nvPr/>
        </p:nvSpPr>
        <p:spPr>
          <a:xfrm>
            <a:off x="6553200" y="3276600"/>
            <a:ext cx="1981200" cy="609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12  16  20</a:t>
            </a: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01956113-ABDF-4AA8-8651-4E0AE09D69F0}"/>
              </a:ext>
            </a:extLst>
          </p:cNvPr>
          <p:cNvSpPr/>
          <p:nvPr/>
        </p:nvSpPr>
        <p:spPr>
          <a:xfrm>
            <a:off x="5486400" y="3505200"/>
            <a:ext cx="914400" cy="2363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C2F6CE3C-A5DE-4B54-A52C-A2B13CEF4B1C}"/>
              </a:ext>
            </a:extLst>
          </p:cNvPr>
          <p:cNvSpPr/>
          <p:nvPr/>
        </p:nvSpPr>
        <p:spPr>
          <a:xfrm>
            <a:off x="7687400" y="76200"/>
            <a:ext cx="324396" cy="49142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2EB5C6F-D654-4AEC-881D-9B0BE1E34597}"/>
              </a:ext>
            </a:extLst>
          </p:cNvPr>
          <p:cNvSpPr/>
          <p:nvPr/>
        </p:nvSpPr>
        <p:spPr>
          <a:xfrm>
            <a:off x="7848600" y="-152400"/>
            <a:ext cx="9144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n=3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D672468-989C-44EF-A73B-95CD26E8016A}"/>
              </a:ext>
            </a:extLst>
          </p:cNvPr>
          <p:cNvSpPr/>
          <p:nvPr/>
        </p:nvSpPr>
        <p:spPr>
          <a:xfrm>
            <a:off x="775447" y="3817749"/>
            <a:ext cx="1981200" cy="449451"/>
          </a:xfrm>
          <a:prstGeom prst="roundRect">
            <a:avLst/>
          </a:prstGeom>
          <a:noFill/>
          <a:ln w="412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6717A0-8EE7-42F5-A01A-3F6AFF1A845E}"/>
              </a:ext>
            </a:extLst>
          </p:cNvPr>
          <p:cNvSpPr txBox="1"/>
          <p:nvPr/>
        </p:nvSpPr>
        <p:spPr>
          <a:xfrm rot="1597343">
            <a:off x="2725282" y="3795634"/>
            <a:ext cx="38884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052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5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2" grpId="0"/>
      <p:bldP spid="23" grpId="0"/>
      <p:bldP spid="13" grpId="0" animBg="1"/>
      <p:bldP spid="24" grpId="0" animBg="1"/>
      <p:bldP spid="25" grpId="0" animBg="1"/>
      <p:bldP spid="2" grpId="0" animBg="1"/>
      <p:bldP spid="20" grpId="0"/>
      <p:bldP spid="21" grpId="0" animBg="1"/>
      <p:bldP spid="26" grpId="0" animBg="1"/>
      <p:bldP spid="27" grpId="0" animBg="1"/>
      <p:bldP spid="3" grpId="0" animBg="1"/>
      <p:bldP spid="28" grpId="0"/>
      <p:bldP spid="29" grpId="0" animBg="1"/>
      <p:bldP spid="3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5334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0"/>
            <a:ext cx="64008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Insert in an unsorted array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EFC405-48F3-4D3B-9925-B82EEFCE0A5B}"/>
              </a:ext>
            </a:extLst>
          </p:cNvPr>
          <p:cNvSpPr txBox="1"/>
          <p:nvPr/>
        </p:nvSpPr>
        <p:spPr>
          <a:xfrm>
            <a:off x="-76200" y="2125682"/>
            <a:ext cx="93726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insertUnsorted</a:t>
            </a:r>
            <a:r>
              <a:rPr 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5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[],</a:t>
            </a:r>
            <a:r>
              <a:rPr lang="en-US" sz="25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n,</a:t>
            </a:r>
            <a:r>
              <a:rPr lang="en-US" sz="25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key,</a:t>
            </a:r>
            <a:r>
              <a:rPr lang="en-US" sz="25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 size){</a:t>
            </a:r>
          </a:p>
          <a:p>
            <a:r>
              <a:rPr 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br>
              <a:rPr 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[n] = key;</a:t>
            </a:r>
          </a:p>
          <a:p>
            <a:r>
              <a:rPr 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5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 (n + </a:t>
            </a:r>
            <a:r>
              <a:rPr lang="en-US" sz="25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25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5E8B20E-47C8-412C-9E3A-CFA9979B3809}"/>
              </a:ext>
            </a:extLst>
          </p:cNvPr>
          <p:cNvGrpSpPr/>
          <p:nvPr/>
        </p:nvGrpSpPr>
        <p:grpSpPr>
          <a:xfrm>
            <a:off x="2057400" y="914400"/>
            <a:ext cx="3048000" cy="685800"/>
            <a:chOff x="4724400" y="1066800"/>
            <a:chExt cx="3048000" cy="6858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80A3881-5F9B-4899-94FB-C670F99CC38C}"/>
                </a:ext>
              </a:extLst>
            </p:cNvPr>
            <p:cNvSpPr/>
            <p:nvPr/>
          </p:nvSpPr>
          <p:spPr>
            <a:xfrm>
              <a:off x="47244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F3EE08E-B8DF-4DBC-934B-0838B82A1B57}"/>
                </a:ext>
              </a:extLst>
            </p:cNvPr>
            <p:cNvSpPr/>
            <p:nvPr/>
          </p:nvSpPr>
          <p:spPr>
            <a:xfrm>
              <a:off x="53340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16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F67B594-A647-4B57-AABF-6340B9C7C6C9}"/>
                </a:ext>
              </a:extLst>
            </p:cNvPr>
            <p:cNvSpPr/>
            <p:nvPr/>
          </p:nvSpPr>
          <p:spPr>
            <a:xfrm>
              <a:off x="5943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3314111-CD0D-49C8-B043-7D565798AD90}"/>
                </a:ext>
              </a:extLst>
            </p:cNvPr>
            <p:cNvSpPr/>
            <p:nvPr/>
          </p:nvSpPr>
          <p:spPr>
            <a:xfrm>
              <a:off x="65532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89FD87B-D766-4410-BB87-1B890050C147}"/>
                </a:ext>
              </a:extLst>
            </p:cNvPr>
            <p:cNvSpPr/>
            <p:nvPr/>
          </p:nvSpPr>
          <p:spPr>
            <a:xfrm>
              <a:off x="71628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91D62C79-6057-41EC-8586-EBF248D56DB5}"/>
              </a:ext>
            </a:extLst>
          </p:cNvPr>
          <p:cNvSpPr/>
          <p:nvPr/>
        </p:nvSpPr>
        <p:spPr>
          <a:xfrm>
            <a:off x="5257800" y="1066800"/>
            <a:ext cx="9144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342A0B-36E1-4CC3-BB75-0A8CF008A3B3}"/>
              </a:ext>
            </a:extLst>
          </p:cNvPr>
          <p:cNvSpPr/>
          <p:nvPr/>
        </p:nvSpPr>
        <p:spPr>
          <a:xfrm>
            <a:off x="6324600" y="1066800"/>
            <a:ext cx="11430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key=26</a:t>
            </a:r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09B5ADD1-3247-417F-BEE1-557043278F10}"/>
              </a:ext>
            </a:extLst>
          </p:cNvPr>
          <p:cNvSpPr/>
          <p:nvPr/>
        </p:nvSpPr>
        <p:spPr>
          <a:xfrm>
            <a:off x="4152900" y="16002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C57023B5-3766-4788-B10B-D50B51B66A58}"/>
              </a:ext>
            </a:extLst>
          </p:cNvPr>
          <p:cNvSpPr/>
          <p:nvPr/>
        </p:nvSpPr>
        <p:spPr>
          <a:xfrm>
            <a:off x="5524500" y="16002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6E9A84E6-E0CF-404D-9F52-57A2A0CD2813}"/>
              </a:ext>
            </a:extLst>
          </p:cNvPr>
          <p:cNvSpPr/>
          <p:nvPr/>
        </p:nvSpPr>
        <p:spPr>
          <a:xfrm>
            <a:off x="6667500" y="16002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C1B7B56-DE21-4D36-B54A-4B0C04CA85D7}"/>
              </a:ext>
            </a:extLst>
          </p:cNvPr>
          <p:cNvGrpSpPr/>
          <p:nvPr/>
        </p:nvGrpSpPr>
        <p:grpSpPr>
          <a:xfrm>
            <a:off x="3048000" y="3198817"/>
            <a:ext cx="3048000" cy="685800"/>
            <a:chOff x="4724400" y="1066800"/>
            <a:chExt cx="3048000" cy="6858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4929856-65CA-4B30-8912-5AD143425573}"/>
                </a:ext>
              </a:extLst>
            </p:cNvPr>
            <p:cNvSpPr/>
            <p:nvPr/>
          </p:nvSpPr>
          <p:spPr>
            <a:xfrm>
              <a:off x="47244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AD6EFE-568B-4118-ACC3-C748E70F04F0}"/>
                </a:ext>
              </a:extLst>
            </p:cNvPr>
            <p:cNvSpPr/>
            <p:nvPr/>
          </p:nvSpPr>
          <p:spPr>
            <a:xfrm>
              <a:off x="53340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16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3C085A8-8A1A-4CEB-9FF6-492AE7B7F64A}"/>
                </a:ext>
              </a:extLst>
            </p:cNvPr>
            <p:cNvSpPr/>
            <p:nvPr/>
          </p:nvSpPr>
          <p:spPr>
            <a:xfrm>
              <a:off x="5943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0F6C7F4-DF5D-429B-8B81-66EAE30FF670}"/>
                </a:ext>
              </a:extLst>
            </p:cNvPr>
            <p:cNvSpPr/>
            <p:nvPr/>
          </p:nvSpPr>
          <p:spPr>
            <a:xfrm>
              <a:off x="65532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1A31049-0E27-4471-9977-7CF1BA00DF97}"/>
                </a:ext>
              </a:extLst>
            </p:cNvPr>
            <p:cNvSpPr/>
            <p:nvPr/>
          </p:nvSpPr>
          <p:spPr>
            <a:xfrm>
              <a:off x="71628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95ADA28-F801-48F9-8DCF-39E91B944E56}"/>
              </a:ext>
            </a:extLst>
          </p:cNvPr>
          <p:cNvGrpSpPr/>
          <p:nvPr/>
        </p:nvGrpSpPr>
        <p:grpSpPr>
          <a:xfrm>
            <a:off x="4793876" y="2362200"/>
            <a:ext cx="914392" cy="748643"/>
            <a:chOff x="5715000" y="3124200"/>
            <a:chExt cx="609598" cy="748643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284E63F-3D1B-432E-8192-435AD7D17C61}"/>
                </a:ext>
              </a:extLst>
            </p:cNvPr>
            <p:cNvSpPr/>
            <p:nvPr/>
          </p:nvSpPr>
          <p:spPr>
            <a:xfrm>
              <a:off x="5715000" y="3124200"/>
              <a:ext cx="609598" cy="533400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n=3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E441614E-F5E0-4894-9B8F-2765372D5402}"/>
                </a:ext>
              </a:extLst>
            </p:cNvPr>
            <p:cNvCxnSpPr>
              <a:cxnSpLocks/>
            </p:cNvCxnSpPr>
            <p:nvPr/>
          </p:nvCxnSpPr>
          <p:spPr>
            <a:xfrm>
              <a:off x="5981700" y="3581400"/>
              <a:ext cx="0" cy="291443"/>
            </a:xfrm>
            <a:prstGeom prst="straightConnector1">
              <a:avLst/>
            </a:prstGeom>
            <a:ln w="412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149C79D-C0DF-4B53-8987-F2A065E1F185}"/>
              </a:ext>
            </a:extLst>
          </p:cNvPr>
          <p:cNvGrpSpPr/>
          <p:nvPr/>
        </p:nvGrpSpPr>
        <p:grpSpPr>
          <a:xfrm>
            <a:off x="4648200" y="3972592"/>
            <a:ext cx="1143000" cy="1066800"/>
            <a:chOff x="5410200" y="4724400"/>
            <a:chExt cx="1143000" cy="106680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13B0365-C263-48C9-A495-F786B84CDCC7}"/>
                </a:ext>
              </a:extLst>
            </p:cNvPr>
            <p:cNvSpPr/>
            <p:nvPr/>
          </p:nvSpPr>
          <p:spPr>
            <a:xfrm>
              <a:off x="5410200" y="5257800"/>
              <a:ext cx="1143000" cy="533400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key=26</a:t>
              </a:r>
            </a:p>
          </p:txBody>
        </p:sp>
        <p:sp>
          <p:nvSpPr>
            <p:cNvPr id="39" name="Arrow: Up 38">
              <a:extLst>
                <a:ext uri="{FF2B5EF4-FFF2-40B4-BE49-F238E27FC236}">
                  <a16:creationId xmlns:a16="http://schemas.microsoft.com/office/drawing/2014/main" id="{5C5BFF22-E497-47BD-B3AF-A4BF5868C6B9}"/>
                </a:ext>
              </a:extLst>
            </p:cNvPr>
            <p:cNvSpPr/>
            <p:nvPr/>
          </p:nvSpPr>
          <p:spPr>
            <a:xfrm>
              <a:off x="5905500" y="4724400"/>
              <a:ext cx="266700" cy="533400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386D354D-DA64-4C8E-AB3B-0AE5AD9D782D}"/>
              </a:ext>
            </a:extLst>
          </p:cNvPr>
          <p:cNvSpPr/>
          <p:nvPr/>
        </p:nvSpPr>
        <p:spPr>
          <a:xfrm>
            <a:off x="7924800" y="1066800"/>
            <a:ext cx="11430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size=5</a:t>
            </a:r>
          </a:p>
        </p:txBody>
      </p:sp>
      <p:sp>
        <p:nvSpPr>
          <p:cNvPr id="40" name="Arrow: Down 39">
            <a:extLst>
              <a:ext uri="{FF2B5EF4-FFF2-40B4-BE49-F238E27FC236}">
                <a16:creationId xmlns:a16="http://schemas.microsoft.com/office/drawing/2014/main" id="{49B34642-33A7-43BD-A54E-5E4487D68C47}"/>
              </a:ext>
            </a:extLst>
          </p:cNvPr>
          <p:cNvSpPr/>
          <p:nvPr/>
        </p:nvSpPr>
        <p:spPr>
          <a:xfrm>
            <a:off x="8267700" y="16002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159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6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9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2" grpId="0"/>
      <p:bldP spid="23" grpId="0"/>
      <p:bldP spid="26" grpId="0" animBg="1"/>
      <p:bldP spid="27" grpId="0" animBg="1"/>
      <p:bldP spid="28" grpId="0" animBg="1"/>
      <p:bldP spid="37" grpId="0"/>
      <p:bldP spid="4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5334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0"/>
            <a:ext cx="64008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Insert in an unsorted array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EFC405-48F3-4D3B-9925-B82EEFCE0A5B}"/>
              </a:ext>
            </a:extLst>
          </p:cNvPr>
          <p:cNvSpPr txBox="1"/>
          <p:nvPr/>
        </p:nvSpPr>
        <p:spPr>
          <a:xfrm>
            <a:off x="-76200" y="2125682"/>
            <a:ext cx="93726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insertUnsorted</a:t>
            </a:r>
            <a:r>
              <a:rPr 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5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[],</a:t>
            </a:r>
            <a:r>
              <a:rPr lang="en-US" sz="25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n,</a:t>
            </a:r>
            <a:r>
              <a:rPr lang="en-US" sz="25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key,</a:t>
            </a:r>
            <a:r>
              <a:rPr lang="en-US" sz="25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 size){</a:t>
            </a:r>
          </a:p>
          <a:p>
            <a:r>
              <a:rPr 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br>
              <a:rPr 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[n] = key;</a:t>
            </a:r>
          </a:p>
          <a:p>
            <a:r>
              <a:rPr 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5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 (n + </a:t>
            </a:r>
            <a:r>
              <a:rPr lang="en-US" sz="25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25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5E8B20E-47C8-412C-9E3A-CFA9979B3809}"/>
              </a:ext>
            </a:extLst>
          </p:cNvPr>
          <p:cNvGrpSpPr/>
          <p:nvPr/>
        </p:nvGrpSpPr>
        <p:grpSpPr>
          <a:xfrm>
            <a:off x="2057400" y="914400"/>
            <a:ext cx="3048000" cy="685800"/>
            <a:chOff x="4724400" y="1066800"/>
            <a:chExt cx="3048000" cy="6858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80A3881-5F9B-4899-94FB-C670F99CC38C}"/>
                </a:ext>
              </a:extLst>
            </p:cNvPr>
            <p:cNvSpPr/>
            <p:nvPr/>
          </p:nvSpPr>
          <p:spPr>
            <a:xfrm>
              <a:off x="47244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F3EE08E-B8DF-4DBC-934B-0838B82A1B57}"/>
                </a:ext>
              </a:extLst>
            </p:cNvPr>
            <p:cNvSpPr/>
            <p:nvPr/>
          </p:nvSpPr>
          <p:spPr>
            <a:xfrm>
              <a:off x="53340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16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F67B594-A647-4B57-AABF-6340B9C7C6C9}"/>
                </a:ext>
              </a:extLst>
            </p:cNvPr>
            <p:cNvSpPr/>
            <p:nvPr/>
          </p:nvSpPr>
          <p:spPr>
            <a:xfrm>
              <a:off x="5943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3314111-CD0D-49C8-B043-7D565798AD90}"/>
                </a:ext>
              </a:extLst>
            </p:cNvPr>
            <p:cNvSpPr/>
            <p:nvPr/>
          </p:nvSpPr>
          <p:spPr>
            <a:xfrm>
              <a:off x="65532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89FD87B-D766-4410-BB87-1B890050C147}"/>
                </a:ext>
              </a:extLst>
            </p:cNvPr>
            <p:cNvSpPr/>
            <p:nvPr/>
          </p:nvSpPr>
          <p:spPr>
            <a:xfrm>
              <a:off x="71628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91D62C79-6057-41EC-8586-EBF248D56DB5}"/>
              </a:ext>
            </a:extLst>
          </p:cNvPr>
          <p:cNvSpPr/>
          <p:nvPr/>
        </p:nvSpPr>
        <p:spPr>
          <a:xfrm>
            <a:off x="5257800" y="1066800"/>
            <a:ext cx="9144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342A0B-36E1-4CC3-BB75-0A8CF008A3B3}"/>
              </a:ext>
            </a:extLst>
          </p:cNvPr>
          <p:cNvSpPr/>
          <p:nvPr/>
        </p:nvSpPr>
        <p:spPr>
          <a:xfrm>
            <a:off x="6324600" y="1066800"/>
            <a:ext cx="11430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key=26</a:t>
            </a:r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09B5ADD1-3247-417F-BEE1-557043278F10}"/>
              </a:ext>
            </a:extLst>
          </p:cNvPr>
          <p:cNvSpPr/>
          <p:nvPr/>
        </p:nvSpPr>
        <p:spPr>
          <a:xfrm>
            <a:off x="4152900" y="16002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C57023B5-3766-4788-B10B-D50B51B66A58}"/>
              </a:ext>
            </a:extLst>
          </p:cNvPr>
          <p:cNvSpPr/>
          <p:nvPr/>
        </p:nvSpPr>
        <p:spPr>
          <a:xfrm>
            <a:off x="5524500" y="16002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6E9A84E6-E0CF-404D-9F52-57A2A0CD2813}"/>
              </a:ext>
            </a:extLst>
          </p:cNvPr>
          <p:cNvSpPr/>
          <p:nvPr/>
        </p:nvSpPr>
        <p:spPr>
          <a:xfrm>
            <a:off x="6667500" y="16002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C1B7B56-DE21-4D36-B54A-4B0C04CA85D7}"/>
              </a:ext>
            </a:extLst>
          </p:cNvPr>
          <p:cNvGrpSpPr/>
          <p:nvPr/>
        </p:nvGrpSpPr>
        <p:grpSpPr>
          <a:xfrm>
            <a:off x="3048000" y="3198817"/>
            <a:ext cx="3048000" cy="685800"/>
            <a:chOff x="4724400" y="1066800"/>
            <a:chExt cx="3048000" cy="6858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4929856-65CA-4B30-8912-5AD143425573}"/>
                </a:ext>
              </a:extLst>
            </p:cNvPr>
            <p:cNvSpPr/>
            <p:nvPr/>
          </p:nvSpPr>
          <p:spPr>
            <a:xfrm>
              <a:off x="47244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AD6EFE-568B-4118-ACC3-C748E70F04F0}"/>
                </a:ext>
              </a:extLst>
            </p:cNvPr>
            <p:cNvSpPr/>
            <p:nvPr/>
          </p:nvSpPr>
          <p:spPr>
            <a:xfrm>
              <a:off x="53340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16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3C085A8-8A1A-4CEB-9FF6-492AE7B7F64A}"/>
                </a:ext>
              </a:extLst>
            </p:cNvPr>
            <p:cNvSpPr/>
            <p:nvPr/>
          </p:nvSpPr>
          <p:spPr>
            <a:xfrm>
              <a:off x="5943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0F6C7F4-DF5D-429B-8B81-66EAE30FF670}"/>
                </a:ext>
              </a:extLst>
            </p:cNvPr>
            <p:cNvSpPr/>
            <p:nvPr/>
          </p:nvSpPr>
          <p:spPr>
            <a:xfrm>
              <a:off x="65532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26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1A31049-0E27-4471-9977-7CF1BA00DF97}"/>
                </a:ext>
              </a:extLst>
            </p:cNvPr>
            <p:cNvSpPr/>
            <p:nvPr/>
          </p:nvSpPr>
          <p:spPr>
            <a:xfrm>
              <a:off x="71628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95ADA28-F801-48F9-8DCF-39E91B944E56}"/>
              </a:ext>
            </a:extLst>
          </p:cNvPr>
          <p:cNvGrpSpPr/>
          <p:nvPr/>
        </p:nvGrpSpPr>
        <p:grpSpPr>
          <a:xfrm>
            <a:off x="4793876" y="2362200"/>
            <a:ext cx="914392" cy="748643"/>
            <a:chOff x="5715000" y="3124200"/>
            <a:chExt cx="609598" cy="748643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284E63F-3D1B-432E-8192-435AD7D17C61}"/>
                </a:ext>
              </a:extLst>
            </p:cNvPr>
            <p:cNvSpPr/>
            <p:nvPr/>
          </p:nvSpPr>
          <p:spPr>
            <a:xfrm>
              <a:off x="5715000" y="3124200"/>
              <a:ext cx="609598" cy="533400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n=3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E441614E-F5E0-4894-9B8F-2765372D5402}"/>
                </a:ext>
              </a:extLst>
            </p:cNvPr>
            <p:cNvCxnSpPr>
              <a:cxnSpLocks/>
            </p:cNvCxnSpPr>
            <p:nvPr/>
          </p:nvCxnSpPr>
          <p:spPr>
            <a:xfrm>
              <a:off x="5981700" y="3581400"/>
              <a:ext cx="0" cy="291443"/>
            </a:xfrm>
            <a:prstGeom prst="straightConnector1">
              <a:avLst/>
            </a:prstGeom>
            <a:ln w="412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149C79D-C0DF-4B53-8987-F2A065E1F185}"/>
              </a:ext>
            </a:extLst>
          </p:cNvPr>
          <p:cNvGrpSpPr/>
          <p:nvPr/>
        </p:nvGrpSpPr>
        <p:grpSpPr>
          <a:xfrm>
            <a:off x="4648200" y="3972592"/>
            <a:ext cx="1143000" cy="1066800"/>
            <a:chOff x="5410200" y="4724400"/>
            <a:chExt cx="1143000" cy="106680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13B0365-C263-48C9-A495-F786B84CDCC7}"/>
                </a:ext>
              </a:extLst>
            </p:cNvPr>
            <p:cNvSpPr/>
            <p:nvPr/>
          </p:nvSpPr>
          <p:spPr>
            <a:xfrm>
              <a:off x="5410200" y="5257800"/>
              <a:ext cx="1143000" cy="533400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key=26</a:t>
              </a:r>
            </a:p>
          </p:txBody>
        </p:sp>
        <p:sp>
          <p:nvSpPr>
            <p:cNvPr id="39" name="Arrow: Up 38">
              <a:extLst>
                <a:ext uri="{FF2B5EF4-FFF2-40B4-BE49-F238E27FC236}">
                  <a16:creationId xmlns:a16="http://schemas.microsoft.com/office/drawing/2014/main" id="{5C5BFF22-E497-47BD-B3AF-A4BF5868C6B9}"/>
                </a:ext>
              </a:extLst>
            </p:cNvPr>
            <p:cNvSpPr/>
            <p:nvPr/>
          </p:nvSpPr>
          <p:spPr>
            <a:xfrm>
              <a:off x="5905500" y="4724400"/>
              <a:ext cx="266700" cy="533400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386D354D-DA64-4C8E-AB3B-0AE5AD9D782D}"/>
              </a:ext>
            </a:extLst>
          </p:cNvPr>
          <p:cNvSpPr/>
          <p:nvPr/>
        </p:nvSpPr>
        <p:spPr>
          <a:xfrm>
            <a:off x="7924800" y="1066800"/>
            <a:ext cx="11430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size=5</a:t>
            </a:r>
          </a:p>
        </p:txBody>
      </p:sp>
      <p:sp>
        <p:nvSpPr>
          <p:cNvPr id="40" name="Arrow: Down 39">
            <a:extLst>
              <a:ext uri="{FF2B5EF4-FFF2-40B4-BE49-F238E27FC236}">
                <a16:creationId xmlns:a16="http://schemas.microsoft.com/office/drawing/2014/main" id="{49B34642-33A7-43BD-A54E-5E4487D68C47}"/>
              </a:ext>
            </a:extLst>
          </p:cNvPr>
          <p:cNvSpPr/>
          <p:nvPr/>
        </p:nvSpPr>
        <p:spPr>
          <a:xfrm>
            <a:off x="8267700" y="16002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490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5334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0"/>
            <a:ext cx="64008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Insert in an unsorted array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EFC405-48F3-4D3B-9925-B82EEFCE0A5B}"/>
              </a:ext>
            </a:extLst>
          </p:cNvPr>
          <p:cNvSpPr txBox="1"/>
          <p:nvPr/>
        </p:nvSpPr>
        <p:spPr>
          <a:xfrm>
            <a:off x="-76200" y="2125682"/>
            <a:ext cx="93726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insertUnsorted</a:t>
            </a:r>
            <a:r>
              <a:rPr 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5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[],</a:t>
            </a:r>
            <a:r>
              <a:rPr lang="en-US" sz="25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n,</a:t>
            </a:r>
            <a:r>
              <a:rPr lang="en-US" sz="25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key,</a:t>
            </a:r>
            <a:r>
              <a:rPr lang="en-US" sz="25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 size){</a:t>
            </a:r>
          </a:p>
          <a:p>
            <a:r>
              <a:rPr 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br>
              <a:rPr 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[n] = key;</a:t>
            </a:r>
          </a:p>
          <a:p>
            <a:r>
              <a:rPr 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5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 (n + </a:t>
            </a:r>
            <a:r>
              <a:rPr lang="en-US" sz="25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25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5E8B20E-47C8-412C-9E3A-CFA9979B3809}"/>
              </a:ext>
            </a:extLst>
          </p:cNvPr>
          <p:cNvGrpSpPr/>
          <p:nvPr/>
        </p:nvGrpSpPr>
        <p:grpSpPr>
          <a:xfrm>
            <a:off x="2057400" y="914400"/>
            <a:ext cx="3048000" cy="685800"/>
            <a:chOff x="4724400" y="1066800"/>
            <a:chExt cx="3048000" cy="6858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80A3881-5F9B-4899-94FB-C670F99CC38C}"/>
                </a:ext>
              </a:extLst>
            </p:cNvPr>
            <p:cNvSpPr/>
            <p:nvPr/>
          </p:nvSpPr>
          <p:spPr>
            <a:xfrm>
              <a:off x="47244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F3EE08E-B8DF-4DBC-934B-0838B82A1B57}"/>
                </a:ext>
              </a:extLst>
            </p:cNvPr>
            <p:cNvSpPr/>
            <p:nvPr/>
          </p:nvSpPr>
          <p:spPr>
            <a:xfrm>
              <a:off x="53340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16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F67B594-A647-4B57-AABF-6340B9C7C6C9}"/>
                </a:ext>
              </a:extLst>
            </p:cNvPr>
            <p:cNvSpPr/>
            <p:nvPr/>
          </p:nvSpPr>
          <p:spPr>
            <a:xfrm>
              <a:off x="5943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3314111-CD0D-49C8-B043-7D565798AD90}"/>
                </a:ext>
              </a:extLst>
            </p:cNvPr>
            <p:cNvSpPr/>
            <p:nvPr/>
          </p:nvSpPr>
          <p:spPr>
            <a:xfrm>
              <a:off x="65532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89FD87B-D766-4410-BB87-1B890050C147}"/>
                </a:ext>
              </a:extLst>
            </p:cNvPr>
            <p:cNvSpPr/>
            <p:nvPr/>
          </p:nvSpPr>
          <p:spPr>
            <a:xfrm>
              <a:off x="71628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91D62C79-6057-41EC-8586-EBF248D56DB5}"/>
              </a:ext>
            </a:extLst>
          </p:cNvPr>
          <p:cNvSpPr/>
          <p:nvPr/>
        </p:nvSpPr>
        <p:spPr>
          <a:xfrm>
            <a:off x="5257800" y="1066800"/>
            <a:ext cx="9144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342A0B-36E1-4CC3-BB75-0A8CF008A3B3}"/>
              </a:ext>
            </a:extLst>
          </p:cNvPr>
          <p:cNvSpPr/>
          <p:nvPr/>
        </p:nvSpPr>
        <p:spPr>
          <a:xfrm>
            <a:off x="6324600" y="1066800"/>
            <a:ext cx="11430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key=26</a:t>
            </a:r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09B5ADD1-3247-417F-BEE1-557043278F10}"/>
              </a:ext>
            </a:extLst>
          </p:cNvPr>
          <p:cNvSpPr/>
          <p:nvPr/>
        </p:nvSpPr>
        <p:spPr>
          <a:xfrm>
            <a:off x="4152900" y="16002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C57023B5-3766-4788-B10B-D50B51B66A58}"/>
              </a:ext>
            </a:extLst>
          </p:cNvPr>
          <p:cNvSpPr/>
          <p:nvPr/>
        </p:nvSpPr>
        <p:spPr>
          <a:xfrm>
            <a:off x="5524500" y="16002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6E9A84E6-E0CF-404D-9F52-57A2A0CD2813}"/>
              </a:ext>
            </a:extLst>
          </p:cNvPr>
          <p:cNvSpPr/>
          <p:nvPr/>
        </p:nvSpPr>
        <p:spPr>
          <a:xfrm>
            <a:off x="6667500" y="16002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C1B7B56-DE21-4D36-B54A-4B0C04CA85D7}"/>
              </a:ext>
            </a:extLst>
          </p:cNvPr>
          <p:cNvGrpSpPr/>
          <p:nvPr/>
        </p:nvGrpSpPr>
        <p:grpSpPr>
          <a:xfrm>
            <a:off x="3048000" y="3198817"/>
            <a:ext cx="3048000" cy="685800"/>
            <a:chOff x="4724400" y="1066800"/>
            <a:chExt cx="3048000" cy="6858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4929856-65CA-4B30-8912-5AD143425573}"/>
                </a:ext>
              </a:extLst>
            </p:cNvPr>
            <p:cNvSpPr/>
            <p:nvPr/>
          </p:nvSpPr>
          <p:spPr>
            <a:xfrm>
              <a:off x="47244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AD6EFE-568B-4118-ACC3-C748E70F04F0}"/>
                </a:ext>
              </a:extLst>
            </p:cNvPr>
            <p:cNvSpPr/>
            <p:nvPr/>
          </p:nvSpPr>
          <p:spPr>
            <a:xfrm>
              <a:off x="53340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16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3C085A8-8A1A-4CEB-9FF6-492AE7B7F64A}"/>
                </a:ext>
              </a:extLst>
            </p:cNvPr>
            <p:cNvSpPr/>
            <p:nvPr/>
          </p:nvSpPr>
          <p:spPr>
            <a:xfrm>
              <a:off x="5943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0F6C7F4-DF5D-429B-8B81-66EAE30FF670}"/>
                </a:ext>
              </a:extLst>
            </p:cNvPr>
            <p:cNvSpPr/>
            <p:nvPr/>
          </p:nvSpPr>
          <p:spPr>
            <a:xfrm>
              <a:off x="65532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26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1A31049-0E27-4471-9977-7CF1BA00DF97}"/>
                </a:ext>
              </a:extLst>
            </p:cNvPr>
            <p:cNvSpPr/>
            <p:nvPr/>
          </p:nvSpPr>
          <p:spPr>
            <a:xfrm>
              <a:off x="71628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95ADA28-F801-48F9-8DCF-39E91B944E56}"/>
              </a:ext>
            </a:extLst>
          </p:cNvPr>
          <p:cNvGrpSpPr/>
          <p:nvPr/>
        </p:nvGrpSpPr>
        <p:grpSpPr>
          <a:xfrm>
            <a:off x="4793876" y="2362200"/>
            <a:ext cx="914392" cy="748643"/>
            <a:chOff x="5715000" y="3124200"/>
            <a:chExt cx="609598" cy="748643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284E63F-3D1B-432E-8192-435AD7D17C61}"/>
                </a:ext>
              </a:extLst>
            </p:cNvPr>
            <p:cNvSpPr/>
            <p:nvPr/>
          </p:nvSpPr>
          <p:spPr>
            <a:xfrm>
              <a:off x="5715000" y="3124200"/>
              <a:ext cx="609598" cy="533400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n=3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E441614E-F5E0-4894-9B8F-2765372D5402}"/>
                </a:ext>
              </a:extLst>
            </p:cNvPr>
            <p:cNvCxnSpPr>
              <a:cxnSpLocks/>
            </p:cNvCxnSpPr>
            <p:nvPr/>
          </p:nvCxnSpPr>
          <p:spPr>
            <a:xfrm>
              <a:off x="5981700" y="3581400"/>
              <a:ext cx="0" cy="291443"/>
            </a:xfrm>
            <a:prstGeom prst="straightConnector1">
              <a:avLst/>
            </a:prstGeom>
            <a:ln w="412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149C79D-C0DF-4B53-8987-F2A065E1F185}"/>
              </a:ext>
            </a:extLst>
          </p:cNvPr>
          <p:cNvGrpSpPr/>
          <p:nvPr/>
        </p:nvGrpSpPr>
        <p:grpSpPr>
          <a:xfrm>
            <a:off x="4648200" y="3972592"/>
            <a:ext cx="1143000" cy="1066800"/>
            <a:chOff x="5410200" y="4724400"/>
            <a:chExt cx="1143000" cy="106680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13B0365-C263-48C9-A495-F786B84CDCC7}"/>
                </a:ext>
              </a:extLst>
            </p:cNvPr>
            <p:cNvSpPr/>
            <p:nvPr/>
          </p:nvSpPr>
          <p:spPr>
            <a:xfrm>
              <a:off x="5410200" y="5257800"/>
              <a:ext cx="1143000" cy="533400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key=26</a:t>
              </a:r>
            </a:p>
          </p:txBody>
        </p:sp>
        <p:sp>
          <p:nvSpPr>
            <p:cNvPr id="39" name="Arrow: Up 38">
              <a:extLst>
                <a:ext uri="{FF2B5EF4-FFF2-40B4-BE49-F238E27FC236}">
                  <a16:creationId xmlns:a16="http://schemas.microsoft.com/office/drawing/2014/main" id="{5C5BFF22-E497-47BD-B3AF-A4BF5868C6B9}"/>
                </a:ext>
              </a:extLst>
            </p:cNvPr>
            <p:cNvSpPr/>
            <p:nvPr/>
          </p:nvSpPr>
          <p:spPr>
            <a:xfrm>
              <a:off x="5905500" y="4724400"/>
              <a:ext cx="266700" cy="533400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2980149-3523-4AE9-8085-EA7185E79B76}"/>
              </a:ext>
            </a:extLst>
          </p:cNvPr>
          <p:cNvSpPr/>
          <p:nvPr/>
        </p:nvSpPr>
        <p:spPr>
          <a:xfrm>
            <a:off x="218109" y="2590801"/>
            <a:ext cx="2448885" cy="1524000"/>
          </a:xfrm>
          <a:custGeom>
            <a:avLst/>
            <a:gdLst>
              <a:gd name="connsiteX0" fmla="*/ 2148572 w 2314420"/>
              <a:gd name="connsiteY0" fmla="*/ 2057400 h 2057400"/>
              <a:gd name="connsiteX1" fmla="*/ 2121678 w 2314420"/>
              <a:gd name="connsiteY1" fmla="*/ 1573306 h 2057400"/>
              <a:gd name="connsiteX2" fmla="*/ 212196 w 2314420"/>
              <a:gd name="connsiteY2" fmla="*/ 1452283 h 2057400"/>
              <a:gd name="connsiteX3" fmla="*/ 131514 w 2314420"/>
              <a:gd name="connsiteY3" fmla="*/ 0 h 2057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14420" h="2057400">
                <a:moveTo>
                  <a:pt x="2148572" y="2057400"/>
                </a:moveTo>
                <a:cubicBezTo>
                  <a:pt x="2296489" y="1865779"/>
                  <a:pt x="2444407" y="1674159"/>
                  <a:pt x="2121678" y="1573306"/>
                </a:cubicBezTo>
                <a:cubicBezTo>
                  <a:pt x="1798949" y="1472453"/>
                  <a:pt x="543890" y="1714501"/>
                  <a:pt x="212196" y="1452283"/>
                </a:cubicBezTo>
                <a:cubicBezTo>
                  <a:pt x="-119498" y="1190065"/>
                  <a:pt x="6008" y="595032"/>
                  <a:pt x="131514" y="0"/>
                </a:cubicBezTo>
              </a:path>
            </a:pathLst>
          </a:custGeom>
          <a:noFill/>
          <a:ln w="47625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86D354D-DA64-4C8E-AB3B-0AE5AD9D782D}"/>
              </a:ext>
            </a:extLst>
          </p:cNvPr>
          <p:cNvSpPr/>
          <p:nvPr/>
        </p:nvSpPr>
        <p:spPr>
          <a:xfrm>
            <a:off x="7924800" y="1066800"/>
            <a:ext cx="11430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size=5</a:t>
            </a:r>
          </a:p>
        </p:txBody>
      </p:sp>
      <p:sp>
        <p:nvSpPr>
          <p:cNvPr id="40" name="Arrow: Down 39">
            <a:extLst>
              <a:ext uri="{FF2B5EF4-FFF2-40B4-BE49-F238E27FC236}">
                <a16:creationId xmlns:a16="http://schemas.microsoft.com/office/drawing/2014/main" id="{49B34642-33A7-43BD-A54E-5E4487D68C47}"/>
              </a:ext>
            </a:extLst>
          </p:cNvPr>
          <p:cNvSpPr/>
          <p:nvPr/>
        </p:nvSpPr>
        <p:spPr>
          <a:xfrm>
            <a:off x="8267700" y="16002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73992EA-4D8E-42DE-9501-8022B2027416}"/>
              </a:ext>
            </a:extLst>
          </p:cNvPr>
          <p:cNvSpPr/>
          <p:nvPr/>
        </p:nvSpPr>
        <p:spPr>
          <a:xfrm>
            <a:off x="2133600" y="4572000"/>
            <a:ext cx="9144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n=4</a:t>
            </a:r>
          </a:p>
        </p:txBody>
      </p:sp>
    </p:spTree>
    <p:extLst>
      <p:ext uri="{BB962C8B-B14F-4D97-AF65-F5344CB8AC3E}">
        <p14:creationId xmlns:p14="http://schemas.microsoft.com/office/powerpoint/2010/main" val="2032124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5334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0"/>
            <a:ext cx="64008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Insert in an unsorted array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EFC405-48F3-4D3B-9925-B82EEFCE0A5B}"/>
              </a:ext>
            </a:extLst>
          </p:cNvPr>
          <p:cNvSpPr txBox="1"/>
          <p:nvPr/>
        </p:nvSpPr>
        <p:spPr>
          <a:xfrm>
            <a:off x="67399" y="533400"/>
            <a:ext cx="8771801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main(){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 = {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12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16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20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size = 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 / 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n =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key =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26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"\n Before Insertion: 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&lt; n;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]&lt;&lt; 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 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 if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(n &lt; size)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 n =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insertUnsorted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n, key, capacity);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"\n After Insertion: 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&lt; n;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 &lt;&lt; 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 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5E8B20E-47C8-412C-9E3A-CFA9979B3809}"/>
              </a:ext>
            </a:extLst>
          </p:cNvPr>
          <p:cNvGrpSpPr/>
          <p:nvPr/>
        </p:nvGrpSpPr>
        <p:grpSpPr>
          <a:xfrm>
            <a:off x="5791200" y="609600"/>
            <a:ext cx="3048000" cy="685800"/>
            <a:chOff x="4724400" y="1066800"/>
            <a:chExt cx="3048000" cy="6858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80A3881-5F9B-4899-94FB-C670F99CC38C}"/>
                </a:ext>
              </a:extLst>
            </p:cNvPr>
            <p:cNvSpPr/>
            <p:nvPr/>
          </p:nvSpPr>
          <p:spPr>
            <a:xfrm>
              <a:off x="47244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F3EE08E-B8DF-4DBC-934B-0838B82A1B57}"/>
                </a:ext>
              </a:extLst>
            </p:cNvPr>
            <p:cNvSpPr/>
            <p:nvPr/>
          </p:nvSpPr>
          <p:spPr>
            <a:xfrm>
              <a:off x="53340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16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F67B594-A647-4B57-AABF-6340B9C7C6C9}"/>
                </a:ext>
              </a:extLst>
            </p:cNvPr>
            <p:cNvSpPr/>
            <p:nvPr/>
          </p:nvSpPr>
          <p:spPr>
            <a:xfrm>
              <a:off x="5943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3314111-CD0D-49C8-B043-7D565798AD90}"/>
                </a:ext>
              </a:extLst>
            </p:cNvPr>
            <p:cNvSpPr/>
            <p:nvPr/>
          </p:nvSpPr>
          <p:spPr>
            <a:xfrm>
              <a:off x="65532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26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89FD87B-D766-4410-BB87-1B890050C147}"/>
                </a:ext>
              </a:extLst>
            </p:cNvPr>
            <p:cNvSpPr/>
            <p:nvPr/>
          </p:nvSpPr>
          <p:spPr>
            <a:xfrm>
              <a:off x="71628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91D62C79-6057-41EC-8586-EBF248D56DB5}"/>
              </a:ext>
            </a:extLst>
          </p:cNvPr>
          <p:cNvSpPr/>
          <p:nvPr/>
        </p:nvSpPr>
        <p:spPr>
          <a:xfrm>
            <a:off x="4419600" y="1600200"/>
            <a:ext cx="9144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342A0B-36E1-4CC3-BB75-0A8CF008A3B3}"/>
              </a:ext>
            </a:extLst>
          </p:cNvPr>
          <p:cNvSpPr/>
          <p:nvPr/>
        </p:nvSpPr>
        <p:spPr>
          <a:xfrm>
            <a:off x="4648200" y="1981200"/>
            <a:ext cx="11430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key=26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FA5DC890-2877-4385-8326-B7D9CE04008D}"/>
              </a:ext>
            </a:extLst>
          </p:cNvPr>
          <p:cNvSpPr/>
          <p:nvPr/>
        </p:nvSpPr>
        <p:spPr>
          <a:xfrm>
            <a:off x="4876800" y="838200"/>
            <a:ext cx="914400" cy="2363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49CE944F-4F93-4D0A-BED2-9665A773405A}"/>
              </a:ext>
            </a:extLst>
          </p:cNvPr>
          <p:cNvSpPr/>
          <p:nvPr/>
        </p:nvSpPr>
        <p:spPr>
          <a:xfrm>
            <a:off x="3581400" y="1752600"/>
            <a:ext cx="914400" cy="2363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EEA86E80-57CE-4904-AFEF-9E3D93E9C87C}"/>
              </a:ext>
            </a:extLst>
          </p:cNvPr>
          <p:cNvSpPr/>
          <p:nvPr/>
        </p:nvSpPr>
        <p:spPr>
          <a:xfrm>
            <a:off x="3505200" y="2125851"/>
            <a:ext cx="914400" cy="2363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0AFBDC6-5B54-4664-B7BB-5F5FADB96B0F}"/>
              </a:ext>
            </a:extLst>
          </p:cNvPr>
          <p:cNvSpPr/>
          <p:nvPr/>
        </p:nvSpPr>
        <p:spPr>
          <a:xfrm>
            <a:off x="1066800" y="4198748"/>
            <a:ext cx="7315200" cy="449451"/>
          </a:xfrm>
          <a:prstGeom prst="roundRect">
            <a:avLst/>
          </a:prstGeom>
          <a:noFill/>
          <a:ln w="412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ABB3603-3772-4EFB-8B41-B63ED08C2C45}"/>
              </a:ext>
            </a:extLst>
          </p:cNvPr>
          <p:cNvSpPr/>
          <p:nvPr/>
        </p:nvSpPr>
        <p:spPr>
          <a:xfrm>
            <a:off x="7924800" y="1219200"/>
            <a:ext cx="9906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size=5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2EEDE2FC-080C-44DB-A325-3729DC60122D}"/>
              </a:ext>
            </a:extLst>
          </p:cNvPr>
          <p:cNvSpPr/>
          <p:nvPr/>
        </p:nvSpPr>
        <p:spPr>
          <a:xfrm>
            <a:off x="7239000" y="1371600"/>
            <a:ext cx="609600" cy="3125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1D9DA58-C739-45DC-88D9-6056332D52EB}"/>
              </a:ext>
            </a:extLst>
          </p:cNvPr>
          <p:cNvSpPr/>
          <p:nvPr/>
        </p:nvSpPr>
        <p:spPr>
          <a:xfrm>
            <a:off x="6553200" y="3276600"/>
            <a:ext cx="1981200" cy="609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12  16  20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3018894-982F-494A-A710-AC6378436F1D}"/>
              </a:ext>
            </a:extLst>
          </p:cNvPr>
          <p:cNvSpPr/>
          <p:nvPr/>
        </p:nvSpPr>
        <p:spPr>
          <a:xfrm>
            <a:off x="7543800" y="4648200"/>
            <a:ext cx="13716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n=4</a:t>
            </a:r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9F3F9233-A438-4091-AAB4-95438AAD0950}"/>
              </a:ext>
            </a:extLst>
          </p:cNvPr>
          <p:cNvSpPr/>
          <p:nvPr/>
        </p:nvSpPr>
        <p:spPr>
          <a:xfrm>
            <a:off x="7315200" y="4800602"/>
            <a:ext cx="533400" cy="3047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A8D3877-5180-4F43-9A43-233E7A4C0EF2}"/>
              </a:ext>
            </a:extLst>
          </p:cNvPr>
          <p:cNvSpPr/>
          <p:nvPr/>
        </p:nvSpPr>
        <p:spPr>
          <a:xfrm>
            <a:off x="3617259" y="5821359"/>
            <a:ext cx="1981200" cy="609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12  16  20  26</a:t>
            </a:r>
          </a:p>
        </p:txBody>
      </p:sp>
    </p:spTree>
    <p:extLst>
      <p:ext uri="{BB962C8B-B14F-4D97-AF65-F5344CB8AC3E}">
        <p14:creationId xmlns:p14="http://schemas.microsoft.com/office/powerpoint/2010/main" val="2913658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 animBg="1"/>
      <p:bldP spid="30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5334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0"/>
            <a:ext cx="64008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Insert in an unsorted array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EFC405-48F3-4D3B-9925-B82EEFCE0A5B}"/>
              </a:ext>
            </a:extLst>
          </p:cNvPr>
          <p:cNvSpPr txBox="1"/>
          <p:nvPr/>
        </p:nvSpPr>
        <p:spPr>
          <a:xfrm>
            <a:off x="67399" y="506506"/>
            <a:ext cx="8771801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main(){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 = {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12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16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20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size = 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 / 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n =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key =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30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"\n Before Insertion: 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&lt; n;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]&lt;&lt; 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 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 if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(n &lt; size)  </a:t>
            </a:r>
            <a:endParaRPr lang="en-US" sz="2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 n =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insertUnsorted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n, key, capacity);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"\n After Insertion: 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&lt; n;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 &lt;&lt; 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 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5E8B20E-47C8-412C-9E3A-CFA9979B3809}"/>
              </a:ext>
            </a:extLst>
          </p:cNvPr>
          <p:cNvGrpSpPr/>
          <p:nvPr/>
        </p:nvGrpSpPr>
        <p:grpSpPr>
          <a:xfrm>
            <a:off x="5791200" y="582705"/>
            <a:ext cx="3048000" cy="685800"/>
            <a:chOff x="4724400" y="1066800"/>
            <a:chExt cx="3048000" cy="6858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80A3881-5F9B-4899-94FB-C670F99CC38C}"/>
                </a:ext>
              </a:extLst>
            </p:cNvPr>
            <p:cNvSpPr/>
            <p:nvPr/>
          </p:nvSpPr>
          <p:spPr>
            <a:xfrm>
              <a:off x="47244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F3EE08E-B8DF-4DBC-934B-0838B82A1B57}"/>
                </a:ext>
              </a:extLst>
            </p:cNvPr>
            <p:cNvSpPr/>
            <p:nvPr/>
          </p:nvSpPr>
          <p:spPr>
            <a:xfrm>
              <a:off x="53340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16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F67B594-A647-4B57-AABF-6340B9C7C6C9}"/>
                </a:ext>
              </a:extLst>
            </p:cNvPr>
            <p:cNvSpPr/>
            <p:nvPr/>
          </p:nvSpPr>
          <p:spPr>
            <a:xfrm>
              <a:off x="5943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3314111-CD0D-49C8-B043-7D565798AD90}"/>
                </a:ext>
              </a:extLst>
            </p:cNvPr>
            <p:cNvSpPr/>
            <p:nvPr/>
          </p:nvSpPr>
          <p:spPr>
            <a:xfrm>
              <a:off x="65532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26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89FD87B-D766-4410-BB87-1B890050C147}"/>
                </a:ext>
              </a:extLst>
            </p:cNvPr>
            <p:cNvSpPr/>
            <p:nvPr/>
          </p:nvSpPr>
          <p:spPr>
            <a:xfrm>
              <a:off x="71628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40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91D62C79-6057-41EC-8586-EBF248D56DB5}"/>
              </a:ext>
            </a:extLst>
          </p:cNvPr>
          <p:cNvSpPr/>
          <p:nvPr/>
        </p:nvSpPr>
        <p:spPr>
          <a:xfrm>
            <a:off x="4419600" y="1600200"/>
            <a:ext cx="9144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342A0B-36E1-4CC3-BB75-0A8CF008A3B3}"/>
              </a:ext>
            </a:extLst>
          </p:cNvPr>
          <p:cNvSpPr/>
          <p:nvPr/>
        </p:nvSpPr>
        <p:spPr>
          <a:xfrm>
            <a:off x="4648200" y="1981200"/>
            <a:ext cx="11430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key=30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FA5DC890-2877-4385-8326-B7D9CE04008D}"/>
              </a:ext>
            </a:extLst>
          </p:cNvPr>
          <p:cNvSpPr/>
          <p:nvPr/>
        </p:nvSpPr>
        <p:spPr>
          <a:xfrm>
            <a:off x="4876800" y="838200"/>
            <a:ext cx="914400" cy="2363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49CE944F-4F93-4D0A-BED2-9665A773405A}"/>
              </a:ext>
            </a:extLst>
          </p:cNvPr>
          <p:cNvSpPr/>
          <p:nvPr/>
        </p:nvSpPr>
        <p:spPr>
          <a:xfrm>
            <a:off x="3581400" y="1752600"/>
            <a:ext cx="914400" cy="2363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EEA86E80-57CE-4904-AFEF-9E3D93E9C87C}"/>
              </a:ext>
            </a:extLst>
          </p:cNvPr>
          <p:cNvSpPr/>
          <p:nvPr/>
        </p:nvSpPr>
        <p:spPr>
          <a:xfrm>
            <a:off x="3505200" y="2125851"/>
            <a:ext cx="914400" cy="2363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ABB3603-3772-4EFB-8B41-B63ED08C2C45}"/>
              </a:ext>
            </a:extLst>
          </p:cNvPr>
          <p:cNvSpPr/>
          <p:nvPr/>
        </p:nvSpPr>
        <p:spPr>
          <a:xfrm>
            <a:off x="7924800" y="1219200"/>
            <a:ext cx="9906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size=5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2EEDE2FC-080C-44DB-A325-3729DC60122D}"/>
              </a:ext>
            </a:extLst>
          </p:cNvPr>
          <p:cNvSpPr/>
          <p:nvPr/>
        </p:nvSpPr>
        <p:spPr>
          <a:xfrm>
            <a:off x="7239000" y="1371600"/>
            <a:ext cx="609600" cy="3125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1D9DA58-C739-45DC-88D9-6056332D52EB}"/>
              </a:ext>
            </a:extLst>
          </p:cNvPr>
          <p:cNvSpPr/>
          <p:nvPr/>
        </p:nvSpPr>
        <p:spPr>
          <a:xfrm>
            <a:off x="6096000" y="3276600"/>
            <a:ext cx="2438400" cy="609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12  16  20  26  40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2F3C881-00B6-47F3-BC41-7107B4FBC721}"/>
              </a:ext>
            </a:extLst>
          </p:cNvPr>
          <p:cNvSpPr/>
          <p:nvPr/>
        </p:nvSpPr>
        <p:spPr>
          <a:xfrm>
            <a:off x="762000" y="3844643"/>
            <a:ext cx="1981200" cy="449451"/>
          </a:xfrm>
          <a:prstGeom prst="roundRect">
            <a:avLst/>
          </a:prstGeom>
          <a:noFill/>
          <a:ln w="412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EA8C969-8579-4964-8378-5A0B9F5FEA8F}"/>
              </a:ext>
            </a:extLst>
          </p:cNvPr>
          <p:cNvSpPr txBox="1"/>
          <p:nvPr/>
        </p:nvSpPr>
        <p:spPr>
          <a:xfrm>
            <a:off x="3106282" y="3795634"/>
            <a:ext cx="38884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1F47734-5D8F-4C08-AB12-7641FE3EB972}"/>
              </a:ext>
            </a:extLst>
          </p:cNvPr>
          <p:cNvSpPr/>
          <p:nvPr/>
        </p:nvSpPr>
        <p:spPr>
          <a:xfrm>
            <a:off x="3617258" y="5821359"/>
            <a:ext cx="2478741" cy="609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12  16  20  26 40</a:t>
            </a:r>
          </a:p>
        </p:txBody>
      </p:sp>
    </p:spTree>
    <p:extLst>
      <p:ext uri="{BB962C8B-B14F-4D97-AF65-F5344CB8AC3E}">
        <p14:creationId xmlns:p14="http://schemas.microsoft.com/office/powerpoint/2010/main" val="3512353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/>
      <p:bldP spid="2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112705"/>
            <a:ext cx="64008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Delete in an unsorted array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839624-3E80-4165-862D-FBDD23D15B07}"/>
              </a:ext>
            </a:extLst>
          </p:cNvPr>
          <p:cNvSpPr/>
          <p:nvPr/>
        </p:nvSpPr>
        <p:spPr>
          <a:xfrm>
            <a:off x="0" y="762000"/>
            <a:ext cx="9144000" cy="380998"/>
          </a:xfrm>
          <a:prstGeom prst="rect">
            <a:avLst/>
          </a:prstGeom>
          <a:solidFill>
            <a:schemeClr val="tx2"/>
          </a:solidFill>
          <a:ln cap="rnd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Delete in an unsorted array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60A103A-75AF-4595-873D-7EFA47018C38}"/>
                  </a:ext>
                </a:extLst>
              </p:cNvPr>
              <p:cNvSpPr txBox="1"/>
              <p:nvPr/>
            </p:nvSpPr>
            <p:spPr>
              <a:xfrm>
                <a:off x="152564" y="1295400"/>
                <a:ext cx="9000401" cy="16312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ts val="3000"/>
                  </a:lnSpc>
                </a:pPr>
                <a:r>
                  <a:rPr lang="en-US" sz="2400" dirty="0">
                    <a:latin typeface="Times New Roman" pitchFamily="18" charset="0"/>
                    <a:ea typeface="Times New Roman"/>
                    <a:cs typeface="Times New Roman" pitchFamily="18" charset="0"/>
                  </a:rPr>
                  <a:t>In delete operation, the element to be deleted is </a:t>
                </a:r>
                <a:r>
                  <a:rPr lang="en-US" sz="2400" b="1" dirty="0">
                    <a:solidFill>
                      <a:srgbClr val="FF0000"/>
                    </a:solidFill>
                    <a:latin typeface="Times New Roman" pitchFamily="18" charset="0"/>
                    <a:ea typeface="Times New Roman"/>
                    <a:cs typeface="Times New Roman" pitchFamily="18" charset="0"/>
                  </a:rPr>
                  <a:t>searched</a:t>
                </a:r>
                <a:r>
                  <a:rPr lang="en-US" sz="2400" dirty="0">
                    <a:latin typeface="Times New Roman" pitchFamily="18" charset="0"/>
                    <a:ea typeface="Times New Roman"/>
                    <a:cs typeface="Times New Roman" pitchFamily="18" charset="0"/>
                  </a:rPr>
                  <a:t> using the </a:t>
                </a:r>
                <a:r>
                  <a:rPr lang="en-US" sz="2400" b="1" dirty="0">
                    <a:solidFill>
                      <a:srgbClr val="FF0000"/>
                    </a:solidFill>
                    <a:latin typeface="Times New Roman" pitchFamily="18" charset="0"/>
                    <a:ea typeface="Times New Roman"/>
                    <a:cs typeface="Times New Roman" pitchFamily="18" charset="0"/>
                  </a:rPr>
                  <a:t>linear search</a:t>
                </a:r>
                <a:r>
                  <a:rPr lang="en-US" sz="2400" dirty="0">
                    <a:latin typeface="Times New Roman" pitchFamily="18" charset="0"/>
                    <a:ea typeface="Times New Roman"/>
                    <a:cs typeface="Times New Roman" pitchFamily="18" charset="0"/>
                  </a:rPr>
                  <a:t> and then </a:t>
                </a:r>
                <a:r>
                  <a:rPr lang="en-US" sz="2400" b="1" dirty="0">
                    <a:solidFill>
                      <a:srgbClr val="FF0000"/>
                    </a:solidFill>
                    <a:latin typeface="Times New Roman" pitchFamily="18" charset="0"/>
                    <a:ea typeface="Times New Roman"/>
                    <a:cs typeface="Times New Roman" pitchFamily="18" charset="0"/>
                  </a:rPr>
                  <a:t>delete</a:t>
                </a:r>
                <a:r>
                  <a:rPr lang="en-US" sz="2400" dirty="0">
                    <a:latin typeface="Times New Roman" pitchFamily="18" charset="0"/>
                    <a:ea typeface="Times New Roman"/>
                    <a:cs typeface="Times New Roman" pitchFamily="18" charset="0"/>
                  </a:rPr>
                  <a:t> operation is performed followed by </a:t>
                </a:r>
                <a:r>
                  <a:rPr lang="en-US" sz="2400" b="1" dirty="0">
                    <a:solidFill>
                      <a:srgbClr val="FF0000"/>
                    </a:solidFill>
                    <a:latin typeface="Times New Roman" pitchFamily="18" charset="0"/>
                    <a:ea typeface="Times New Roman"/>
                    <a:cs typeface="Times New Roman" pitchFamily="18" charset="0"/>
                  </a:rPr>
                  <a:t>shifting</a:t>
                </a:r>
                <a:r>
                  <a:rPr lang="en-US" sz="2400" dirty="0">
                    <a:latin typeface="Times New Roman" pitchFamily="18" charset="0"/>
                    <a:ea typeface="Times New Roman"/>
                    <a:cs typeface="Times New Roman" pitchFamily="18" charset="0"/>
                  </a:rPr>
                  <a:t> the elements. 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The </a:t>
                </a:r>
                <a:r>
                  <a:rPr lang="en-US" sz="2400" b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time complexity 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of </a:t>
                </a:r>
                <a:r>
                  <a:rPr lang="en-US" sz="2400" b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delete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in an </a:t>
                </a:r>
                <a:r>
                  <a:rPr lang="en-US" sz="2400" b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unsorted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array is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𝑶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(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𝒏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)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  <a:latin typeface="Times New Roman" pitchFamily="18" charset="0"/>
                  <a:ea typeface="Times New Roman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60A103A-75AF-4595-873D-7EFA47018C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564" y="1295400"/>
                <a:ext cx="9000401" cy="1631216"/>
              </a:xfrm>
              <a:prstGeom prst="rect">
                <a:avLst/>
              </a:prstGeom>
              <a:blipFill>
                <a:blip r:embed="rId5"/>
                <a:stretch>
                  <a:fillRect l="-1016" t="-3371" r="-1084" b="-59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C2DB526D-9BF3-42AB-9058-9BCBC8D7F2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0" y="3079018"/>
            <a:ext cx="5858853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542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112705"/>
            <a:ext cx="64008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Delete in an unsorted array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7E05DB-9A22-41EE-B491-0A9DE5110811}"/>
              </a:ext>
            </a:extLst>
          </p:cNvPr>
          <p:cNvSpPr txBox="1"/>
          <p:nvPr/>
        </p:nvSpPr>
        <p:spPr>
          <a:xfrm>
            <a:off x="76201" y="1076265"/>
            <a:ext cx="88392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main() {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[] = {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50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30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40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20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n = 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 / 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key =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30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"Array before deletion\n"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&lt; n;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 &lt;&lt;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 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n =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deleteElement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n, key);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"\n\</a:t>
            </a:r>
            <a:r>
              <a:rPr lang="en-US" sz="2400" dirty="0" err="1">
                <a:solidFill>
                  <a:srgbClr val="A31515"/>
                </a:solidFill>
                <a:latin typeface="Consolas" panose="020B0609020204030204" pitchFamily="49" charset="0"/>
              </a:rPr>
              <a:t>nArray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 after deletion\n"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&lt; n;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 &lt;&lt; 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 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62A2B10-3027-4CDE-8FA4-F133053154D4}"/>
              </a:ext>
            </a:extLst>
          </p:cNvPr>
          <p:cNvGrpSpPr/>
          <p:nvPr/>
        </p:nvGrpSpPr>
        <p:grpSpPr>
          <a:xfrm>
            <a:off x="5791200" y="1066800"/>
            <a:ext cx="3048000" cy="685800"/>
            <a:chOff x="4724400" y="1066800"/>
            <a:chExt cx="3048000" cy="6858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7265BD6-5682-44FA-B592-7901C19FE221}"/>
                </a:ext>
              </a:extLst>
            </p:cNvPr>
            <p:cNvSpPr/>
            <p:nvPr/>
          </p:nvSpPr>
          <p:spPr>
            <a:xfrm>
              <a:off x="47244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EE04041-CF38-4F98-8E73-E6480DA11FD6}"/>
                </a:ext>
              </a:extLst>
            </p:cNvPr>
            <p:cNvSpPr/>
            <p:nvPr/>
          </p:nvSpPr>
          <p:spPr>
            <a:xfrm>
              <a:off x="53340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50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F9BD904-0A9A-4E4E-A307-A832EE2EBB70}"/>
                </a:ext>
              </a:extLst>
            </p:cNvPr>
            <p:cNvSpPr/>
            <p:nvPr/>
          </p:nvSpPr>
          <p:spPr>
            <a:xfrm>
              <a:off x="5943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30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83462B4-FDD0-436F-81E3-E45A47C9FC4A}"/>
                </a:ext>
              </a:extLst>
            </p:cNvPr>
            <p:cNvSpPr/>
            <p:nvPr/>
          </p:nvSpPr>
          <p:spPr>
            <a:xfrm>
              <a:off x="65532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40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120CD05-5A91-45E3-AA9C-CEBDC5415BD9}"/>
                </a:ext>
              </a:extLst>
            </p:cNvPr>
            <p:cNvSpPr/>
            <p:nvPr/>
          </p:nvSpPr>
          <p:spPr>
            <a:xfrm>
              <a:off x="71628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</a:t>
              </a:r>
            </a:p>
          </p:txBody>
        </p:sp>
      </p:grp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1A667A69-09D4-458A-8D5F-3C0ABAAD8E1C}"/>
              </a:ext>
            </a:extLst>
          </p:cNvPr>
          <p:cNvSpPr/>
          <p:nvPr/>
        </p:nvSpPr>
        <p:spPr>
          <a:xfrm>
            <a:off x="4876800" y="1322295"/>
            <a:ext cx="914400" cy="2363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02A6DDA-112B-4C70-ABA2-9AE179EAEBA4}"/>
              </a:ext>
            </a:extLst>
          </p:cNvPr>
          <p:cNvSpPr/>
          <p:nvPr/>
        </p:nvSpPr>
        <p:spPr>
          <a:xfrm>
            <a:off x="7924800" y="2133600"/>
            <a:ext cx="9906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size=5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C6D3CF44-8C3C-4DB2-BB4A-A3B1D9156A07}"/>
              </a:ext>
            </a:extLst>
          </p:cNvPr>
          <p:cNvSpPr/>
          <p:nvPr/>
        </p:nvSpPr>
        <p:spPr>
          <a:xfrm>
            <a:off x="7239000" y="2286000"/>
            <a:ext cx="609600" cy="3125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46B45B-22CD-42C5-A133-0F9DA6B740CC}"/>
              </a:ext>
            </a:extLst>
          </p:cNvPr>
          <p:cNvSpPr/>
          <p:nvPr/>
        </p:nvSpPr>
        <p:spPr>
          <a:xfrm>
            <a:off x="4648200" y="2514600"/>
            <a:ext cx="11430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key=30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D6296755-EC42-4827-A4CC-C7B9BEFAF8A9}"/>
              </a:ext>
            </a:extLst>
          </p:cNvPr>
          <p:cNvSpPr/>
          <p:nvPr/>
        </p:nvSpPr>
        <p:spPr>
          <a:xfrm>
            <a:off x="3505200" y="2659251"/>
            <a:ext cx="914400" cy="2363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DC3477A-4721-425E-A237-90AE14C22EED}"/>
              </a:ext>
            </a:extLst>
          </p:cNvPr>
          <p:cNvSpPr/>
          <p:nvPr/>
        </p:nvSpPr>
        <p:spPr>
          <a:xfrm>
            <a:off x="6096000" y="3419535"/>
            <a:ext cx="2438400" cy="609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10  50  30  40  20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6CAE672-71CA-4B41-AA7E-5E97710E8B1F}"/>
              </a:ext>
            </a:extLst>
          </p:cNvPr>
          <p:cNvSpPr/>
          <p:nvPr/>
        </p:nvSpPr>
        <p:spPr>
          <a:xfrm>
            <a:off x="1364675" y="3962400"/>
            <a:ext cx="4731325" cy="533400"/>
          </a:xfrm>
          <a:prstGeom prst="roundRect">
            <a:avLst/>
          </a:prstGeom>
          <a:noFill/>
          <a:ln w="412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232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9" grpId="0" animBg="1"/>
      <p:bldP spid="20" grpId="0"/>
      <p:bldP spid="21" grpId="0" animBg="1"/>
      <p:bldP spid="22" grpId="0"/>
      <p:bldP spid="23" grpId="0" animBg="1"/>
      <p:bldP spid="24" grpId="0" animBg="1"/>
      <p:bldP spid="2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0"/>
            <a:ext cx="64008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Delete in an unsorted array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EFC405-48F3-4D3B-9925-B82EEFCE0A5B}"/>
              </a:ext>
            </a:extLst>
          </p:cNvPr>
          <p:cNvSpPr txBox="1"/>
          <p:nvPr/>
        </p:nvSpPr>
        <p:spPr>
          <a:xfrm>
            <a:off x="67399" y="1888153"/>
            <a:ext cx="8771801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deleteElement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[],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n,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key) {</a:t>
            </a:r>
          </a:p>
          <a:p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    // Find position of element to be deleted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pos =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findElement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n, key);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(pos == -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"Element not found"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n;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    // Deleting element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= pos;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&lt; n -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 =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+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n -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5E8B20E-47C8-412C-9E3A-CFA9979B3809}"/>
              </a:ext>
            </a:extLst>
          </p:cNvPr>
          <p:cNvGrpSpPr/>
          <p:nvPr/>
        </p:nvGrpSpPr>
        <p:grpSpPr>
          <a:xfrm>
            <a:off x="2057400" y="685800"/>
            <a:ext cx="3048000" cy="685800"/>
            <a:chOff x="4724400" y="1066800"/>
            <a:chExt cx="3048000" cy="6858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80A3881-5F9B-4899-94FB-C670F99CC38C}"/>
                </a:ext>
              </a:extLst>
            </p:cNvPr>
            <p:cNvSpPr/>
            <p:nvPr/>
          </p:nvSpPr>
          <p:spPr>
            <a:xfrm>
              <a:off x="47244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F3EE08E-B8DF-4DBC-934B-0838B82A1B57}"/>
                </a:ext>
              </a:extLst>
            </p:cNvPr>
            <p:cNvSpPr/>
            <p:nvPr/>
          </p:nvSpPr>
          <p:spPr>
            <a:xfrm>
              <a:off x="53340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50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F67B594-A647-4B57-AABF-6340B9C7C6C9}"/>
                </a:ext>
              </a:extLst>
            </p:cNvPr>
            <p:cNvSpPr/>
            <p:nvPr/>
          </p:nvSpPr>
          <p:spPr>
            <a:xfrm>
              <a:off x="5943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30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3314111-CD0D-49C8-B043-7D565798AD90}"/>
                </a:ext>
              </a:extLst>
            </p:cNvPr>
            <p:cNvSpPr/>
            <p:nvPr/>
          </p:nvSpPr>
          <p:spPr>
            <a:xfrm>
              <a:off x="65532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40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89FD87B-D766-4410-BB87-1B890050C147}"/>
                </a:ext>
              </a:extLst>
            </p:cNvPr>
            <p:cNvSpPr/>
            <p:nvPr/>
          </p:nvSpPr>
          <p:spPr>
            <a:xfrm>
              <a:off x="71628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91D62C79-6057-41EC-8586-EBF248D56DB5}"/>
              </a:ext>
            </a:extLst>
          </p:cNvPr>
          <p:cNvSpPr/>
          <p:nvPr/>
        </p:nvSpPr>
        <p:spPr>
          <a:xfrm>
            <a:off x="5257800" y="838200"/>
            <a:ext cx="9144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342A0B-36E1-4CC3-BB75-0A8CF008A3B3}"/>
              </a:ext>
            </a:extLst>
          </p:cNvPr>
          <p:cNvSpPr/>
          <p:nvPr/>
        </p:nvSpPr>
        <p:spPr>
          <a:xfrm>
            <a:off x="6477000" y="838200"/>
            <a:ext cx="11430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key=30</a:t>
            </a:r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09B5ADD1-3247-417F-BEE1-557043278F10}"/>
              </a:ext>
            </a:extLst>
          </p:cNvPr>
          <p:cNvSpPr/>
          <p:nvPr/>
        </p:nvSpPr>
        <p:spPr>
          <a:xfrm>
            <a:off x="4152900" y="13716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C57023B5-3766-4788-B10B-D50B51B66A58}"/>
              </a:ext>
            </a:extLst>
          </p:cNvPr>
          <p:cNvSpPr/>
          <p:nvPr/>
        </p:nvSpPr>
        <p:spPr>
          <a:xfrm>
            <a:off x="5562600" y="12954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6E9A84E6-E0CF-404D-9F52-57A2A0CD2813}"/>
              </a:ext>
            </a:extLst>
          </p:cNvPr>
          <p:cNvSpPr/>
          <p:nvPr/>
        </p:nvSpPr>
        <p:spPr>
          <a:xfrm>
            <a:off x="6858000" y="13716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03BBDD6F-ACEA-4683-B57F-5677B45BDD30}"/>
              </a:ext>
            </a:extLst>
          </p:cNvPr>
          <p:cNvSpPr/>
          <p:nvPr/>
        </p:nvSpPr>
        <p:spPr>
          <a:xfrm>
            <a:off x="1364675" y="2590800"/>
            <a:ext cx="5340924" cy="533400"/>
          </a:xfrm>
          <a:prstGeom prst="roundRect">
            <a:avLst/>
          </a:prstGeom>
          <a:noFill/>
          <a:ln w="412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151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2" grpId="0"/>
      <p:bldP spid="23" grpId="0"/>
      <p:bldP spid="26" grpId="0" animBg="1"/>
      <p:bldP spid="27" grpId="0" animBg="1"/>
      <p:bldP spid="28" grpId="0" animBg="1"/>
      <p:bldP spid="3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0"/>
            <a:ext cx="64008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Arrays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839624-3E80-4165-862D-FBDD23D15B07}"/>
              </a:ext>
            </a:extLst>
          </p:cNvPr>
          <p:cNvSpPr/>
          <p:nvPr/>
        </p:nvSpPr>
        <p:spPr>
          <a:xfrm>
            <a:off x="0" y="533400"/>
            <a:ext cx="9144000" cy="380998"/>
          </a:xfrm>
          <a:prstGeom prst="rect">
            <a:avLst/>
          </a:prstGeom>
          <a:solidFill>
            <a:schemeClr val="tx2"/>
          </a:solidFill>
          <a:ln cap="rnd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Search in an unsorted array (Sequential Search)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EFC405-48F3-4D3B-9925-B82EEFCE0A5B}"/>
              </a:ext>
            </a:extLst>
          </p:cNvPr>
          <p:cNvSpPr txBox="1"/>
          <p:nvPr/>
        </p:nvSpPr>
        <p:spPr>
          <a:xfrm>
            <a:off x="0" y="2125682"/>
            <a:ext cx="877180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findElement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[],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n,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key){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28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&lt; n;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] == key)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-</a:t>
            </a:r>
            <a:r>
              <a:rPr lang="en-US" sz="28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5E8B20E-47C8-412C-9E3A-CFA9979B3809}"/>
              </a:ext>
            </a:extLst>
          </p:cNvPr>
          <p:cNvGrpSpPr/>
          <p:nvPr/>
        </p:nvGrpSpPr>
        <p:grpSpPr>
          <a:xfrm>
            <a:off x="2057400" y="914400"/>
            <a:ext cx="3048000" cy="685800"/>
            <a:chOff x="4724400" y="1066800"/>
            <a:chExt cx="3048000" cy="6858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80A3881-5F9B-4899-94FB-C670F99CC38C}"/>
                </a:ext>
              </a:extLst>
            </p:cNvPr>
            <p:cNvSpPr/>
            <p:nvPr/>
          </p:nvSpPr>
          <p:spPr>
            <a:xfrm>
              <a:off x="47244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F3EE08E-B8DF-4DBC-934B-0838B82A1B57}"/>
                </a:ext>
              </a:extLst>
            </p:cNvPr>
            <p:cNvSpPr/>
            <p:nvPr/>
          </p:nvSpPr>
          <p:spPr>
            <a:xfrm>
              <a:off x="53340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50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F67B594-A647-4B57-AABF-6340B9C7C6C9}"/>
                </a:ext>
              </a:extLst>
            </p:cNvPr>
            <p:cNvSpPr/>
            <p:nvPr/>
          </p:nvSpPr>
          <p:spPr>
            <a:xfrm>
              <a:off x="5943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30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3314111-CD0D-49C8-B043-7D565798AD90}"/>
                </a:ext>
              </a:extLst>
            </p:cNvPr>
            <p:cNvSpPr/>
            <p:nvPr/>
          </p:nvSpPr>
          <p:spPr>
            <a:xfrm>
              <a:off x="65532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40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89FD87B-D766-4410-BB87-1B890050C147}"/>
                </a:ext>
              </a:extLst>
            </p:cNvPr>
            <p:cNvSpPr/>
            <p:nvPr/>
          </p:nvSpPr>
          <p:spPr>
            <a:xfrm>
              <a:off x="71628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91D62C79-6057-41EC-8586-EBF248D56DB5}"/>
              </a:ext>
            </a:extLst>
          </p:cNvPr>
          <p:cNvSpPr/>
          <p:nvPr/>
        </p:nvSpPr>
        <p:spPr>
          <a:xfrm>
            <a:off x="5562600" y="1066800"/>
            <a:ext cx="9144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342A0B-36E1-4CC3-BB75-0A8CF008A3B3}"/>
              </a:ext>
            </a:extLst>
          </p:cNvPr>
          <p:cNvSpPr/>
          <p:nvPr/>
        </p:nvSpPr>
        <p:spPr>
          <a:xfrm>
            <a:off x="7239000" y="1066800"/>
            <a:ext cx="11430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key=30</a:t>
            </a:r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09B5ADD1-3247-417F-BEE1-557043278F10}"/>
              </a:ext>
            </a:extLst>
          </p:cNvPr>
          <p:cNvSpPr/>
          <p:nvPr/>
        </p:nvSpPr>
        <p:spPr>
          <a:xfrm>
            <a:off x="4152900" y="16002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C57023B5-3766-4788-B10B-D50B51B66A58}"/>
              </a:ext>
            </a:extLst>
          </p:cNvPr>
          <p:cNvSpPr/>
          <p:nvPr/>
        </p:nvSpPr>
        <p:spPr>
          <a:xfrm>
            <a:off x="5829300" y="16002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6E9A84E6-E0CF-404D-9F52-57A2A0CD2813}"/>
              </a:ext>
            </a:extLst>
          </p:cNvPr>
          <p:cNvSpPr/>
          <p:nvPr/>
        </p:nvSpPr>
        <p:spPr>
          <a:xfrm>
            <a:off x="7581900" y="16002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C1B7B56-DE21-4D36-B54A-4B0C04CA85D7}"/>
              </a:ext>
            </a:extLst>
          </p:cNvPr>
          <p:cNvGrpSpPr/>
          <p:nvPr/>
        </p:nvGrpSpPr>
        <p:grpSpPr>
          <a:xfrm>
            <a:off x="5715000" y="3962400"/>
            <a:ext cx="3048000" cy="685800"/>
            <a:chOff x="4724400" y="1066800"/>
            <a:chExt cx="3048000" cy="6858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4929856-65CA-4B30-8912-5AD143425573}"/>
                </a:ext>
              </a:extLst>
            </p:cNvPr>
            <p:cNvSpPr/>
            <p:nvPr/>
          </p:nvSpPr>
          <p:spPr>
            <a:xfrm>
              <a:off x="47244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AD6EFE-568B-4118-ACC3-C748E70F04F0}"/>
                </a:ext>
              </a:extLst>
            </p:cNvPr>
            <p:cNvSpPr/>
            <p:nvPr/>
          </p:nvSpPr>
          <p:spPr>
            <a:xfrm>
              <a:off x="53340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50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3C085A8-8A1A-4CEB-9FF6-492AE7B7F64A}"/>
                </a:ext>
              </a:extLst>
            </p:cNvPr>
            <p:cNvSpPr/>
            <p:nvPr/>
          </p:nvSpPr>
          <p:spPr>
            <a:xfrm>
              <a:off x="5943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30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0F6C7F4-DF5D-429B-8B81-66EAE30FF670}"/>
                </a:ext>
              </a:extLst>
            </p:cNvPr>
            <p:cNvSpPr/>
            <p:nvPr/>
          </p:nvSpPr>
          <p:spPr>
            <a:xfrm>
              <a:off x="65532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40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1A31049-0E27-4471-9977-7CF1BA00DF97}"/>
                </a:ext>
              </a:extLst>
            </p:cNvPr>
            <p:cNvSpPr/>
            <p:nvPr/>
          </p:nvSpPr>
          <p:spPr>
            <a:xfrm>
              <a:off x="71628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0064622-E628-4327-900F-5A241E882242}"/>
              </a:ext>
            </a:extLst>
          </p:cNvPr>
          <p:cNvGrpSpPr/>
          <p:nvPr/>
        </p:nvGrpSpPr>
        <p:grpSpPr>
          <a:xfrm>
            <a:off x="5715000" y="3048000"/>
            <a:ext cx="609598" cy="824843"/>
            <a:chOff x="5715000" y="3048000"/>
            <a:chExt cx="609598" cy="824843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284E63F-3D1B-432E-8192-435AD7D17C61}"/>
                </a:ext>
              </a:extLst>
            </p:cNvPr>
            <p:cNvSpPr/>
            <p:nvPr/>
          </p:nvSpPr>
          <p:spPr>
            <a:xfrm>
              <a:off x="5715000" y="3048000"/>
              <a:ext cx="609598" cy="533400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=0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E441614E-F5E0-4894-9B8F-2765372D5402}"/>
                </a:ext>
              </a:extLst>
            </p:cNvPr>
            <p:cNvCxnSpPr/>
            <p:nvPr/>
          </p:nvCxnSpPr>
          <p:spPr>
            <a:xfrm>
              <a:off x="5981700" y="3426738"/>
              <a:ext cx="0" cy="446105"/>
            </a:xfrm>
            <a:prstGeom prst="straightConnector1">
              <a:avLst/>
            </a:prstGeom>
            <a:ln w="412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F118D8A-F7E2-4C29-9597-50E499654031}"/>
              </a:ext>
            </a:extLst>
          </p:cNvPr>
          <p:cNvGrpSpPr/>
          <p:nvPr/>
        </p:nvGrpSpPr>
        <p:grpSpPr>
          <a:xfrm>
            <a:off x="5410200" y="4724400"/>
            <a:ext cx="1143000" cy="1066800"/>
            <a:chOff x="5410200" y="4724400"/>
            <a:chExt cx="1143000" cy="106680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13B0365-C263-48C9-A495-F786B84CDCC7}"/>
                </a:ext>
              </a:extLst>
            </p:cNvPr>
            <p:cNvSpPr/>
            <p:nvPr/>
          </p:nvSpPr>
          <p:spPr>
            <a:xfrm>
              <a:off x="5410200" y="5257800"/>
              <a:ext cx="1143000" cy="533400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key=30</a:t>
              </a:r>
            </a:p>
          </p:txBody>
        </p:sp>
        <p:sp>
          <p:nvSpPr>
            <p:cNvPr id="39" name="Arrow: Up 38">
              <a:extLst>
                <a:ext uri="{FF2B5EF4-FFF2-40B4-BE49-F238E27FC236}">
                  <a16:creationId xmlns:a16="http://schemas.microsoft.com/office/drawing/2014/main" id="{5C5BFF22-E497-47BD-B3AF-A4BF5868C6B9}"/>
                </a:ext>
              </a:extLst>
            </p:cNvPr>
            <p:cNvSpPr/>
            <p:nvPr/>
          </p:nvSpPr>
          <p:spPr>
            <a:xfrm>
              <a:off x="5905500" y="4724400"/>
              <a:ext cx="266700" cy="533400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16797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2" grpId="0"/>
      <p:bldP spid="23" grpId="0"/>
      <p:bldP spid="26" grpId="0" animBg="1"/>
      <p:bldP spid="27" grpId="0" animBg="1"/>
      <p:bldP spid="2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0"/>
            <a:ext cx="64008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Arrays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839624-3E80-4165-862D-FBDD23D15B07}"/>
              </a:ext>
            </a:extLst>
          </p:cNvPr>
          <p:cNvSpPr/>
          <p:nvPr/>
        </p:nvSpPr>
        <p:spPr>
          <a:xfrm>
            <a:off x="0" y="533400"/>
            <a:ext cx="9144000" cy="380998"/>
          </a:xfrm>
          <a:prstGeom prst="rect">
            <a:avLst/>
          </a:prstGeom>
          <a:solidFill>
            <a:schemeClr val="tx2"/>
          </a:solidFill>
          <a:ln cap="rnd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Search in an unsorted array (Sequential Search)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EFC405-48F3-4D3B-9925-B82EEFCE0A5B}"/>
              </a:ext>
            </a:extLst>
          </p:cNvPr>
          <p:cNvSpPr txBox="1"/>
          <p:nvPr/>
        </p:nvSpPr>
        <p:spPr>
          <a:xfrm>
            <a:off x="0" y="2125682"/>
            <a:ext cx="877180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findElement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[],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n,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key){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28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&lt; n;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] == key)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-</a:t>
            </a:r>
            <a:r>
              <a:rPr lang="en-US" sz="28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5E8B20E-47C8-412C-9E3A-CFA9979B3809}"/>
              </a:ext>
            </a:extLst>
          </p:cNvPr>
          <p:cNvGrpSpPr/>
          <p:nvPr/>
        </p:nvGrpSpPr>
        <p:grpSpPr>
          <a:xfrm>
            <a:off x="2057400" y="914400"/>
            <a:ext cx="3048000" cy="685800"/>
            <a:chOff x="4724400" y="1066800"/>
            <a:chExt cx="3048000" cy="6858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80A3881-5F9B-4899-94FB-C670F99CC38C}"/>
                </a:ext>
              </a:extLst>
            </p:cNvPr>
            <p:cNvSpPr/>
            <p:nvPr/>
          </p:nvSpPr>
          <p:spPr>
            <a:xfrm>
              <a:off x="47244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F3EE08E-B8DF-4DBC-934B-0838B82A1B57}"/>
                </a:ext>
              </a:extLst>
            </p:cNvPr>
            <p:cNvSpPr/>
            <p:nvPr/>
          </p:nvSpPr>
          <p:spPr>
            <a:xfrm>
              <a:off x="53340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50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F67B594-A647-4B57-AABF-6340B9C7C6C9}"/>
                </a:ext>
              </a:extLst>
            </p:cNvPr>
            <p:cNvSpPr/>
            <p:nvPr/>
          </p:nvSpPr>
          <p:spPr>
            <a:xfrm>
              <a:off x="5943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30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3314111-CD0D-49C8-B043-7D565798AD90}"/>
                </a:ext>
              </a:extLst>
            </p:cNvPr>
            <p:cNvSpPr/>
            <p:nvPr/>
          </p:nvSpPr>
          <p:spPr>
            <a:xfrm>
              <a:off x="65532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40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89FD87B-D766-4410-BB87-1B890050C147}"/>
                </a:ext>
              </a:extLst>
            </p:cNvPr>
            <p:cNvSpPr/>
            <p:nvPr/>
          </p:nvSpPr>
          <p:spPr>
            <a:xfrm>
              <a:off x="71628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91D62C79-6057-41EC-8586-EBF248D56DB5}"/>
              </a:ext>
            </a:extLst>
          </p:cNvPr>
          <p:cNvSpPr/>
          <p:nvPr/>
        </p:nvSpPr>
        <p:spPr>
          <a:xfrm>
            <a:off x="5562600" y="1066800"/>
            <a:ext cx="9144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342A0B-36E1-4CC3-BB75-0A8CF008A3B3}"/>
              </a:ext>
            </a:extLst>
          </p:cNvPr>
          <p:cNvSpPr/>
          <p:nvPr/>
        </p:nvSpPr>
        <p:spPr>
          <a:xfrm>
            <a:off x="7239000" y="1066800"/>
            <a:ext cx="11430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key=50</a:t>
            </a:r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09B5ADD1-3247-417F-BEE1-557043278F10}"/>
              </a:ext>
            </a:extLst>
          </p:cNvPr>
          <p:cNvSpPr/>
          <p:nvPr/>
        </p:nvSpPr>
        <p:spPr>
          <a:xfrm>
            <a:off x="4152900" y="16002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C57023B5-3766-4788-B10B-D50B51B66A58}"/>
              </a:ext>
            </a:extLst>
          </p:cNvPr>
          <p:cNvSpPr/>
          <p:nvPr/>
        </p:nvSpPr>
        <p:spPr>
          <a:xfrm>
            <a:off x="5829300" y="16002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6E9A84E6-E0CF-404D-9F52-57A2A0CD2813}"/>
              </a:ext>
            </a:extLst>
          </p:cNvPr>
          <p:cNvSpPr/>
          <p:nvPr/>
        </p:nvSpPr>
        <p:spPr>
          <a:xfrm>
            <a:off x="7581900" y="16002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C1B7B56-DE21-4D36-B54A-4B0C04CA85D7}"/>
              </a:ext>
            </a:extLst>
          </p:cNvPr>
          <p:cNvGrpSpPr/>
          <p:nvPr/>
        </p:nvGrpSpPr>
        <p:grpSpPr>
          <a:xfrm>
            <a:off x="5715000" y="3962400"/>
            <a:ext cx="3048000" cy="685800"/>
            <a:chOff x="4724400" y="1066800"/>
            <a:chExt cx="3048000" cy="6858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4929856-65CA-4B30-8912-5AD143425573}"/>
                </a:ext>
              </a:extLst>
            </p:cNvPr>
            <p:cNvSpPr/>
            <p:nvPr/>
          </p:nvSpPr>
          <p:spPr>
            <a:xfrm>
              <a:off x="47244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AD6EFE-568B-4118-ACC3-C748E70F04F0}"/>
                </a:ext>
              </a:extLst>
            </p:cNvPr>
            <p:cNvSpPr/>
            <p:nvPr/>
          </p:nvSpPr>
          <p:spPr>
            <a:xfrm>
              <a:off x="53340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50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3C085A8-8A1A-4CEB-9FF6-492AE7B7F64A}"/>
                </a:ext>
              </a:extLst>
            </p:cNvPr>
            <p:cNvSpPr/>
            <p:nvPr/>
          </p:nvSpPr>
          <p:spPr>
            <a:xfrm>
              <a:off x="5943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30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0F6C7F4-DF5D-429B-8B81-66EAE30FF670}"/>
                </a:ext>
              </a:extLst>
            </p:cNvPr>
            <p:cNvSpPr/>
            <p:nvPr/>
          </p:nvSpPr>
          <p:spPr>
            <a:xfrm>
              <a:off x="65532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40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1A31049-0E27-4471-9977-7CF1BA00DF97}"/>
                </a:ext>
              </a:extLst>
            </p:cNvPr>
            <p:cNvSpPr/>
            <p:nvPr/>
          </p:nvSpPr>
          <p:spPr>
            <a:xfrm>
              <a:off x="71628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95ADA28-F801-48F9-8DCF-39E91B944E56}"/>
              </a:ext>
            </a:extLst>
          </p:cNvPr>
          <p:cNvGrpSpPr/>
          <p:nvPr/>
        </p:nvGrpSpPr>
        <p:grpSpPr>
          <a:xfrm>
            <a:off x="6324602" y="3048000"/>
            <a:ext cx="609598" cy="824843"/>
            <a:chOff x="5715000" y="3048000"/>
            <a:chExt cx="609598" cy="824843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284E63F-3D1B-432E-8192-435AD7D17C61}"/>
                </a:ext>
              </a:extLst>
            </p:cNvPr>
            <p:cNvSpPr/>
            <p:nvPr/>
          </p:nvSpPr>
          <p:spPr>
            <a:xfrm>
              <a:off x="5715000" y="3048000"/>
              <a:ext cx="609598" cy="533400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=1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E441614E-F5E0-4894-9B8F-2765372D5402}"/>
                </a:ext>
              </a:extLst>
            </p:cNvPr>
            <p:cNvCxnSpPr/>
            <p:nvPr/>
          </p:nvCxnSpPr>
          <p:spPr>
            <a:xfrm>
              <a:off x="5981700" y="3426738"/>
              <a:ext cx="0" cy="446105"/>
            </a:xfrm>
            <a:prstGeom prst="straightConnector1">
              <a:avLst/>
            </a:prstGeom>
            <a:ln w="412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149C79D-C0DF-4B53-8987-F2A065E1F185}"/>
              </a:ext>
            </a:extLst>
          </p:cNvPr>
          <p:cNvGrpSpPr/>
          <p:nvPr/>
        </p:nvGrpSpPr>
        <p:grpSpPr>
          <a:xfrm>
            <a:off x="6019800" y="4724400"/>
            <a:ext cx="1143000" cy="1066800"/>
            <a:chOff x="5410200" y="4724400"/>
            <a:chExt cx="1143000" cy="106680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13B0365-C263-48C9-A495-F786B84CDCC7}"/>
                </a:ext>
              </a:extLst>
            </p:cNvPr>
            <p:cNvSpPr/>
            <p:nvPr/>
          </p:nvSpPr>
          <p:spPr>
            <a:xfrm>
              <a:off x="5410200" y="5257800"/>
              <a:ext cx="1143000" cy="533400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key=30</a:t>
              </a:r>
            </a:p>
          </p:txBody>
        </p:sp>
        <p:sp>
          <p:nvSpPr>
            <p:cNvPr id="39" name="Arrow: Up 38">
              <a:extLst>
                <a:ext uri="{FF2B5EF4-FFF2-40B4-BE49-F238E27FC236}">
                  <a16:creationId xmlns:a16="http://schemas.microsoft.com/office/drawing/2014/main" id="{5C5BFF22-E497-47BD-B3AF-A4BF5868C6B9}"/>
                </a:ext>
              </a:extLst>
            </p:cNvPr>
            <p:cNvSpPr/>
            <p:nvPr/>
          </p:nvSpPr>
          <p:spPr>
            <a:xfrm>
              <a:off x="5905500" y="4724400"/>
              <a:ext cx="266700" cy="533400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54265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0"/>
            <a:ext cx="64008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Arrays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839624-3E80-4165-862D-FBDD23D15B07}"/>
              </a:ext>
            </a:extLst>
          </p:cNvPr>
          <p:cNvSpPr/>
          <p:nvPr/>
        </p:nvSpPr>
        <p:spPr>
          <a:xfrm>
            <a:off x="0" y="533400"/>
            <a:ext cx="9144000" cy="380998"/>
          </a:xfrm>
          <a:prstGeom prst="rect">
            <a:avLst/>
          </a:prstGeom>
          <a:solidFill>
            <a:schemeClr val="tx2"/>
          </a:solidFill>
          <a:ln cap="rnd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Search in an unsorted array (Sequential Search)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EFC405-48F3-4D3B-9925-B82EEFCE0A5B}"/>
              </a:ext>
            </a:extLst>
          </p:cNvPr>
          <p:cNvSpPr txBox="1"/>
          <p:nvPr/>
        </p:nvSpPr>
        <p:spPr>
          <a:xfrm>
            <a:off x="0" y="2125682"/>
            <a:ext cx="877180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findElement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[],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n,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key){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28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&lt; n;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] == key)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-</a:t>
            </a:r>
            <a:r>
              <a:rPr lang="en-US" sz="28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5E8B20E-47C8-412C-9E3A-CFA9979B3809}"/>
              </a:ext>
            </a:extLst>
          </p:cNvPr>
          <p:cNvGrpSpPr/>
          <p:nvPr/>
        </p:nvGrpSpPr>
        <p:grpSpPr>
          <a:xfrm>
            <a:off x="2057400" y="914400"/>
            <a:ext cx="3048000" cy="685800"/>
            <a:chOff x="4724400" y="1066800"/>
            <a:chExt cx="3048000" cy="6858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80A3881-5F9B-4899-94FB-C670F99CC38C}"/>
                </a:ext>
              </a:extLst>
            </p:cNvPr>
            <p:cNvSpPr/>
            <p:nvPr/>
          </p:nvSpPr>
          <p:spPr>
            <a:xfrm>
              <a:off x="47244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F3EE08E-B8DF-4DBC-934B-0838B82A1B57}"/>
                </a:ext>
              </a:extLst>
            </p:cNvPr>
            <p:cNvSpPr/>
            <p:nvPr/>
          </p:nvSpPr>
          <p:spPr>
            <a:xfrm>
              <a:off x="53340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50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F67B594-A647-4B57-AABF-6340B9C7C6C9}"/>
                </a:ext>
              </a:extLst>
            </p:cNvPr>
            <p:cNvSpPr/>
            <p:nvPr/>
          </p:nvSpPr>
          <p:spPr>
            <a:xfrm>
              <a:off x="5943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30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3314111-CD0D-49C8-B043-7D565798AD90}"/>
                </a:ext>
              </a:extLst>
            </p:cNvPr>
            <p:cNvSpPr/>
            <p:nvPr/>
          </p:nvSpPr>
          <p:spPr>
            <a:xfrm>
              <a:off x="65532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40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89FD87B-D766-4410-BB87-1B890050C147}"/>
                </a:ext>
              </a:extLst>
            </p:cNvPr>
            <p:cNvSpPr/>
            <p:nvPr/>
          </p:nvSpPr>
          <p:spPr>
            <a:xfrm>
              <a:off x="71628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91D62C79-6057-41EC-8586-EBF248D56DB5}"/>
              </a:ext>
            </a:extLst>
          </p:cNvPr>
          <p:cNvSpPr/>
          <p:nvPr/>
        </p:nvSpPr>
        <p:spPr>
          <a:xfrm>
            <a:off x="5562600" y="1066800"/>
            <a:ext cx="9144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342A0B-36E1-4CC3-BB75-0A8CF008A3B3}"/>
              </a:ext>
            </a:extLst>
          </p:cNvPr>
          <p:cNvSpPr/>
          <p:nvPr/>
        </p:nvSpPr>
        <p:spPr>
          <a:xfrm>
            <a:off x="7239000" y="1066800"/>
            <a:ext cx="11430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key=50</a:t>
            </a:r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09B5ADD1-3247-417F-BEE1-557043278F10}"/>
              </a:ext>
            </a:extLst>
          </p:cNvPr>
          <p:cNvSpPr/>
          <p:nvPr/>
        </p:nvSpPr>
        <p:spPr>
          <a:xfrm>
            <a:off x="4152900" y="16002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C57023B5-3766-4788-B10B-D50B51B66A58}"/>
              </a:ext>
            </a:extLst>
          </p:cNvPr>
          <p:cNvSpPr/>
          <p:nvPr/>
        </p:nvSpPr>
        <p:spPr>
          <a:xfrm>
            <a:off x="5829300" y="16002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6E9A84E6-E0CF-404D-9F52-57A2A0CD2813}"/>
              </a:ext>
            </a:extLst>
          </p:cNvPr>
          <p:cNvSpPr/>
          <p:nvPr/>
        </p:nvSpPr>
        <p:spPr>
          <a:xfrm>
            <a:off x="7581900" y="16002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C1B7B56-DE21-4D36-B54A-4B0C04CA85D7}"/>
              </a:ext>
            </a:extLst>
          </p:cNvPr>
          <p:cNvGrpSpPr/>
          <p:nvPr/>
        </p:nvGrpSpPr>
        <p:grpSpPr>
          <a:xfrm>
            <a:off x="5715000" y="3962400"/>
            <a:ext cx="3048000" cy="685800"/>
            <a:chOff x="4724400" y="1066800"/>
            <a:chExt cx="3048000" cy="6858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4929856-65CA-4B30-8912-5AD143425573}"/>
                </a:ext>
              </a:extLst>
            </p:cNvPr>
            <p:cNvSpPr/>
            <p:nvPr/>
          </p:nvSpPr>
          <p:spPr>
            <a:xfrm>
              <a:off x="47244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AD6EFE-568B-4118-ACC3-C748E70F04F0}"/>
                </a:ext>
              </a:extLst>
            </p:cNvPr>
            <p:cNvSpPr/>
            <p:nvPr/>
          </p:nvSpPr>
          <p:spPr>
            <a:xfrm>
              <a:off x="53340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50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3C085A8-8A1A-4CEB-9FF6-492AE7B7F64A}"/>
                </a:ext>
              </a:extLst>
            </p:cNvPr>
            <p:cNvSpPr/>
            <p:nvPr/>
          </p:nvSpPr>
          <p:spPr>
            <a:xfrm>
              <a:off x="5943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30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0F6C7F4-DF5D-429B-8B81-66EAE30FF670}"/>
                </a:ext>
              </a:extLst>
            </p:cNvPr>
            <p:cNvSpPr/>
            <p:nvPr/>
          </p:nvSpPr>
          <p:spPr>
            <a:xfrm>
              <a:off x="65532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40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1A31049-0E27-4471-9977-7CF1BA00DF97}"/>
                </a:ext>
              </a:extLst>
            </p:cNvPr>
            <p:cNvSpPr/>
            <p:nvPr/>
          </p:nvSpPr>
          <p:spPr>
            <a:xfrm>
              <a:off x="71628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95ADA28-F801-48F9-8DCF-39E91B944E56}"/>
              </a:ext>
            </a:extLst>
          </p:cNvPr>
          <p:cNvGrpSpPr/>
          <p:nvPr/>
        </p:nvGrpSpPr>
        <p:grpSpPr>
          <a:xfrm>
            <a:off x="6934200" y="3128592"/>
            <a:ext cx="609598" cy="824843"/>
            <a:chOff x="5715000" y="3048000"/>
            <a:chExt cx="609598" cy="824843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284E63F-3D1B-432E-8192-435AD7D17C61}"/>
                </a:ext>
              </a:extLst>
            </p:cNvPr>
            <p:cNvSpPr/>
            <p:nvPr/>
          </p:nvSpPr>
          <p:spPr>
            <a:xfrm>
              <a:off x="5715000" y="3048000"/>
              <a:ext cx="609598" cy="533400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=2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E441614E-F5E0-4894-9B8F-2765372D5402}"/>
                </a:ext>
              </a:extLst>
            </p:cNvPr>
            <p:cNvCxnSpPr/>
            <p:nvPr/>
          </p:nvCxnSpPr>
          <p:spPr>
            <a:xfrm>
              <a:off x="5981700" y="3426738"/>
              <a:ext cx="0" cy="446105"/>
            </a:xfrm>
            <a:prstGeom prst="straightConnector1">
              <a:avLst/>
            </a:prstGeom>
            <a:ln w="412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149C79D-C0DF-4B53-8987-F2A065E1F185}"/>
              </a:ext>
            </a:extLst>
          </p:cNvPr>
          <p:cNvGrpSpPr/>
          <p:nvPr/>
        </p:nvGrpSpPr>
        <p:grpSpPr>
          <a:xfrm>
            <a:off x="6711203" y="4792684"/>
            <a:ext cx="1143000" cy="1066800"/>
            <a:chOff x="5410200" y="4724400"/>
            <a:chExt cx="1143000" cy="106680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13B0365-C263-48C9-A495-F786B84CDCC7}"/>
                </a:ext>
              </a:extLst>
            </p:cNvPr>
            <p:cNvSpPr/>
            <p:nvPr/>
          </p:nvSpPr>
          <p:spPr>
            <a:xfrm>
              <a:off x="5410200" y="5257800"/>
              <a:ext cx="1143000" cy="533400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key=30</a:t>
              </a:r>
            </a:p>
          </p:txBody>
        </p:sp>
        <p:sp>
          <p:nvSpPr>
            <p:cNvPr id="39" name="Arrow: Up 38">
              <a:extLst>
                <a:ext uri="{FF2B5EF4-FFF2-40B4-BE49-F238E27FC236}">
                  <a16:creationId xmlns:a16="http://schemas.microsoft.com/office/drawing/2014/main" id="{5C5BFF22-E497-47BD-B3AF-A4BF5868C6B9}"/>
                </a:ext>
              </a:extLst>
            </p:cNvPr>
            <p:cNvSpPr/>
            <p:nvPr/>
          </p:nvSpPr>
          <p:spPr>
            <a:xfrm>
              <a:off x="5905500" y="4724400"/>
              <a:ext cx="266700" cy="533400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B77D92F7-F06B-463F-8883-38BC798524DA}"/>
              </a:ext>
            </a:extLst>
          </p:cNvPr>
          <p:cNvSpPr/>
          <p:nvPr/>
        </p:nvSpPr>
        <p:spPr>
          <a:xfrm>
            <a:off x="381000" y="2667000"/>
            <a:ext cx="3711664" cy="1443841"/>
          </a:xfrm>
          <a:custGeom>
            <a:avLst/>
            <a:gdLst>
              <a:gd name="connsiteX0" fmla="*/ 2148572 w 2314420"/>
              <a:gd name="connsiteY0" fmla="*/ 2057400 h 2057400"/>
              <a:gd name="connsiteX1" fmla="*/ 2121678 w 2314420"/>
              <a:gd name="connsiteY1" fmla="*/ 1573306 h 2057400"/>
              <a:gd name="connsiteX2" fmla="*/ 212196 w 2314420"/>
              <a:gd name="connsiteY2" fmla="*/ 1452283 h 2057400"/>
              <a:gd name="connsiteX3" fmla="*/ 131514 w 2314420"/>
              <a:gd name="connsiteY3" fmla="*/ 0 h 2057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14420" h="2057400">
                <a:moveTo>
                  <a:pt x="2148572" y="2057400"/>
                </a:moveTo>
                <a:cubicBezTo>
                  <a:pt x="2296489" y="1865779"/>
                  <a:pt x="2444407" y="1674159"/>
                  <a:pt x="2121678" y="1573306"/>
                </a:cubicBezTo>
                <a:cubicBezTo>
                  <a:pt x="1798949" y="1472453"/>
                  <a:pt x="543890" y="1714501"/>
                  <a:pt x="212196" y="1452283"/>
                </a:cubicBezTo>
                <a:cubicBezTo>
                  <a:pt x="-119498" y="1190065"/>
                  <a:pt x="6008" y="595032"/>
                  <a:pt x="131514" y="0"/>
                </a:cubicBezTo>
              </a:path>
            </a:pathLst>
          </a:custGeom>
          <a:noFill/>
          <a:ln w="47625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098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0"/>
            <a:ext cx="64008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Delete in an unsorted array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EFC405-48F3-4D3B-9925-B82EEFCE0A5B}"/>
              </a:ext>
            </a:extLst>
          </p:cNvPr>
          <p:cNvSpPr txBox="1"/>
          <p:nvPr/>
        </p:nvSpPr>
        <p:spPr>
          <a:xfrm>
            <a:off x="67399" y="1888153"/>
            <a:ext cx="8771801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deleteElement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[],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n,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key) {</a:t>
            </a:r>
          </a:p>
          <a:p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    // Find position of element to be deleted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pos =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findElement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n, key);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(pos == -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"Element not found"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n;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    // Deleting element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= pos;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&lt; n -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 =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+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n -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5E8B20E-47C8-412C-9E3A-CFA9979B3809}"/>
              </a:ext>
            </a:extLst>
          </p:cNvPr>
          <p:cNvGrpSpPr/>
          <p:nvPr/>
        </p:nvGrpSpPr>
        <p:grpSpPr>
          <a:xfrm>
            <a:off x="2057400" y="685800"/>
            <a:ext cx="3048000" cy="685800"/>
            <a:chOff x="4724400" y="1066800"/>
            <a:chExt cx="3048000" cy="6858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80A3881-5F9B-4899-94FB-C670F99CC38C}"/>
                </a:ext>
              </a:extLst>
            </p:cNvPr>
            <p:cNvSpPr/>
            <p:nvPr/>
          </p:nvSpPr>
          <p:spPr>
            <a:xfrm>
              <a:off x="47244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F3EE08E-B8DF-4DBC-934B-0838B82A1B57}"/>
                </a:ext>
              </a:extLst>
            </p:cNvPr>
            <p:cNvSpPr/>
            <p:nvPr/>
          </p:nvSpPr>
          <p:spPr>
            <a:xfrm>
              <a:off x="53340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50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F67B594-A647-4B57-AABF-6340B9C7C6C9}"/>
                </a:ext>
              </a:extLst>
            </p:cNvPr>
            <p:cNvSpPr/>
            <p:nvPr/>
          </p:nvSpPr>
          <p:spPr>
            <a:xfrm>
              <a:off x="5943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30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3314111-CD0D-49C8-B043-7D565798AD90}"/>
                </a:ext>
              </a:extLst>
            </p:cNvPr>
            <p:cNvSpPr/>
            <p:nvPr/>
          </p:nvSpPr>
          <p:spPr>
            <a:xfrm>
              <a:off x="65532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40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89FD87B-D766-4410-BB87-1B890050C147}"/>
                </a:ext>
              </a:extLst>
            </p:cNvPr>
            <p:cNvSpPr/>
            <p:nvPr/>
          </p:nvSpPr>
          <p:spPr>
            <a:xfrm>
              <a:off x="71628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91D62C79-6057-41EC-8586-EBF248D56DB5}"/>
              </a:ext>
            </a:extLst>
          </p:cNvPr>
          <p:cNvSpPr/>
          <p:nvPr/>
        </p:nvSpPr>
        <p:spPr>
          <a:xfrm>
            <a:off x="5257800" y="838200"/>
            <a:ext cx="9144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342A0B-36E1-4CC3-BB75-0A8CF008A3B3}"/>
              </a:ext>
            </a:extLst>
          </p:cNvPr>
          <p:cNvSpPr/>
          <p:nvPr/>
        </p:nvSpPr>
        <p:spPr>
          <a:xfrm>
            <a:off x="6477000" y="838200"/>
            <a:ext cx="11430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key=30</a:t>
            </a:r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09B5ADD1-3247-417F-BEE1-557043278F10}"/>
              </a:ext>
            </a:extLst>
          </p:cNvPr>
          <p:cNvSpPr/>
          <p:nvPr/>
        </p:nvSpPr>
        <p:spPr>
          <a:xfrm>
            <a:off x="4152900" y="13716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C57023B5-3766-4788-B10B-D50B51B66A58}"/>
              </a:ext>
            </a:extLst>
          </p:cNvPr>
          <p:cNvSpPr/>
          <p:nvPr/>
        </p:nvSpPr>
        <p:spPr>
          <a:xfrm>
            <a:off x="5562600" y="12954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6E9A84E6-E0CF-404D-9F52-57A2A0CD2813}"/>
              </a:ext>
            </a:extLst>
          </p:cNvPr>
          <p:cNvSpPr/>
          <p:nvPr/>
        </p:nvSpPr>
        <p:spPr>
          <a:xfrm>
            <a:off x="6858000" y="13716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03BBDD6F-ACEA-4683-B57F-5677B45BDD30}"/>
              </a:ext>
            </a:extLst>
          </p:cNvPr>
          <p:cNvSpPr/>
          <p:nvPr/>
        </p:nvSpPr>
        <p:spPr>
          <a:xfrm>
            <a:off x="1364675" y="2590800"/>
            <a:ext cx="5340924" cy="533400"/>
          </a:xfrm>
          <a:prstGeom prst="roundRect">
            <a:avLst/>
          </a:prstGeom>
          <a:noFill/>
          <a:ln w="412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AF5CBDA-6188-42AE-848F-3CE6941BEDCE}"/>
              </a:ext>
            </a:extLst>
          </p:cNvPr>
          <p:cNvSpPr/>
          <p:nvPr/>
        </p:nvSpPr>
        <p:spPr>
          <a:xfrm>
            <a:off x="7317075" y="2606874"/>
            <a:ext cx="13716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pos=2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63A46CF1-E6E2-46F2-AD21-987FEFA9E747}"/>
              </a:ext>
            </a:extLst>
          </p:cNvPr>
          <p:cNvSpPr/>
          <p:nvPr/>
        </p:nvSpPr>
        <p:spPr>
          <a:xfrm>
            <a:off x="7088475" y="2759276"/>
            <a:ext cx="533400" cy="3047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10CB235-5177-4FA2-85D0-615304BCA670}"/>
              </a:ext>
            </a:extLst>
          </p:cNvPr>
          <p:cNvGrpSpPr/>
          <p:nvPr/>
        </p:nvGrpSpPr>
        <p:grpSpPr>
          <a:xfrm>
            <a:off x="6019800" y="5150179"/>
            <a:ext cx="3048000" cy="685800"/>
            <a:chOff x="4724400" y="1066800"/>
            <a:chExt cx="3048000" cy="6858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8D7936D-BBF4-4A07-9A3D-B0D2BB1ED7E3}"/>
                </a:ext>
              </a:extLst>
            </p:cNvPr>
            <p:cNvSpPr/>
            <p:nvPr/>
          </p:nvSpPr>
          <p:spPr>
            <a:xfrm>
              <a:off x="47244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D8D95DD-4CF8-4333-8FC6-A3CF7464E497}"/>
                </a:ext>
              </a:extLst>
            </p:cNvPr>
            <p:cNvSpPr/>
            <p:nvPr/>
          </p:nvSpPr>
          <p:spPr>
            <a:xfrm>
              <a:off x="53340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50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2B790FA-32FB-4DC2-9CC6-2D98906214D0}"/>
                </a:ext>
              </a:extLst>
            </p:cNvPr>
            <p:cNvSpPr/>
            <p:nvPr/>
          </p:nvSpPr>
          <p:spPr>
            <a:xfrm>
              <a:off x="5943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30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4C4BF07-68A5-467D-9FF2-0801CBC6D637}"/>
                </a:ext>
              </a:extLst>
            </p:cNvPr>
            <p:cNvSpPr/>
            <p:nvPr/>
          </p:nvSpPr>
          <p:spPr>
            <a:xfrm>
              <a:off x="65532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40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6C0B93B-967B-4961-928F-A60EFF66511D}"/>
                </a:ext>
              </a:extLst>
            </p:cNvPr>
            <p:cNvSpPr/>
            <p:nvPr/>
          </p:nvSpPr>
          <p:spPr>
            <a:xfrm>
              <a:off x="71628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95B4AE6-61DF-4800-BB42-3DC154EFF2A1}"/>
              </a:ext>
            </a:extLst>
          </p:cNvPr>
          <p:cNvGrpSpPr/>
          <p:nvPr/>
        </p:nvGrpSpPr>
        <p:grpSpPr>
          <a:xfrm>
            <a:off x="7372354" y="4325336"/>
            <a:ext cx="609598" cy="824843"/>
            <a:chOff x="5715000" y="3048000"/>
            <a:chExt cx="609598" cy="824843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316476C-2D01-4133-8564-C071ECBD39C8}"/>
                </a:ext>
              </a:extLst>
            </p:cNvPr>
            <p:cNvSpPr/>
            <p:nvPr/>
          </p:nvSpPr>
          <p:spPr>
            <a:xfrm>
              <a:off x="5715000" y="3048000"/>
              <a:ext cx="609598" cy="533400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=2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4726B0BB-ED3D-4883-A3FB-D00E15B480AC}"/>
                </a:ext>
              </a:extLst>
            </p:cNvPr>
            <p:cNvCxnSpPr/>
            <p:nvPr/>
          </p:nvCxnSpPr>
          <p:spPr>
            <a:xfrm>
              <a:off x="5981700" y="3426738"/>
              <a:ext cx="0" cy="446105"/>
            </a:xfrm>
            <a:prstGeom prst="straightConnector1">
              <a:avLst/>
            </a:prstGeom>
            <a:ln w="412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76769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0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2" grpId="0"/>
      <p:bldP spid="23" grpId="0"/>
      <p:bldP spid="26" grpId="0" animBg="1"/>
      <p:bldP spid="27" grpId="0" animBg="1"/>
      <p:bldP spid="28" grpId="0" animBg="1"/>
      <p:bldP spid="37" grpId="0" animBg="1"/>
      <p:bldP spid="20" grpId="0"/>
      <p:bldP spid="21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0"/>
            <a:ext cx="64008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Delete in an unsorted array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EFC405-48F3-4D3B-9925-B82EEFCE0A5B}"/>
              </a:ext>
            </a:extLst>
          </p:cNvPr>
          <p:cNvSpPr txBox="1"/>
          <p:nvPr/>
        </p:nvSpPr>
        <p:spPr>
          <a:xfrm>
            <a:off x="67399" y="1888153"/>
            <a:ext cx="8771801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deleteElement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[],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n,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key) {</a:t>
            </a:r>
          </a:p>
          <a:p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    // Find position of element to be deleted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pos =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findElement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n, key);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(pos == -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"Element not found"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n;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    // Deleting element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= pos;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&lt; n -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 =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+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n -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5E8B20E-47C8-412C-9E3A-CFA9979B3809}"/>
              </a:ext>
            </a:extLst>
          </p:cNvPr>
          <p:cNvGrpSpPr/>
          <p:nvPr/>
        </p:nvGrpSpPr>
        <p:grpSpPr>
          <a:xfrm>
            <a:off x="2057400" y="685800"/>
            <a:ext cx="3048000" cy="685800"/>
            <a:chOff x="4724400" y="1066800"/>
            <a:chExt cx="3048000" cy="6858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80A3881-5F9B-4899-94FB-C670F99CC38C}"/>
                </a:ext>
              </a:extLst>
            </p:cNvPr>
            <p:cNvSpPr/>
            <p:nvPr/>
          </p:nvSpPr>
          <p:spPr>
            <a:xfrm>
              <a:off x="47244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F3EE08E-B8DF-4DBC-934B-0838B82A1B57}"/>
                </a:ext>
              </a:extLst>
            </p:cNvPr>
            <p:cNvSpPr/>
            <p:nvPr/>
          </p:nvSpPr>
          <p:spPr>
            <a:xfrm>
              <a:off x="53340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50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F67B594-A647-4B57-AABF-6340B9C7C6C9}"/>
                </a:ext>
              </a:extLst>
            </p:cNvPr>
            <p:cNvSpPr/>
            <p:nvPr/>
          </p:nvSpPr>
          <p:spPr>
            <a:xfrm>
              <a:off x="5943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30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3314111-CD0D-49C8-B043-7D565798AD90}"/>
                </a:ext>
              </a:extLst>
            </p:cNvPr>
            <p:cNvSpPr/>
            <p:nvPr/>
          </p:nvSpPr>
          <p:spPr>
            <a:xfrm>
              <a:off x="65532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40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89FD87B-D766-4410-BB87-1B890050C147}"/>
                </a:ext>
              </a:extLst>
            </p:cNvPr>
            <p:cNvSpPr/>
            <p:nvPr/>
          </p:nvSpPr>
          <p:spPr>
            <a:xfrm>
              <a:off x="71628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91D62C79-6057-41EC-8586-EBF248D56DB5}"/>
              </a:ext>
            </a:extLst>
          </p:cNvPr>
          <p:cNvSpPr/>
          <p:nvPr/>
        </p:nvSpPr>
        <p:spPr>
          <a:xfrm>
            <a:off x="5257800" y="838200"/>
            <a:ext cx="9144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342A0B-36E1-4CC3-BB75-0A8CF008A3B3}"/>
              </a:ext>
            </a:extLst>
          </p:cNvPr>
          <p:cNvSpPr/>
          <p:nvPr/>
        </p:nvSpPr>
        <p:spPr>
          <a:xfrm>
            <a:off x="6477000" y="838200"/>
            <a:ext cx="11430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key=30</a:t>
            </a:r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09B5ADD1-3247-417F-BEE1-557043278F10}"/>
              </a:ext>
            </a:extLst>
          </p:cNvPr>
          <p:cNvSpPr/>
          <p:nvPr/>
        </p:nvSpPr>
        <p:spPr>
          <a:xfrm>
            <a:off x="4152900" y="13716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C57023B5-3766-4788-B10B-D50B51B66A58}"/>
              </a:ext>
            </a:extLst>
          </p:cNvPr>
          <p:cNvSpPr/>
          <p:nvPr/>
        </p:nvSpPr>
        <p:spPr>
          <a:xfrm>
            <a:off x="5562600" y="12954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6E9A84E6-E0CF-404D-9F52-57A2A0CD2813}"/>
              </a:ext>
            </a:extLst>
          </p:cNvPr>
          <p:cNvSpPr/>
          <p:nvPr/>
        </p:nvSpPr>
        <p:spPr>
          <a:xfrm>
            <a:off x="6858000" y="13716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03BBDD6F-ACEA-4683-B57F-5677B45BDD30}"/>
              </a:ext>
            </a:extLst>
          </p:cNvPr>
          <p:cNvSpPr/>
          <p:nvPr/>
        </p:nvSpPr>
        <p:spPr>
          <a:xfrm>
            <a:off x="1364675" y="2590800"/>
            <a:ext cx="5340924" cy="533400"/>
          </a:xfrm>
          <a:prstGeom prst="roundRect">
            <a:avLst/>
          </a:prstGeom>
          <a:noFill/>
          <a:ln w="412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AF5CBDA-6188-42AE-848F-3CE6941BEDCE}"/>
              </a:ext>
            </a:extLst>
          </p:cNvPr>
          <p:cNvSpPr/>
          <p:nvPr/>
        </p:nvSpPr>
        <p:spPr>
          <a:xfrm>
            <a:off x="7317075" y="2606874"/>
            <a:ext cx="13716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pos=2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63A46CF1-E6E2-46F2-AD21-987FEFA9E747}"/>
              </a:ext>
            </a:extLst>
          </p:cNvPr>
          <p:cNvSpPr/>
          <p:nvPr/>
        </p:nvSpPr>
        <p:spPr>
          <a:xfrm>
            <a:off x="7088475" y="2759276"/>
            <a:ext cx="533400" cy="3047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10CB235-5177-4FA2-85D0-615304BCA670}"/>
              </a:ext>
            </a:extLst>
          </p:cNvPr>
          <p:cNvGrpSpPr/>
          <p:nvPr/>
        </p:nvGrpSpPr>
        <p:grpSpPr>
          <a:xfrm>
            <a:off x="6019800" y="5150179"/>
            <a:ext cx="3048000" cy="685800"/>
            <a:chOff x="4724400" y="1066800"/>
            <a:chExt cx="3048000" cy="6858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8D7936D-BBF4-4A07-9A3D-B0D2BB1ED7E3}"/>
                </a:ext>
              </a:extLst>
            </p:cNvPr>
            <p:cNvSpPr/>
            <p:nvPr/>
          </p:nvSpPr>
          <p:spPr>
            <a:xfrm>
              <a:off x="47244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D8D95DD-4CF8-4333-8FC6-A3CF7464E497}"/>
                </a:ext>
              </a:extLst>
            </p:cNvPr>
            <p:cNvSpPr/>
            <p:nvPr/>
          </p:nvSpPr>
          <p:spPr>
            <a:xfrm>
              <a:off x="53340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50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2B790FA-32FB-4DC2-9CC6-2D98906214D0}"/>
                </a:ext>
              </a:extLst>
            </p:cNvPr>
            <p:cNvSpPr/>
            <p:nvPr/>
          </p:nvSpPr>
          <p:spPr>
            <a:xfrm>
              <a:off x="5943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40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4C4BF07-68A5-467D-9FF2-0801CBC6D637}"/>
                </a:ext>
              </a:extLst>
            </p:cNvPr>
            <p:cNvSpPr/>
            <p:nvPr/>
          </p:nvSpPr>
          <p:spPr>
            <a:xfrm>
              <a:off x="65532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40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6C0B93B-967B-4961-928F-A60EFF66511D}"/>
                </a:ext>
              </a:extLst>
            </p:cNvPr>
            <p:cNvSpPr/>
            <p:nvPr/>
          </p:nvSpPr>
          <p:spPr>
            <a:xfrm>
              <a:off x="71628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95B4AE6-61DF-4800-BB42-3DC154EFF2A1}"/>
              </a:ext>
            </a:extLst>
          </p:cNvPr>
          <p:cNvGrpSpPr/>
          <p:nvPr/>
        </p:nvGrpSpPr>
        <p:grpSpPr>
          <a:xfrm>
            <a:off x="7848602" y="4325336"/>
            <a:ext cx="609598" cy="824843"/>
            <a:chOff x="5715000" y="3048000"/>
            <a:chExt cx="609598" cy="824843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316476C-2D01-4133-8564-C071ECBD39C8}"/>
                </a:ext>
              </a:extLst>
            </p:cNvPr>
            <p:cNvSpPr/>
            <p:nvPr/>
          </p:nvSpPr>
          <p:spPr>
            <a:xfrm>
              <a:off x="5715000" y="3048000"/>
              <a:ext cx="609598" cy="533400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=3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4726B0BB-ED3D-4883-A3FB-D00E15B480AC}"/>
                </a:ext>
              </a:extLst>
            </p:cNvPr>
            <p:cNvCxnSpPr/>
            <p:nvPr/>
          </p:nvCxnSpPr>
          <p:spPr>
            <a:xfrm>
              <a:off x="5981700" y="3426738"/>
              <a:ext cx="0" cy="446105"/>
            </a:xfrm>
            <a:prstGeom prst="straightConnector1">
              <a:avLst/>
            </a:prstGeom>
            <a:ln w="412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82238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0"/>
            <a:ext cx="64008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Delete in an unsorted array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EFC405-48F3-4D3B-9925-B82EEFCE0A5B}"/>
              </a:ext>
            </a:extLst>
          </p:cNvPr>
          <p:cNvSpPr txBox="1"/>
          <p:nvPr/>
        </p:nvSpPr>
        <p:spPr>
          <a:xfrm>
            <a:off x="67399" y="1888153"/>
            <a:ext cx="8771801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deleteElement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[],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n,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key) {</a:t>
            </a:r>
          </a:p>
          <a:p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    // Find position of element to be deleted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pos =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findElement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n, key);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(pos == -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"Element not found"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n;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    // Deleting element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= pos;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&lt; n -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 =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+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n -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5E8B20E-47C8-412C-9E3A-CFA9979B3809}"/>
              </a:ext>
            </a:extLst>
          </p:cNvPr>
          <p:cNvGrpSpPr/>
          <p:nvPr/>
        </p:nvGrpSpPr>
        <p:grpSpPr>
          <a:xfrm>
            <a:off x="2057400" y="685800"/>
            <a:ext cx="3048000" cy="685800"/>
            <a:chOff x="4724400" y="1066800"/>
            <a:chExt cx="3048000" cy="6858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80A3881-5F9B-4899-94FB-C670F99CC38C}"/>
                </a:ext>
              </a:extLst>
            </p:cNvPr>
            <p:cNvSpPr/>
            <p:nvPr/>
          </p:nvSpPr>
          <p:spPr>
            <a:xfrm>
              <a:off x="47244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F3EE08E-B8DF-4DBC-934B-0838B82A1B57}"/>
                </a:ext>
              </a:extLst>
            </p:cNvPr>
            <p:cNvSpPr/>
            <p:nvPr/>
          </p:nvSpPr>
          <p:spPr>
            <a:xfrm>
              <a:off x="53340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50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F67B594-A647-4B57-AABF-6340B9C7C6C9}"/>
                </a:ext>
              </a:extLst>
            </p:cNvPr>
            <p:cNvSpPr/>
            <p:nvPr/>
          </p:nvSpPr>
          <p:spPr>
            <a:xfrm>
              <a:off x="5943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30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3314111-CD0D-49C8-B043-7D565798AD90}"/>
                </a:ext>
              </a:extLst>
            </p:cNvPr>
            <p:cNvSpPr/>
            <p:nvPr/>
          </p:nvSpPr>
          <p:spPr>
            <a:xfrm>
              <a:off x="65532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40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89FD87B-D766-4410-BB87-1B890050C147}"/>
                </a:ext>
              </a:extLst>
            </p:cNvPr>
            <p:cNvSpPr/>
            <p:nvPr/>
          </p:nvSpPr>
          <p:spPr>
            <a:xfrm>
              <a:off x="71628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91D62C79-6057-41EC-8586-EBF248D56DB5}"/>
              </a:ext>
            </a:extLst>
          </p:cNvPr>
          <p:cNvSpPr/>
          <p:nvPr/>
        </p:nvSpPr>
        <p:spPr>
          <a:xfrm>
            <a:off x="5257800" y="838200"/>
            <a:ext cx="9144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342A0B-36E1-4CC3-BB75-0A8CF008A3B3}"/>
              </a:ext>
            </a:extLst>
          </p:cNvPr>
          <p:cNvSpPr/>
          <p:nvPr/>
        </p:nvSpPr>
        <p:spPr>
          <a:xfrm>
            <a:off x="6477000" y="838200"/>
            <a:ext cx="11430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key=30</a:t>
            </a:r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09B5ADD1-3247-417F-BEE1-557043278F10}"/>
              </a:ext>
            </a:extLst>
          </p:cNvPr>
          <p:cNvSpPr/>
          <p:nvPr/>
        </p:nvSpPr>
        <p:spPr>
          <a:xfrm>
            <a:off x="4152900" y="13716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C57023B5-3766-4788-B10B-D50B51B66A58}"/>
              </a:ext>
            </a:extLst>
          </p:cNvPr>
          <p:cNvSpPr/>
          <p:nvPr/>
        </p:nvSpPr>
        <p:spPr>
          <a:xfrm>
            <a:off x="5562600" y="12954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6E9A84E6-E0CF-404D-9F52-57A2A0CD2813}"/>
              </a:ext>
            </a:extLst>
          </p:cNvPr>
          <p:cNvSpPr/>
          <p:nvPr/>
        </p:nvSpPr>
        <p:spPr>
          <a:xfrm>
            <a:off x="6858000" y="13716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03BBDD6F-ACEA-4683-B57F-5677B45BDD30}"/>
              </a:ext>
            </a:extLst>
          </p:cNvPr>
          <p:cNvSpPr/>
          <p:nvPr/>
        </p:nvSpPr>
        <p:spPr>
          <a:xfrm>
            <a:off x="1364675" y="2590800"/>
            <a:ext cx="5340924" cy="533400"/>
          </a:xfrm>
          <a:prstGeom prst="roundRect">
            <a:avLst/>
          </a:prstGeom>
          <a:noFill/>
          <a:ln w="412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AF5CBDA-6188-42AE-848F-3CE6941BEDCE}"/>
              </a:ext>
            </a:extLst>
          </p:cNvPr>
          <p:cNvSpPr/>
          <p:nvPr/>
        </p:nvSpPr>
        <p:spPr>
          <a:xfrm>
            <a:off x="7317075" y="2606874"/>
            <a:ext cx="13716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pos=2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63A46CF1-E6E2-46F2-AD21-987FEFA9E747}"/>
              </a:ext>
            </a:extLst>
          </p:cNvPr>
          <p:cNvSpPr/>
          <p:nvPr/>
        </p:nvSpPr>
        <p:spPr>
          <a:xfrm>
            <a:off x="7088475" y="2759276"/>
            <a:ext cx="533400" cy="3047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10CB235-5177-4FA2-85D0-615304BCA670}"/>
              </a:ext>
            </a:extLst>
          </p:cNvPr>
          <p:cNvGrpSpPr/>
          <p:nvPr/>
        </p:nvGrpSpPr>
        <p:grpSpPr>
          <a:xfrm>
            <a:off x="6019800" y="5150179"/>
            <a:ext cx="3048000" cy="685800"/>
            <a:chOff x="4724400" y="1066800"/>
            <a:chExt cx="3048000" cy="6858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8D7936D-BBF4-4A07-9A3D-B0D2BB1ED7E3}"/>
                </a:ext>
              </a:extLst>
            </p:cNvPr>
            <p:cNvSpPr/>
            <p:nvPr/>
          </p:nvSpPr>
          <p:spPr>
            <a:xfrm>
              <a:off x="47244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D8D95DD-4CF8-4333-8FC6-A3CF7464E497}"/>
                </a:ext>
              </a:extLst>
            </p:cNvPr>
            <p:cNvSpPr/>
            <p:nvPr/>
          </p:nvSpPr>
          <p:spPr>
            <a:xfrm>
              <a:off x="53340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50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2B790FA-32FB-4DC2-9CC6-2D98906214D0}"/>
                </a:ext>
              </a:extLst>
            </p:cNvPr>
            <p:cNvSpPr/>
            <p:nvPr/>
          </p:nvSpPr>
          <p:spPr>
            <a:xfrm>
              <a:off x="5943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40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4C4BF07-68A5-467D-9FF2-0801CBC6D637}"/>
                </a:ext>
              </a:extLst>
            </p:cNvPr>
            <p:cNvSpPr/>
            <p:nvPr/>
          </p:nvSpPr>
          <p:spPr>
            <a:xfrm>
              <a:off x="65532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6C0B93B-967B-4961-928F-A60EFF66511D}"/>
                </a:ext>
              </a:extLst>
            </p:cNvPr>
            <p:cNvSpPr/>
            <p:nvPr/>
          </p:nvSpPr>
          <p:spPr>
            <a:xfrm>
              <a:off x="71628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95B4AE6-61DF-4800-BB42-3DC154EFF2A1}"/>
              </a:ext>
            </a:extLst>
          </p:cNvPr>
          <p:cNvGrpSpPr/>
          <p:nvPr/>
        </p:nvGrpSpPr>
        <p:grpSpPr>
          <a:xfrm>
            <a:off x="8458202" y="4325336"/>
            <a:ext cx="609598" cy="824843"/>
            <a:chOff x="5715000" y="3048000"/>
            <a:chExt cx="609598" cy="824843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316476C-2D01-4133-8564-C071ECBD39C8}"/>
                </a:ext>
              </a:extLst>
            </p:cNvPr>
            <p:cNvSpPr/>
            <p:nvPr/>
          </p:nvSpPr>
          <p:spPr>
            <a:xfrm>
              <a:off x="5715000" y="3048000"/>
              <a:ext cx="609598" cy="533400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=4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4726B0BB-ED3D-4883-A3FB-D00E15B480AC}"/>
                </a:ext>
              </a:extLst>
            </p:cNvPr>
            <p:cNvCxnSpPr/>
            <p:nvPr/>
          </p:nvCxnSpPr>
          <p:spPr>
            <a:xfrm>
              <a:off x="5981700" y="3426738"/>
              <a:ext cx="0" cy="446105"/>
            </a:xfrm>
            <a:prstGeom prst="straightConnector1">
              <a:avLst/>
            </a:prstGeom>
            <a:ln w="412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6BB143A9-48D6-4FC4-8CEB-C10EB0CE40DE}"/>
              </a:ext>
            </a:extLst>
          </p:cNvPr>
          <p:cNvSpPr/>
          <p:nvPr/>
        </p:nvSpPr>
        <p:spPr>
          <a:xfrm>
            <a:off x="488940" y="2286001"/>
            <a:ext cx="2314420" cy="3697942"/>
          </a:xfrm>
          <a:custGeom>
            <a:avLst/>
            <a:gdLst>
              <a:gd name="connsiteX0" fmla="*/ 2148572 w 2314420"/>
              <a:gd name="connsiteY0" fmla="*/ 2057400 h 2057400"/>
              <a:gd name="connsiteX1" fmla="*/ 2121678 w 2314420"/>
              <a:gd name="connsiteY1" fmla="*/ 1573306 h 2057400"/>
              <a:gd name="connsiteX2" fmla="*/ 212196 w 2314420"/>
              <a:gd name="connsiteY2" fmla="*/ 1452283 h 2057400"/>
              <a:gd name="connsiteX3" fmla="*/ 131514 w 2314420"/>
              <a:gd name="connsiteY3" fmla="*/ 0 h 2057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14420" h="2057400">
                <a:moveTo>
                  <a:pt x="2148572" y="2057400"/>
                </a:moveTo>
                <a:cubicBezTo>
                  <a:pt x="2296489" y="1865779"/>
                  <a:pt x="2444407" y="1674159"/>
                  <a:pt x="2121678" y="1573306"/>
                </a:cubicBezTo>
                <a:cubicBezTo>
                  <a:pt x="1798949" y="1472453"/>
                  <a:pt x="543890" y="1714501"/>
                  <a:pt x="212196" y="1452283"/>
                </a:cubicBezTo>
                <a:cubicBezTo>
                  <a:pt x="-119498" y="1190065"/>
                  <a:pt x="6008" y="595032"/>
                  <a:pt x="131514" y="0"/>
                </a:cubicBezTo>
              </a:path>
            </a:pathLst>
          </a:custGeom>
          <a:noFill/>
          <a:ln w="47625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382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112705"/>
            <a:ext cx="64008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Delete in an unsorted array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7E05DB-9A22-41EE-B491-0A9DE5110811}"/>
              </a:ext>
            </a:extLst>
          </p:cNvPr>
          <p:cNvSpPr txBox="1"/>
          <p:nvPr/>
        </p:nvSpPr>
        <p:spPr>
          <a:xfrm>
            <a:off x="76201" y="1076265"/>
            <a:ext cx="88392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main() {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[] = {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50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30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40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20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n = 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 / 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key =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30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"Array before deletion\n"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&lt; n;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 &lt;&lt;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 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n =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deleteElement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n, key);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"\n\</a:t>
            </a:r>
            <a:r>
              <a:rPr lang="en-US" sz="2400" dirty="0" err="1">
                <a:solidFill>
                  <a:srgbClr val="A31515"/>
                </a:solidFill>
                <a:latin typeface="Consolas" panose="020B0609020204030204" pitchFamily="49" charset="0"/>
              </a:rPr>
              <a:t>nArray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 after deletion\n"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&lt; n;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 &lt;&lt; 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 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62A2B10-3027-4CDE-8FA4-F133053154D4}"/>
              </a:ext>
            </a:extLst>
          </p:cNvPr>
          <p:cNvGrpSpPr/>
          <p:nvPr/>
        </p:nvGrpSpPr>
        <p:grpSpPr>
          <a:xfrm>
            <a:off x="5791200" y="1066800"/>
            <a:ext cx="3048000" cy="685800"/>
            <a:chOff x="4724400" y="1066800"/>
            <a:chExt cx="3048000" cy="6858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7265BD6-5682-44FA-B592-7901C19FE221}"/>
                </a:ext>
              </a:extLst>
            </p:cNvPr>
            <p:cNvSpPr/>
            <p:nvPr/>
          </p:nvSpPr>
          <p:spPr>
            <a:xfrm>
              <a:off x="47244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EE04041-CF38-4F98-8E73-E6480DA11FD6}"/>
                </a:ext>
              </a:extLst>
            </p:cNvPr>
            <p:cNvSpPr/>
            <p:nvPr/>
          </p:nvSpPr>
          <p:spPr>
            <a:xfrm>
              <a:off x="53340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50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F9BD904-0A9A-4E4E-A307-A832EE2EBB70}"/>
                </a:ext>
              </a:extLst>
            </p:cNvPr>
            <p:cNvSpPr/>
            <p:nvPr/>
          </p:nvSpPr>
          <p:spPr>
            <a:xfrm>
              <a:off x="5943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30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83462B4-FDD0-436F-81E3-E45A47C9FC4A}"/>
                </a:ext>
              </a:extLst>
            </p:cNvPr>
            <p:cNvSpPr/>
            <p:nvPr/>
          </p:nvSpPr>
          <p:spPr>
            <a:xfrm>
              <a:off x="65532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40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120CD05-5A91-45E3-AA9C-CEBDC5415BD9}"/>
                </a:ext>
              </a:extLst>
            </p:cNvPr>
            <p:cNvSpPr/>
            <p:nvPr/>
          </p:nvSpPr>
          <p:spPr>
            <a:xfrm>
              <a:off x="71628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</a:t>
              </a:r>
            </a:p>
          </p:txBody>
        </p:sp>
      </p:grp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1A667A69-09D4-458A-8D5F-3C0ABAAD8E1C}"/>
              </a:ext>
            </a:extLst>
          </p:cNvPr>
          <p:cNvSpPr/>
          <p:nvPr/>
        </p:nvSpPr>
        <p:spPr>
          <a:xfrm>
            <a:off x="4876800" y="1322295"/>
            <a:ext cx="914400" cy="2363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02A6DDA-112B-4C70-ABA2-9AE179EAEBA4}"/>
              </a:ext>
            </a:extLst>
          </p:cNvPr>
          <p:cNvSpPr/>
          <p:nvPr/>
        </p:nvSpPr>
        <p:spPr>
          <a:xfrm>
            <a:off x="7924800" y="2133600"/>
            <a:ext cx="9906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size=5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C6D3CF44-8C3C-4DB2-BB4A-A3B1D9156A07}"/>
              </a:ext>
            </a:extLst>
          </p:cNvPr>
          <p:cNvSpPr/>
          <p:nvPr/>
        </p:nvSpPr>
        <p:spPr>
          <a:xfrm>
            <a:off x="7239000" y="2286000"/>
            <a:ext cx="609600" cy="3125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46B45B-22CD-42C5-A133-0F9DA6B740CC}"/>
              </a:ext>
            </a:extLst>
          </p:cNvPr>
          <p:cNvSpPr/>
          <p:nvPr/>
        </p:nvSpPr>
        <p:spPr>
          <a:xfrm>
            <a:off x="4648200" y="2514600"/>
            <a:ext cx="11430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key=30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D6296755-EC42-4827-A4CC-C7B9BEFAF8A9}"/>
              </a:ext>
            </a:extLst>
          </p:cNvPr>
          <p:cNvSpPr/>
          <p:nvPr/>
        </p:nvSpPr>
        <p:spPr>
          <a:xfrm>
            <a:off x="3505200" y="2659251"/>
            <a:ext cx="914400" cy="2363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DC3477A-4721-425E-A237-90AE14C22EED}"/>
              </a:ext>
            </a:extLst>
          </p:cNvPr>
          <p:cNvSpPr/>
          <p:nvPr/>
        </p:nvSpPr>
        <p:spPr>
          <a:xfrm>
            <a:off x="6096000" y="3419535"/>
            <a:ext cx="2438400" cy="609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10  50  30  40  20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6CAE672-71CA-4B41-AA7E-5E97710E8B1F}"/>
              </a:ext>
            </a:extLst>
          </p:cNvPr>
          <p:cNvSpPr/>
          <p:nvPr/>
        </p:nvSpPr>
        <p:spPr>
          <a:xfrm>
            <a:off x="1364675" y="3962400"/>
            <a:ext cx="4731325" cy="533400"/>
          </a:xfrm>
          <a:prstGeom prst="roundRect">
            <a:avLst/>
          </a:prstGeom>
          <a:noFill/>
          <a:ln w="412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AA6CA98-6C10-4A76-A895-C95C47268CED}"/>
              </a:ext>
            </a:extLst>
          </p:cNvPr>
          <p:cNvSpPr/>
          <p:nvPr/>
        </p:nvSpPr>
        <p:spPr>
          <a:xfrm>
            <a:off x="7086600" y="3962400"/>
            <a:ext cx="13716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n=4</a:t>
            </a: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8EF7B64F-5F24-41DC-B7A2-28416E6AF22D}"/>
              </a:ext>
            </a:extLst>
          </p:cNvPr>
          <p:cNvSpPr/>
          <p:nvPr/>
        </p:nvSpPr>
        <p:spPr>
          <a:xfrm>
            <a:off x="6858000" y="4114802"/>
            <a:ext cx="533400" cy="3047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08BE86A-F885-4E2C-8DF1-15D7DB432695}"/>
              </a:ext>
            </a:extLst>
          </p:cNvPr>
          <p:cNvSpPr/>
          <p:nvPr/>
        </p:nvSpPr>
        <p:spPr>
          <a:xfrm>
            <a:off x="5791200" y="5105400"/>
            <a:ext cx="2438400" cy="609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10  50  40  20</a:t>
            </a:r>
          </a:p>
        </p:txBody>
      </p:sp>
    </p:spTree>
    <p:extLst>
      <p:ext uri="{BB962C8B-B14F-4D97-AF65-F5344CB8AC3E}">
        <p14:creationId xmlns:p14="http://schemas.microsoft.com/office/powerpoint/2010/main" val="2362975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 animBg="1"/>
      <p:bldP spid="2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112705"/>
            <a:ext cx="64008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Arrays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839624-3E80-4165-862D-FBDD23D15B07}"/>
              </a:ext>
            </a:extLst>
          </p:cNvPr>
          <p:cNvSpPr/>
          <p:nvPr/>
        </p:nvSpPr>
        <p:spPr>
          <a:xfrm>
            <a:off x="0" y="762000"/>
            <a:ext cx="9144000" cy="380998"/>
          </a:xfrm>
          <a:prstGeom prst="rect">
            <a:avLst/>
          </a:prstGeom>
          <a:solidFill>
            <a:schemeClr val="tx2"/>
          </a:solidFill>
          <a:ln cap="rnd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Search in sorted array (Binary Search)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60A103A-75AF-4595-873D-7EFA47018C38}"/>
                  </a:ext>
                </a:extLst>
              </p:cNvPr>
              <p:cNvSpPr txBox="1"/>
              <p:nvPr/>
            </p:nvSpPr>
            <p:spPr>
              <a:xfrm>
                <a:off x="152564" y="1295400"/>
                <a:ext cx="9000401" cy="12464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ts val="3000"/>
                  </a:lnSpc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In a sorted array, the search operation can be performed by using </a:t>
                </a:r>
                <a:r>
                  <a:rPr lang="en-US" sz="2400" b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binary search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. </a:t>
                </a:r>
                <a:r>
                  <a:rPr lang="en-US" sz="2400" b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Time Complexity</a:t>
                </a:r>
                <a:r>
                  <a:rPr lang="en-US" sz="24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of </a:t>
                </a:r>
                <a:r>
                  <a:rPr lang="en-US" sz="2400" b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Search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Operation in </a:t>
                </a:r>
                <a:r>
                  <a:rPr lang="en-US" sz="2400" b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sorted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array is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𝑶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(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𝑳𝒐𝒈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𝒏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)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[Using Binary Search]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60A103A-75AF-4595-873D-7EFA47018C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564" y="1295400"/>
                <a:ext cx="9000401" cy="1246495"/>
              </a:xfrm>
              <a:prstGeom prst="rect">
                <a:avLst/>
              </a:prstGeom>
              <a:blipFill>
                <a:blip r:embed="rId5"/>
                <a:stretch>
                  <a:fillRect l="-1016" t="-4412" r="-1084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2">
            <a:extLst>
              <a:ext uri="{FF2B5EF4-FFF2-40B4-BE49-F238E27FC236}">
                <a16:creationId xmlns:a16="http://schemas.microsoft.com/office/drawing/2014/main" id="{E914B541-8BA5-4C48-AB9F-917A01DAAF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095625"/>
            <a:ext cx="7620000" cy="3076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9109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112705"/>
            <a:ext cx="64008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Arrays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839624-3E80-4165-862D-FBDD23D15B07}"/>
              </a:ext>
            </a:extLst>
          </p:cNvPr>
          <p:cNvSpPr/>
          <p:nvPr/>
        </p:nvSpPr>
        <p:spPr>
          <a:xfrm>
            <a:off x="0" y="762000"/>
            <a:ext cx="9144000" cy="380998"/>
          </a:xfrm>
          <a:prstGeom prst="rect">
            <a:avLst/>
          </a:prstGeom>
          <a:solidFill>
            <a:schemeClr val="tx2"/>
          </a:solidFill>
          <a:ln cap="rnd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Search in sorted array (Binary Search)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D630BF-02DA-4A56-8DC0-0BEE8FE34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610" y="1447800"/>
            <a:ext cx="8226780" cy="477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045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112705"/>
            <a:ext cx="64008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Arrays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839624-3E80-4165-862D-FBDD23D15B07}"/>
              </a:ext>
            </a:extLst>
          </p:cNvPr>
          <p:cNvSpPr/>
          <p:nvPr/>
        </p:nvSpPr>
        <p:spPr>
          <a:xfrm>
            <a:off x="0" y="762000"/>
            <a:ext cx="9144000" cy="380998"/>
          </a:xfrm>
          <a:prstGeom prst="rect">
            <a:avLst/>
          </a:prstGeom>
          <a:solidFill>
            <a:schemeClr val="tx2"/>
          </a:solidFill>
          <a:ln cap="rnd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Search in sorted array (Binary Search)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09DA92-C5F5-4044-B00C-84AA813C9C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74" y="1752600"/>
            <a:ext cx="7677652" cy="456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600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112705"/>
            <a:ext cx="64008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Arrays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839624-3E80-4165-862D-FBDD23D15B07}"/>
              </a:ext>
            </a:extLst>
          </p:cNvPr>
          <p:cNvSpPr/>
          <p:nvPr/>
        </p:nvSpPr>
        <p:spPr>
          <a:xfrm>
            <a:off x="0" y="762000"/>
            <a:ext cx="9144000" cy="380998"/>
          </a:xfrm>
          <a:prstGeom prst="rect">
            <a:avLst/>
          </a:prstGeom>
          <a:solidFill>
            <a:schemeClr val="tx2"/>
          </a:solidFill>
          <a:ln cap="rnd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Search in sorted array (Binary Search)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316606-D1B6-4BEF-93D6-F9FE02D94C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675" y="1627499"/>
            <a:ext cx="7924800" cy="4468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882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112705"/>
            <a:ext cx="64008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Arrays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839624-3E80-4165-862D-FBDD23D15B07}"/>
              </a:ext>
            </a:extLst>
          </p:cNvPr>
          <p:cNvSpPr/>
          <p:nvPr/>
        </p:nvSpPr>
        <p:spPr>
          <a:xfrm>
            <a:off x="0" y="762000"/>
            <a:ext cx="9144000" cy="380998"/>
          </a:xfrm>
          <a:prstGeom prst="rect">
            <a:avLst/>
          </a:prstGeom>
          <a:solidFill>
            <a:schemeClr val="tx2"/>
          </a:solidFill>
          <a:ln cap="rnd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Search in sorted array (Binary Search)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63A12A-174A-432B-97DC-C77A6F547E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360" y="1371600"/>
            <a:ext cx="7713279" cy="5055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712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112705"/>
            <a:ext cx="64008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Arrays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839624-3E80-4165-862D-FBDD23D15B07}"/>
              </a:ext>
            </a:extLst>
          </p:cNvPr>
          <p:cNvSpPr/>
          <p:nvPr/>
        </p:nvSpPr>
        <p:spPr>
          <a:xfrm>
            <a:off x="0" y="762000"/>
            <a:ext cx="9144000" cy="380998"/>
          </a:xfrm>
          <a:prstGeom prst="rect">
            <a:avLst/>
          </a:prstGeom>
          <a:solidFill>
            <a:schemeClr val="tx2"/>
          </a:solidFill>
          <a:ln cap="rnd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Search in sorted array (Binary Search)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8E7DBF-EEEA-4195-B221-890BFD0C40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1905000"/>
            <a:ext cx="8153400" cy="464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847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112705"/>
            <a:ext cx="64008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Arrays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839624-3E80-4165-862D-FBDD23D15B07}"/>
              </a:ext>
            </a:extLst>
          </p:cNvPr>
          <p:cNvSpPr/>
          <p:nvPr/>
        </p:nvSpPr>
        <p:spPr>
          <a:xfrm>
            <a:off x="0" y="762000"/>
            <a:ext cx="9144000" cy="380998"/>
          </a:xfrm>
          <a:prstGeom prst="rect">
            <a:avLst/>
          </a:prstGeom>
          <a:solidFill>
            <a:schemeClr val="tx2"/>
          </a:solidFill>
          <a:ln cap="rnd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Search in sorted array (Binary Search)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D9A295-2373-4DE6-8CA2-BBD1FA619E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099" y="1752600"/>
            <a:ext cx="7877796" cy="4546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837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112705"/>
            <a:ext cx="64008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Arrays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839624-3E80-4165-862D-FBDD23D15B07}"/>
              </a:ext>
            </a:extLst>
          </p:cNvPr>
          <p:cNvSpPr/>
          <p:nvPr/>
        </p:nvSpPr>
        <p:spPr>
          <a:xfrm>
            <a:off x="0" y="762000"/>
            <a:ext cx="9144000" cy="380998"/>
          </a:xfrm>
          <a:prstGeom prst="rect">
            <a:avLst/>
          </a:prstGeom>
          <a:solidFill>
            <a:schemeClr val="tx2"/>
          </a:solidFill>
          <a:ln cap="rnd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Search in sorted array (Binary Search)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523500-C177-45B1-B929-4F047A816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676400"/>
            <a:ext cx="8125448" cy="4573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712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112705"/>
            <a:ext cx="64008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Arrays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839624-3E80-4165-862D-FBDD23D15B07}"/>
              </a:ext>
            </a:extLst>
          </p:cNvPr>
          <p:cNvSpPr/>
          <p:nvPr/>
        </p:nvSpPr>
        <p:spPr>
          <a:xfrm>
            <a:off x="0" y="762000"/>
            <a:ext cx="9144000" cy="380998"/>
          </a:xfrm>
          <a:prstGeom prst="rect">
            <a:avLst/>
          </a:prstGeom>
          <a:solidFill>
            <a:schemeClr val="tx2"/>
          </a:solidFill>
          <a:ln cap="rnd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Search in sorted array (Binary Search)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D91285-455D-43BA-B784-0DB61F7620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524000"/>
            <a:ext cx="8496922" cy="4920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903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112705"/>
            <a:ext cx="64008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Arrays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839624-3E80-4165-862D-FBDD23D15B07}"/>
              </a:ext>
            </a:extLst>
          </p:cNvPr>
          <p:cNvSpPr/>
          <p:nvPr/>
        </p:nvSpPr>
        <p:spPr>
          <a:xfrm>
            <a:off x="0" y="762000"/>
            <a:ext cx="9144000" cy="380998"/>
          </a:xfrm>
          <a:prstGeom prst="rect">
            <a:avLst/>
          </a:prstGeom>
          <a:solidFill>
            <a:schemeClr val="tx2"/>
          </a:solidFill>
          <a:ln cap="rnd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Search in sorted array (Binary Search)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E8631B-F4EB-47D8-B827-9EDE85117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9" y="1447800"/>
            <a:ext cx="8992855" cy="497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383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0"/>
            <a:ext cx="64008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Search in sorted array (Binary Search)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EFC405-48F3-4D3B-9925-B82EEFCE0A5B}"/>
              </a:ext>
            </a:extLst>
          </p:cNvPr>
          <p:cNvSpPr txBox="1"/>
          <p:nvPr/>
        </p:nvSpPr>
        <p:spPr>
          <a:xfrm>
            <a:off x="67399" y="838200"/>
            <a:ext cx="9000401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main() {</a:t>
            </a:r>
          </a:p>
          <a:p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[] = { </a:t>
            </a:r>
            <a:r>
              <a:rPr lang="en-US" sz="28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800" dirty="0">
                <a:solidFill>
                  <a:srgbClr val="098658"/>
                </a:solidFill>
                <a:latin typeface="Consolas" panose="020B0609020204030204" pitchFamily="49" charset="0"/>
              </a:rPr>
              <a:t>6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800" dirty="0">
                <a:solidFill>
                  <a:srgbClr val="098658"/>
                </a:solidFill>
                <a:latin typeface="Consolas" panose="020B0609020204030204" pitchFamily="49" charset="0"/>
              </a:rPr>
              <a:t>7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800" dirty="0">
                <a:solidFill>
                  <a:srgbClr val="098658"/>
                </a:solidFill>
                <a:latin typeface="Consolas" panose="020B0609020204030204" pitchFamily="49" charset="0"/>
              </a:rPr>
              <a:t>8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800" dirty="0">
                <a:solidFill>
                  <a:srgbClr val="098658"/>
                </a:solidFill>
                <a:latin typeface="Consolas" panose="020B0609020204030204" pitchFamily="49" charset="0"/>
              </a:rPr>
              <a:t>9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800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};</a:t>
            </a:r>
          </a:p>
          <a:p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n, key;</a:t>
            </a:r>
          </a:p>
          <a:p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n = </a:t>
            </a:r>
            <a:r>
              <a:rPr lang="en-US" sz="28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 / </a:t>
            </a:r>
            <a:r>
              <a:rPr lang="en-US" sz="28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8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key = </a:t>
            </a:r>
            <a:r>
              <a:rPr lang="en-US" sz="2800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index=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binarySearch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8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 n-</a:t>
            </a:r>
            <a:r>
              <a:rPr lang="en-US" sz="28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,key);</a:t>
            </a:r>
          </a:p>
          <a:p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2800" dirty="0">
                <a:solidFill>
                  <a:srgbClr val="A31515"/>
                </a:solidFill>
                <a:latin typeface="Consolas" panose="020B0609020204030204" pitchFamily="49" charset="0"/>
              </a:rPr>
              <a:t>"Index: "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index;</a:t>
            </a:r>
          </a:p>
          <a:p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8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1D62C79-6057-41EC-8586-EBF248D56DB5}"/>
              </a:ext>
            </a:extLst>
          </p:cNvPr>
          <p:cNvSpPr/>
          <p:nvPr/>
        </p:nvSpPr>
        <p:spPr>
          <a:xfrm>
            <a:off x="7772400" y="2555017"/>
            <a:ext cx="9144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n=6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342A0B-36E1-4CC3-BB75-0A8CF008A3B3}"/>
              </a:ext>
            </a:extLst>
          </p:cNvPr>
          <p:cNvSpPr/>
          <p:nvPr/>
        </p:nvSpPr>
        <p:spPr>
          <a:xfrm>
            <a:off x="6477000" y="2971800"/>
            <a:ext cx="11430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key=10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FA5DC890-2877-4385-8326-B7D9CE04008D}"/>
              </a:ext>
            </a:extLst>
          </p:cNvPr>
          <p:cNvSpPr/>
          <p:nvPr/>
        </p:nvSpPr>
        <p:spPr>
          <a:xfrm>
            <a:off x="4267200" y="1271488"/>
            <a:ext cx="914400" cy="2363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49CE944F-4F93-4D0A-BED2-9665A773405A}"/>
              </a:ext>
            </a:extLst>
          </p:cNvPr>
          <p:cNvSpPr/>
          <p:nvPr/>
        </p:nvSpPr>
        <p:spPr>
          <a:xfrm>
            <a:off x="6934200" y="2707417"/>
            <a:ext cx="914400" cy="2363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EEA86E80-57CE-4904-AFEF-9E3D93E9C87C}"/>
              </a:ext>
            </a:extLst>
          </p:cNvPr>
          <p:cNvSpPr/>
          <p:nvPr/>
        </p:nvSpPr>
        <p:spPr>
          <a:xfrm>
            <a:off x="5334000" y="3116451"/>
            <a:ext cx="914400" cy="2363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0AFBDC6-5B54-4664-B7BB-5F5FADB96B0F}"/>
              </a:ext>
            </a:extLst>
          </p:cNvPr>
          <p:cNvSpPr/>
          <p:nvPr/>
        </p:nvSpPr>
        <p:spPr>
          <a:xfrm>
            <a:off x="2209800" y="3429000"/>
            <a:ext cx="6019800" cy="533400"/>
          </a:xfrm>
          <a:prstGeom prst="roundRect">
            <a:avLst/>
          </a:prstGeom>
          <a:noFill/>
          <a:ln w="412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FD21159-1188-4686-A898-CDE2A0CC40BD}"/>
              </a:ext>
            </a:extLst>
          </p:cNvPr>
          <p:cNvGrpSpPr/>
          <p:nvPr/>
        </p:nvGrpSpPr>
        <p:grpSpPr>
          <a:xfrm>
            <a:off x="5181600" y="1053371"/>
            <a:ext cx="3657600" cy="699229"/>
            <a:chOff x="5181600" y="1053371"/>
            <a:chExt cx="3657600" cy="69922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B5E8B20E-47C8-412C-9E3A-CFA9979B3809}"/>
                </a:ext>
              </a:extLst>
            </p:cNvPr>
            <p:cNvGrpSpPr/>
            <p:nvPr/>
          </p:nvGrpSpPr>
          <p:grpSpPr>
            <a:xfrm>
              <a:off x="5181600" y="1053371"/>
              <a:ext cx="3048000" cy="685800"/>
              <a:chOff x="4724400" y="1066800"/>
              <a:chExt cx="3048000" cy="68580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80A3881-5F9B-4899-94FB-C670F99CC38C}"/>
                  </a:ext>
                </a:extLst>
              </p:cNvPr>
              <p:cNvSpPr/>
              <p:nvPr/>
            </p:nvSpPr>
            <p:spPr>
              <a:xfrm>
                <a:off x="47244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F3EE08E-B8DF-4DBC-934B-0838B82A1B57}"/>
                  </a:ext>
                </a:extLst>
              </p:cNvPr>
              <p:cNvSpPr/>
              <p:nvPr/>
            </p:nvSpPr>
            <p:spPr>
              <a:xfrm>
                <a:off x="53340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F67B594-A647-4B57-AABF-6340B9C7C6C9}"/>
                  </a:ext>
                </a:extLst>
              </p:cNvPr>
              <p:cNvSpPr/>
              <p:nvPr/>
            </p:nvSpPr>
            <p:spPr>
              <a:xfrm>
                <a:off x="59436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3314111-CD0D-49C8-B043-7D565798AD90}"/>
                  </a:ext>
                </a:extLst>
              </p:cNvPr>
              <p:cNvSpPr/>
              <p:nvPr/>
            </p:nvSpPr>
            <p:spPr>
              <a:xfrm>
                <a:off x="65532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989FD87B-D766-4410-BB87-1B890050C147}"/>
                  </a:ext>
                </a:extLst>
              </p:cNvPr>
              <p:cNvSpPr/>
              <p:nvPr/>
            </p:nvSpPr>
            <p:spPr>
              <a:xfrm>
                <a:off x="71628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9</a:t>
                </a:r>
              </a:p>
            </p:txBody>
          </p:sp>
        </p:grp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AD12DA8-1328-46AD-936C-E45253A9051D}"/>
                </a:ext>
              </a:extLst>
            </p:cNvPr>
            <p:cNvSpPr/>
            <p:nvPr/>
          </p:nvSpPr>
          <p:spPr>
            <a:xfrm>
              <a:off x="8229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1835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2" grpId="0"/>
      <p:bldP spid="23" grpId="0"/>
      <p:bldP spid="13" grpId="0" animBg="1"/>
      <p:bldP spid="24" grpId="0" animBg="1"/>
      <p:bldP spid="25" grpId="0" animBg="1"/>
      <p:bldP spid="2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0"/>
            <a:ext cx="64008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Delete in an unsorted array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EFC405-48F3-4D3B-9925-B82EEFCE0A5B}"/>
              </a:ext>
            </a:extLst>
          </p:cNvPr>
          <p:cNvSpPr txBox="1"/>
          <p:nvPr/>
        </p:nvSpPr>
        <p:spPr>
          <a:xfrm>
            <a:off x="67399" y="1888153"/>
            <a:ext cx="877180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binarySearch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[],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low,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high,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key){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(high &lt; low)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-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mid = (low + high) /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(key ==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[mid])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mid;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(key &gt;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[mid])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binarySearch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(mid +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), high, key);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binarySearch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low, (mid -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), key);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1D62C79-6057-41EC-8586-EBF248D56DB5}"/>
              </a:ext>
            </a:extLst>
          </p:cNvPr>
          <p:cNvSpPr/>
          <p:nvPr/>
        </p:nvSpPr>
        <p:spPr>
          <a:xfrm>
            <a:off x="5257800" y="838200"/>
            <a:ext cx="9144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low=0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342A0B-36E1-4CC3-BB75-0A8CF008A3B3}"/>
              </a:ext>
            </a:extLst>
          </p:cNvPr>
          <p:cNvSpPr/>
          <p:nvPr/>
        </p:nvSpPr>
        <p:spPr>
          <a:xfrm>
            <a:off x="6477000" y="838200"/>
            <a:ext cx="11430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heigh=5</a:t>
            </a:r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09B5ADD1-3247-417F-BEE1-557043278F10}"/>
              </a:ext>
            </a:extLst>
          </p:cNvPr>
          <p:cNvSpPr/>
          <p:nvPr/>
        </p:nvSpPr>
        <p:spPr>
          <a:xfrm>
            <a:off x="3810000" y="1377039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C57023B5-3766-4788-B10B-D50B51B66A58}"/>
              </a:ext>
            </a:extLst>
          </p:cNvPr>
          <p:cNvSpPr/>
          <p:nvPr/>
        </p:nvSpPr>
        <p:spPr>
          <a:xfrm>
            <a:off x="5562600" y="12954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6E9A84E6-E0CF-404D-9F52-57A2A0CD2813}"/>
              </a:ext>
            </a:extLst>
          </p:cNvPr>
          <p:cNvSpPr/>
          <p:nvPr/>
        </p:nvSpPr>
        <p:spPr>
          <a:xfrm>
            <a:off x="6858000" y="13716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18C83A8-2EB0-43C1-A890-9BE0E0A6F3FC}"/>
              </a:ext>
            </a:extLst>
          </p:cNvPr>
          <p:cNvGrpSpPr/>
          <p:nvPr/>
        </p:nvGrpSpPr>
        <p:grpSpPr>
          <a:xfrm>
            <a:off x="1295400" y="714466"/>
            <a:ext cx="3657600" cy="699229"/>
            <a:chOff x="5181600" y="1053371"/>
            <a:chExt cx="3657600" cy="699229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E1132BF3-AEC4-416D-A78C-00AF9919EA8F}"/>
                </a:ext>
              </a:extLst>
            </p:cNvPr>
            <p:cNvGrpSpPr/>
            <p:nvPr/>
          </p:nvGrpSpPr>
          <p:grpSpPr>
            <a:xfrm>
              <a:off x="5181600" y="1053371"/>
              <a:ext cx="3048000" cy="685800"/>
              <a:chOff x="4724400" y="1066800"/>
              <a:chExt cx="3048000" cy="685800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FA3A892B-8788-40F0-93A2-F3F586D91C19}"/>
                  </a:ext>
                </a:extLst>
              </p:cNvPr>
              <p:cNvSpPr/>
              <p:nvPr/>
            </p:nvSpPr>
            <p:spPr>
              <a:xfrm>
                <a:off x="47244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E221D4C1-FF9D-4D74-A209-AA2F3583E5BF}"/>
                  </a:ext>
                </a:extLst>
              </p:cNvPr>
              <p:cNvSpPr/>
              <p:nvPr/>
            </p:nvSpPr>
            <p:spPr>
              <a:xfrm>
                <a:off x="53340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935CEF06-BD72-4FF4-B945-1B4243E17749}"/>
                  </a:ext>
                </a:extLst>
              </p:cNvPr>
              <p:cNvSpPr/>
              <p:nvPr/>
            </p:nvSpPr>
            <p:spPr>
              <a:xfrm>
                <a:off x="59436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BF95C58C-D292-4A1E-A130-B0096160E33D}"/>
                  </a:ext>
                </a:extLst>
              </p:cNvPr>
              <p:cNvSpPr/>
              <p:nvPr/>
            </p:nvSpPr>
            <p:spPr>
              <a:xfrm>
                <a:off x="65532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EF56AA6C-C609-4354-A0AF-7B0D4D8685AF}"/>
                  </a:ext>
                </a:extLst>
              </p:cNvPr>
              <p:cNvSpPr/>
              <p:nvPr/>
            </p:nvSpPr>
            <p:spPr>
              <a:xfrm>
                <a:off x="71628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9</a:t>
                </a:r>
              </a:p>
            </p:txBody>
          </p:sp>
        </p:grp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0F242DA-40B4-42F2-A41C-B52EFB0AD0D3}"/>
                </a:ext>
              </a:extLst>
            </p:cNvPr>
            <p:cNvSpPr/>
            <p:nvPr/>
          </p:nvSpPr>
          <p:spPr>
            <a:xfrm>
              <a:off x="8229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FB09E906-0BAB-4D29-834D-B0C644DA30BF}"/>
              </a:ext>
            </a:extLst>
          </p:cNvPr>
          <p:cNvSpPr/>
          <p:nvPr/>
        </p:nvSpPr>
        <p:spPr>
          <a:xfrm>
            <a:off x="7772400" y="762000"/>
            <a:ext cx="11430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key=10</a:t>
            </a:r>
          </a:p>
        </p:txBody>
      </p:sp>
      <p:sp>
        <p:nvSpPr>
          <p:cNvPr id="34" name="Arrow: Down 33">
            <a:extLst>
              <a:ext uri="{FF2B5EF4-FFF2-40B4-BE49-F238E27FC236}">
                <a16:creationId xmlns:a16="http://schemas.microsoft.com/office/drawing/2014/main" id="{82C7957F-0981-4621-8033-11A84D84DBF7}"/>
              </a:ext>
            </a:extLst>
          </p:cNvPr>
          <p:cNvSpPr/>
          <p:nvPr/>
        </p:nvSpPr>
        <p:spPr>
          <a:xfrm>
            <a:off x="8153400" y="12954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C37675E-B9EA-466B-B1E4-19836E6E2361}"/>
              </a:ext>
            </a:extLst>
          </p:cNvPr>
          <p:cNvSpPr/>
          <p:nvPr/>
        </p:nvSpPr>
        <p:spPr>
          <a:xfrm>
            <a:off x="3733800" y="2967734"/>
            <a:ext cx="13716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mid=2</a:t>
            </a:r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9D621AB5-17A1-4F4A-8314-13EE59489882}"/>
              </a:ext>
            </a:extLst>
          </p:cNvPr>
          <p:cNvSpPr/>
          <p:nvPr/>
        </p:nvSpPr>
        <p:spPr>
          <a:xfrm>
            <a:off x="3276600" y="3124202"/>
            <a:ext cx="533400" cy="3047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A90B1D1-96C6-44EF-8F40-33AC6F5E479B}"/>
              </a:ext>
            </a:extLst>
          </p:cNvPr>
          <p:cNvGrpSpPr/>
          <p:nvPr/>
        </p:nvGrpSpPr>
        <p:grpSpPr>
          <a:xfrm>
            <a:off x="4953000" y="3962400"/>
            <a:ext cx="3657600" cy="699229"/>
            <a:chOff x="5181600" y="1053371"/>
            <a:chExt cx="3657600" cy="699229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ACFD0C1D-45FA-44A0-9315-C7CC1021EBF3}"/>
                </a:ext>
              </a:extLst>
            </p:cNvPr>
            <p:cNvGrpSpPr/>
            <p:nvPr/>
          </p:nvGrpSpPr>
          <p:grpSpPr>
            <a:xfrm>
              <a:off x="5181600" y="1053371"/>
              <a:ext cx="3048000" cy="685800"/>
              <a:chOff x="4724400" y="1066800"/>
              <a:chExt cx="3048000" cy="685800"/>
            </a:xfrm>
          </p:grpSpPr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600956E7-0B1A-4C30-ACDB-2BB1EBC466AD}"/>
                  </a:ext>
                </a:extLst>
              </p:cNvPr>
              <p:cNvSpPr/>
              <p:nvPr/>
            </p:nvSpPr>
            <p:spPr>
              <a:xfrm>
                <a:off x="47244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572BB2F1-E6BF-4B0A-8A4B-BE4ED10A293A}"/>
                  </a:ext>
                </a:extLst>
              </p:cNvPr>
              <p:cNvSpPr/>
              <p:nvPr/>
            </p:nvSpPr>
            <p:spPr>
              <a:xfrm>
                <a:off x="53340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9B173E5E-8092-44DA-93A9-03F121FDB610}"/>
                  </a:ext>
                </a:extLst>
              </p:cNvPr>
              <p:cNvSpPr/>
              <p:nvPr/>
            </p:nvSpPr>
            <p:spPr>
              <a:xfrm>
                <a:off x="59436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93A55636-0ECA-49C2-A33C-C573A5FDB4D0}"/>
                  </a:ext>
                </a:extLst>
              </p:cNvPr>
              <p:cNvSpPr/>
              <p:nvPr/>
            </p:nvSpPr>
            <p:spPr>
              <a:xfrm>
                <a:off x="65532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</a:t>
                </a: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24703982-F428-4005-9B42-4355CC6785DA}"/>
                  </a:ext>
                </a:extLst>
              </p:cNvPr>
              <p:cNvSpPr/>
              <p:nvPr/>
            </p:nvSpPr>
            <p:spPr>
              <a:xfrm>
                <a:off x="71628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9</a:t>
                </a:r>
              </a:p>
            </p:txBody>
          </p:sp>
        </p:grp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9DD2666-032A-495C-A1C3-53884BB2D4C7}"/>
                </a:ext>
              </a:extLst>
            </p:cNvPr>
            <p:cNvSpPr/>
            <p:nvPr/>
          </p:nvSpPr>
          <p:spPr>
            <a:xfrm>
              <a:off x="8229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BE4AC38-EF3F-462C-883C-9425B1C2C3F8}"/>
              </a:ext>
            </a:extLst>
          </p:cNvPr>
          <p:cNvGrpSpPr/>
          <p:nvPr/>
        </p:nvGrpSpPr>
        <p:grpSpPr>
          <a:xfrm>
            <a:off x="8001000" y="2985157"/>
            <a:ext cx="838200" cy="824843"/>
            <a:chOff x="5715000" y="3048000"/>
            <a:chExt cx="609598" cy="824843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AAE9103C-5ACC-4CDA-9EAB-98D05F717830}"/>
                </a:ext>
              </a:extLst>
            </p:cNvPr>
            <p:cNvSpPr/>
            <p:nvPr/>
          </p:nvSpPr>
          <p:spPr>
            <a:xfrm>
              <a:off x="5715000" y="3048000"/>
              <a:ext cx="609598" cy="533400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H=5</a:t>
              </a:r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D59B161D-CB7F-43BB-A019-F22316296696}"/>
                </a:ext>
              </a:extLst>
            </p:cNvPr>
            <p:cNvCxnSpPr/>
            <p:nvPr/>
          </p:nvCxnSpPr>
          <p:spPr>
            <a:xfrm>
              <a:off x="5981700" y="3426738"/>
              <a:ext cx="0" cy="446105"/>
            </a:xfrm>
            <a:prstGeom prst="straightConnector1">
              <a:avLst/>
            </a:prstGeom>
            <a:ln w="412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3FA598C-BD3D-4C23-878C-B5B02DCF2567}"/>
              </a:ext>
            </a:extLst>
          </p:cNvPr>
          <p:cNvGrpSpPr/>
          <p:nvPr/>
        </p:nvGrpSpPr>
        <p:grpSpPr>
          <a:xfrm>
            <a:off x="4953000" y="3048000"/>
            <a:ext cx="838200" cy="824843"/>
            <a:chOff x="5715000" y="3048000"/>
            <a:chExt cx="609598" cy="824843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69D49D4D-A549-47BC-8F87-D55D6F60E33C}"/>
                </a:ext>
              </a:extLst>
            </p:cNvPr>
            <p:cNvSpPr/>
            <p:nvPr/>
          </p:nvSpPr>
          <p:spPr>
            <a:xfrm>
              <a:off x="5715000" y="3048000"/>
              <a:ext cx="609598" cy="533400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L=0</a:t>
              </a:r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9ECD852B-3736-4E18-8424-1AA92D0364EC}"/>
                </a:ext>
              </a:extLst>
            </p:cNvPr>
            <p:cNvCxnSpPr/>
            <p:nvPr/>
          </p:nvCxnSpPr>
          <p:spPr>
            <a:xfrm>
              <a:off x="5981700" y="3426738"/>
              <a:ext cx="0" cy="446105"/>
            </a:xfrm>
            <a:prstGeom prst="straightConnector1">
              <a:avLst/>
            </a:prstGeom>
            <a:ln w="412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4838EF5-10E2-4BE9-B25A-A916C2909D19}"/>
              </a:ext>
            </a:extLst>
          </p:cNvPr>
          <p:cNvGrpSpPr/>
          <p:nvPr/>
        </p:nvGrpSpPr>
        <p:grpSpPr>
          <a:xfrm>
            <a:off x="6019800" y="3048000"/>
            <a:ext cx="838200" cy="824843"/>
            <a:chOff x="5715000" y="3048000"/>
            <a:chExt cx="609598" cy="824843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7C751977-1F3A-47A1-82DE-010A8A7665C7}"/>
                </a:ext>
              </a:extLst>
            </p:cNvPr>
            <p:cNvSpPr/>
            <p:nvPr/>
          </p:nvSpPr>
          <p:spPr>
            <a:xfrm>
              <a:off x="5715000" y="3048000"/>
              <a:ext cx="609598" cy="533400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M=2</a:t>
              </a:r>
            </a:p>
          </p:txBody>
        </p: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DF955926-082D-40F9-BA3A-42696CFB551D}"/>
                </a:ext>
              </a:extLst>
            </p:cNvPr>
            <p:cNvCxnSpPr/>
            <p:nvPr/>
          </p:nvCxnSpPr>
          <p:spPr>
            <a:xfrm>
              <a:off x="5981700" y="3426738"/>
              <a:ext cx="0" cy="446105"/>
            </a:xfrm>
            <a:prstGeom prst="straightConnector1">
              <a:avLst/>
            </a:prstGeom>
            <a:ln w="412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DA8027FE-9E32-4838-A9DE-624F603EF932}"/>
              </a:ext>
            </a:extLst>
          </p:cNvPr>
          <p:cNvSpPr/>
          <p:nvPr/>
        </p:nvSpPr>
        <p:spPr>
          <a:xfrm>
            <a:off x="2514600" y="4800600"/>
            <a:ext cx="6477000" cy="533400"/>
          </a:xfrm>
          <a:prstGeom prst="roundRect">
            <a:avLst/>
          </a:prstGeom>
          <a:noFill/>
          <a:ln w="412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855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2" grpId="0"/>
      <p:bldP spid="23" grpId="0"/>
      <p:bldP spid="26" grpId="0" animBg="1"/>
      <p:bldP spid="27" grpId="0" animBg="1"/>
      <p:bldP spid="28" grpId="0" animBg="1"/>
      <p:bldP spid="33" grpId="0"/>
      <p:bldP spid="34" grpId="0" animBg="1"/>
      <p:bldP spid="35" grpId="0"/>
      <p:bldP spid="36" grpId="0" animBg="1"/>
      <p:bldP spid="5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0"/>
            <a:ext cx="64008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Delete in an unsorted array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EFC405-48F3-4D3B-9925-B82EEFCE0A5B}"/>
              </a:ext>
            </a:extLst>
          </p:cNvPr>
          <p:cNvSpPr txBox="1"/>
          <p:nvPr/>
        </p:nvSpPr>
        <p:spPr>
          <a:xfrm>
            <a:off x="67399" y="1888153"/>
            <a:ext cx="877180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binarySearch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[],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low,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high,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key){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(high &lt; low)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-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mid = (low + high) /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(key ==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[mid])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mid;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(key &gt;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[mid])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binarySearch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(mid +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), high, key);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binarySearch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low, (mid -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), key);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1D62C79-6057-41EC-8586-EBF248D56DB5}"/>
              </a:ext>
            </a:extLst>
          </p:cNvPr>
          <p:cNvSpPr/>
          <p:nvPr/>
        </p:nvSpPr>
        <p:spPr>
          <a:xfrm>
            <a:off x="5257800" y="838200"/>
            <a:ext cx="9144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low=3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342A0B-36E1-4CC3-BB75-0A8CF008A3B3}"/>
              </a:ext>
            </a:extLst>
          </p:cNvPr>
          <p:cNvSpPr/>
          <p:nvPr/>
        </p:nvSpPr>
        <p:spPr>
          <a:xfrm>
            <a:off x="6477000" y="838200"/>
            <a:ext cx="11430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heigh=5</a:t>
            </a:r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09B5ADD1-3247-417F-BEE1-557043278F10}"/>
              </a:ext>
            </a:extLst>
          </p:cNvPr>
          <p:cNvSpPr/>
          <p:nvPr/>
        </p:nvSpPr>
        <p:spPr>
          <a:xfrm>
            <a:off x="3810000" y="1377039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C57023B5-3766-4788-B10B-D50B51B66A58}"/>
              </a:ext>
            </a:extLst>
          </p:cNvPr>
          <p:cNvSpPr/>
          <p:nvPr/>
        </p:nvSpPr>
        <p:spPr>
          <a:xfrm>
            <a:off x="5562600" y="12954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6E9A84E6-E0CF-404D-9F52-57A2A0CD2813}"/>
              </a:ext>
            </a:extLst>
          </p:cNvPr>
          <p:cNvSpPr/>
          <p:nvPr/>
        </p:nvSpPr>
        <p:spPr>
          <a:xfrm>
            <a:off x="6858000" y="13716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18C83A8-2EB0-43C1-A890-9BE0E0A6F3FC}"/>
              </a:ext>
            </a:extLst>
          </p:cNvPr>
          <p:cNvGrpSpPr/>
          <p:nvPr/>
        </p:nvGrpSpPr>
        <p:grpSpPr>
          <a:xfrm>
            <a:off x="1295400" y="714466"/>
            <a:ext cx="3657600" cy="699229"/>
            <a:chOff x="5181600" y="1053371"/>
            <a:chExt cx="3657600" cy="699229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E1132BF3-AEC4-416D-A78C-00AF9919EA8F}"/>
                </a:ext>
              </a:extLst>
            </p:cNvPr>
            <p:cNvGrpSpPr/>
            <p:nvPr/>
          </p:nvGrpSpPr>
          <p:grpSpPr>
            <a:xfrm>
              <a:off x="5181600" y="1053371"/>
              <a:ext cx="3048000" cy="685800"/>
              <a:chOff x="4724400" y="1066800"/>
              <a:chExt cx="3048000" cy="685800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FA3A892B-8788-40F0-93A2-F3F586D91C19}"/>
                  </a:ext>
                </a:extLst>
              </p:cNvPr>
              <p:cNvSpPr/>
              <p:nvPr/>
            </p:nvSpPr>
            <p:spPr>
              <a:xfrm>
                <a:off x="47244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E221D4C1-FF9D-4D74-A209-AA2F3583E5BF}"/>
                  </a:ext>
                </a:extLst>
              </p:cNvPr>
              <p:cNvSpPr/>
              <p:nvPr/>
            </p:nvSpPr>
            <p:spPr>
              <a:xfrm>
                <a:off x="53340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935CEF06-BD72-4FF4-B945-1B4243E17749}"/>
                  </a:ext>
                </a:extLst>
              </p:cNvPr>
              <p:cNvSpPr/>
              <p:nvPr/>
            </p:nvSpPr>
            <p:spPr>
              <a:xfrm>
                <a:off x="59436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BF95C58C-D292-4A1E-A130-B0096160E33D}"/>
                  </a:ext>
                </a:extLst>
              </p:cNvPr>
              <p:cNvSpPr/>
              <p:nvPr/>
            </p:nvSpPr>
            <p:spPr>
              <a:xfrm>
                <a:off x="65532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EF56AA6C-C609-4354-A0AF-7B0D4D8685AF}"/>
                  </a:ext>
                </a:extLst>
              </p:cNvPr>
              <p:cNvSpPr/>
              <p:nvPr/>
            </p:nvSpPr>
            <p:spPr>
              <a:xfrm>
                <a:off x="71628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9</a:t>
                </a:r>
              </a:p>
            </p:txBody>
          </p:sp>
        </p:grp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0F242DA-40B4-42F2-A41C-B52EFB0AD0D3}"/>
                </a:ext>
              </a:extLst>
            </p:cNvPr>
            <p:cNvSpPr/>
            <p:nvPr/>
          </p:nvSpPr>
          <p:spPr>
            <a:xfrm>
              <a:off x="8229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FB09E906-0BAB-4D29-834D-B0C644DA30BF}"/>
              </a:ext>
            </a:extLst>
          </p:cNvPr>
          <p:cNvSpPr/>
          <p:nvPr/>
        </p:nvSpPr>
        <p:spPr>
          <a:xfrm>
            <a:off x="7772400" y="762000"/>
            <a:ext cx="11430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key=10</a:t>
            </a:r>
          </a:p>
        </p:txBody>
      </p:sp>
      <p:sp>
        <p:nvSpPr>
          <p:cNvPr id="34" name="Arrow: Down 33">
            <a:extLst>
              <a:ext uri="{FF2B5EF4-FFF2-40B4-BE49-F238E27FC236}">
                <a16:creationId xmlns:a16="http://schemas.microsoft.com/office/drawing/2014/main" id="{82C7957F-0981-4621-8033-11A84D84DBF7}"/>
              </a:ext>
            </a:extLst>
          </p:cNvPr>
          <p:cNvSpPr/>
          <p:nvPr/>
        </p:nvSpPr>
        <p:spPr>
          <a:xfrm>
            <a:off x="8153400" y="12954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C37675E-B9EA-466B-B1E4-19836E6E2361}"/>
              </a:ext>
            </a:extLst>
          </p:cNvPr>
          <p:cNvSpPr/>
          <p:nvPr/>
        </p:nvSpPr>
        <p:spPr>
          <a:xfrm>
            <a:off x="3733800" y="2967734"/>
            <a:ext cx="13716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mid=4</a:t>
            </a:r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9D621AB5-17A1-4F4A-8314-13EE59489882}"/>
              </a:ext>
            </a:extLst>
          </p:cNvPr>
          <p:cNvSpPr/>
          <p:nvPr/>
        </p:nvSpPr>
        <p:spPr>
          <a:xfrm>
            <a:off x="3276600" y="3124202"/>
            <a:ext cx="533400" cy="3047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A90B1D1-96C6-44EF-8F40-33AC6F5E479B}"/>
              </a:ext>
            </a:extLst>
          </p:cNvPr>
          <p:cNvGrpSpPr/>
          <p:nvPr/>
        </p:nvGrpSpPr>
        <p:grpSpPr>
          <a:xfrm>
            <a:off x="4953000" y="3962400"/>
            <a:ext cx="3657600" cy="699229"/>
            <a:chOff x="5181600" y="1053371"/>
            <a:chExt cx="3657600" cy="699229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ACFD0C1D-45FA-44A0-9315-C7CC1021EBF3}"/>
                </a:ext>
              </a:extLst>
            </p:cNvPr>
            <p:cNvGrpSpPr/>
            <p:nvPr/>
          </p:nvGrpSpPr>
          <p:grpSpPr>
            <a:xfrm>
              <a:off x="5181600" y="1053371"/>
              <a:ext cx="3048000" cy="685800"/>
              <a:chOff x="4724400" y="1066800"/>
              <a:chExt cx="3048000" cy="685800"/>
            </a:xfrm>
          </p:grpSpPr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600956E7-0B1A-4C30-ACDB-2BB1EBC466AD}"/>
                  </a:ext>
                </a:extLst>
              </p:cNvPr>
              <p:cNvSpPr/>
              <p:nvPr/>
            </p:nvSpPr>
            <p:spPr>
              <a:xfrm>
                <a:off x="47244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572BB2F1-E6BF-4B0A-8A4B-BE4ED10A293A}"/>
                  </a:ext>
                </a:extLst>
              </p:cNvPr>
              <p:cNvSpPr/>
              <p:nvPr/>
            </p:nvSpPr>
            <p:spPr>
              <a:xfrm>
                <a:off x="53340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9B173E5E-8092-44DA-93A9-03F121FDB610}"/>
                  </a:ext>
                </a:extLst>
              </p:cNvPr>
              <p:cNvSpPr/>
              <p:nvPr/>
            </p:nvSpPr>
            <p:spPr>
              <a:xfrm>
                <a:off x="59436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93A55636-0ECA-49C2-A33C-C573A5FDB4D0}"/>
                  </a:ext>
                </a:extLst>
              </p:cNvPr>
              <p:cNvSpPr/>
              <p:nvPr/>
            </p:nvSpPr>
            <p:spPr>
              <a:xfrm>
                <a:off x="65532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</a:t>
                </a: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24703982-F428-4005-9B42-4355CC6785DA}"/>
                  </a:ext>
                </a:extLst>
              </p:cNvPr>
              <p:cNvSpPr/>
              <p:nvPr/>
            </p:nvSpPr>
            <p:spPr>
              <a:xfrm>
                <a:off x="71628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9</a:t>
                </a:r>
              </a:p>
            </p:txBody>
          </p:sp>
        </p:grp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9DD2666-032A-495C-A1C3-53884BB2D4C7}"/>
                </a:ext>
              </a:extLst>
            </p:cNvPr>
            <p:cNvSpPr/>
            <p:nvPr/>
          </p:nvSpPr>
          <p:spPr>
            <a:xfrm>
              <a:off x="8229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BE4AC38-EF3F-462C-883C-9425B1C2C3F8}"/>
              </a:ext>
            </a:extLst>
          </p:cNvPr>
          <p:cNvGrpSpPr/>
          <p:nvPr/>
        </p:nvGrpSpPr>
        <p:grpSpPr>
          <a:xfrm>
            <a:off x="8001000" y="2985157"/>
            <a:ext cx="838200" cy="824843"/>
            <a:chOff x="5715000" y="3048000"/>
            <a:chExt cx="609598" cy="824843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AAE9103C-5ACC-4CDA-9EAB-98D05F717830}"/>
                </a:ext>
              </a:extLst>
            </p:cNvPr>
            <p:cNvSpPr/>
            <p:nvPr/>
          </p:nvSpPr>
          <p:spPr>
            <a:xfrm>
              <a:off x="5715000" y="3048000"/>
              <a:ext cx="609598" cy="533400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H=5</a:t>
              </a:r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D59B161D-CB7F-43BB-A019-F22316296696}"/>
                </a:ext>
              </a:extLst>
            </p:cNvPr>
            <p:cNvCxnSpPr/>
            <p:nvPr/>
          </p:nvCxnSpPr>
          <p:spPr>
            <a:xfrm>
              <a:off x="5981700" y="3426738"/>
              <a:ext cx="0" cy="446105"/>
            </a:xfrm>
            <a:prstGeom prst="straightConnector1">
              <a:avLst/>
            </a:prstGeom>
            <a:ln w="412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4838EF5-10E2-4BE9-B25A-A916C2909D19}"/>
              </a:ext>
            </a:extLst>
          </p:cNvPr>
          <p:cNvGrpSpPr/>
          <p:nvPr/>
        </p:nvGrpSpPr>
        <p:grpSpPr>
          <a:xfrm>
            <a:off x="6553200" y="3048000"/>
            <a:ext cx="1219200" cy="824843"/>
            <a:chOff x="5715000" y="3048000"/>
            <a:chExt cx="609598" cy="824843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7C751977-1F3A-47A1-82DE-010A8A7665C7}"/>
                </a:ext>
              </a:extLst>
            </p:cNvPr>
            <p:cNvSpPr/>
            <p:nvPr/>
          </p:nvSpPr>
          <p:spPr>
            <a:xfrm>
              <a:off x="5715000" y="3048000"/>
              <a:ext cx="609598" cy="533400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L=3</a:t>
              </a:r>
            </a:p>
          </p:txBody>
        </p: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DF955926-082D-40F9-BA3A-42696CFB551D}"/>
                </a:ext>
              </a:extLst>
            </p:cNvPr>
            <p:cNvCxnSpPr/>
            <p:nvPr/>
          </p:nvCxnSpPr>
          <p:spPr>
            <a:xfrm>
              <a:off x="5981700" y="3426738"/>
              <a:ext cx="0" cy="446105"/>
            </a:xfrm>
            <a:prstGeom prst="straightConnector1">
              <a:avLst/>
            </a:prstGeom>
            <a:ln w="412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DA8027FE-9E32-4838-A9DE-624F603EF932}"/>
              </a:ext>
            </a:extLst>
          </p:cNvPr>
          <p:cNvSpPr/>
          <p:nvPr/>
        </p:nvSpPr>
        <p:spPr>
          <a:xfrm>
            <a:off x="2514600" y="4800600"/>
            <a:ext cx="6477000" cy="533400"/>
          </a:xfrm>
          <a:prstGeom prst="roundRect">
            <a:avLst/>
          </a:prstGeom>
          <a:noFill/>
          <a:ln w="412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FDA6C56-49C7-4577-AC78-AE9A3DF251AC}"/>
              </a:ext>
            </a:extLst>
          </p:cNvPr>
          <p:cNvGrpSpPr/>
          <p:nvPr/>
        </p:nvGrpSpPr>
        <p:grpSpPr>
          <a:xfrm>
            <a:off x="7162800" y="3048000"/>
            <a:ext cx="1219200" cy="824843"/>
            <a:chOff x="5715000" y="3048000"/>
            <a:chExt cx="609598" cy="824843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103E55E5-C1C0-433F-9189-4B99EBA34896}"/>
                </a:ext>
              </a:extLst>
            </p:cNvPr>
            <p:cNvSpPr/>
            <p:nvPr/>
          </p:nvSpPr>
          <p:spPr>
            <a:xfrm>
              <a:off x="5715000" y="3048000"/>
              <a:ext cx="609598" cy="533400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M=4</a:t>
              </a: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5FF40BCB-C891-4048-B90C-0150A006953D}"/>
                </a:ext>
              </a:extLst>
            </p:cNvPr>
            <p:cNvCxnSpPr/>
            <p:nvPr/>
          </p:nvCxnSpPr>
          <p:spPr>
            <a:xfrm>
              <a:off x="5981700" y="3426738"/>
              <a:ext cx="0" cy="446105"/>
            </a:xfrm>
            <a:prstGeom prst="straightConnector1">
              <a:avLst/>
            </a:prstGeom>
            <a:ln w="412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61313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5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2" grpId="0"/>
      <p:bldP spid="23" grpId="0"/>
      <p:bldP spid="26" grpId="0" animBg="1"/>
      <p:bldP spid="27" grpId="0" animBg="1"/>
      <p:bldP spid="28" grpId="0" animBg="1"/>
      <p:bldP spid="33" grpId="0"/>
      <p:bldP spid="34" grpId="0" animBg="1"/>
      <p:bldP spid="35" grpId="0"/>
      <p:bldP spid="36" grpId="0" animBg="1"/>
      <p:bldP spid="55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0"/>
            <a:ext cx="64008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Delete in an unsorted array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EFC405-48F3-4D3B-9925-B82EEFCE0A5B}"/>
              </a:ext>
            </a:extLst>
          </p:cNvPr>
          <p:cNvSpPr txBox="1"/>
          <p:nvPr/>
        </p:nvSpPr>
        <p:spPr>
          <a:xfrm>
            <a:off x="67399" y="1888153"/>
            <a:ext cx="877180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binarySearch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[],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low,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high,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key){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(high &lt; low)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-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mid = (low + high) /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(key ==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[mid])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mid;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(key &gt;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[mid])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binarySearch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(mid +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), high, key);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binarySearch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low, (mid -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), key);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1D62C79-6057-41EC-8586-EBF248D56DB5}"/>
              </a:ext>
            </a:extLst>
          </p:cNvPr>
          <p:cNvSpPr/>
          <p:nvPr/>
        </p:nvSpPr>
        <p:spPr>
          <a:xfrm>
            <a:off x="5257800" y="838200"/>
            <a:ext cx="9144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low=5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342A0B-36E1-4CC3-BB75-0A8CF008A3B3}"/>
              </a:ext>
            </a:extLst>
          </p:cNvPr>
          <p:cNvSpPr/>
          <p:nvPr/>
        </p:nvSpPr>
        <p:spPr>
          <a:xfrm>
            <a:off x="6477000" y="838200"/>
            <a:ext cx="11430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heigh=5</a:t>
            </a:r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09B5ADD1-3247-417F-BEE1-557043278F10}"/>
              </a:ext>
            </a:extLst>
          </p:cNvPr>
          <p:cNvSpPr/>
          <p:nvPr/>
        </p:nvSpPr>
        <p:spPr>
          <a:xfrm>
            <a:off x="3810000" y="1377039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C57023B5-3766-4788-B10B-D50B51B66A58}"/>
              </a:ext>
            </a:extLst>
          </p:cNvPr>
          <p:cNvSpPr/>
          <p:nvPr/>
        </p:nvSpPr>
        <p:spPr>
          <a:xfrm>
            <a:off x="5562600" y="12954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6E9A84E6-E0CF-404D-9F52-57A2A0CD2813}"/>
              </a:ext>
            </a:extLst>
          </p:cNvPr>
          <p:cNvSpPr/>
          <p:nvPr/>
        </p:nvSpPr>
        <p:spPr>
          <a:xfrm>
            <a:off x="6858000" y="13716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18C83A8-2EB0-43C1-A890-9BE0E0A6F3FC}"/>
              </a:ext>
            </a:extLst>
          </p:cNvPr>
          <p:cNvGrpSpPr/>
          <p:nvPr/>
        </p:nvGrpSpPr>
        <p:grpSpPr>
          <a:xfrm>
            <a:off x="1295400" y="714466"/>
            <a:ext cx="3657600" cy="699229"/>
            <a:chOff x="5181600" y="1053371"/>
            <a:chExt cx="3657600" cy="699229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E1132BF3-AEC4-416D-A78C-00AF9919EA8F}"/>
                </a:ext>
              </a:extLst>
            </p:cNvPr>
            <p:cNvGrpSpPr/>
            <p:nvPr/>
          </p:nvGrpSpPr>
          <p:grpSpPr>
            <a:xfrm>
              <a:off x="5181600" y="1053371"/>
              <a:ext cx="3048000" cy="685800"/>
              <a:chOff x="4724400" y="1066800"/>
              <a:chExt cx="3048000" cy="685800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FA3A892B-8788-40F0-93A2-F3F586D91C19}"/>
                  </a:ext>
                </a:extLst>
              </p:cNvPr>
              <p:cNvSpPr/>
              <p:nvPr/>
            </p:nvSpPr>
            <p:spPr>
              <a:xfrm>
                <a:off x="47244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E221D4C1-FF9D-4D74-A209-AA2F3583E5BF}"/>
                  </a:ext>
                </a:extLst>
              </p:cNvPr>
              <p:cNvSpPr/>
              <p:nvPr/>
            </p:nvSpPr>
            <p:spPr>
              <a:xfrm>
                <a:off x="53340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935CEF06-BD72-4FF4-B945-1B4243E17749}"/>
                  </a:ext>
                </a:extLst>
              </p:cNvPr>
              <p:cNvSpPr/>
              <p:nvPr/>
            </p:nvSpPr>
            <p:spPr>
              <a:xfrm>
                <a:off x="59436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BF95C58C-D292-4A1E-A130-B0096160E33D}"/>
                  </a:ext>
                </a:extLst>
              </p:cNvPr>
              <p:cNvSpPr/>
              <p:nvPr/>
            </p:nvSpPr>
            <p:spPr>
              <a:xfrm>
                <a:off x="65532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EF56AA6C-C609-4354-A0AF-7B0D4D8685AF}"/>
                  </a:ext>
                </a:extLst>
              </p:cNvPr>
              <p:cNvSpPr/>
              <p:nvPr/>
            </p:nvSpPr>
            <p:spPr>
              <a:xfrm>
                <a:off x="71628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9</a:t>
                </a:r>
              </a:p>
            </p:txBody>
          </p:sp>
        </p:grp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0F242DA-40B4-42F2-A41C-B52EFB0AD0D3}"/>
                </a:ext>
              </a:extLst>
            </p:cNvPr>
            <p:cNvSpPr/>
            <p:nvPr/>
          </p:nvSpPr>
          <p:spPr>
            <a:xfrm>
              <a:off x="8229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FB09E906-0BAB-4D29-834D-B0C644DA30BF}"/>
              </a:ext>
            </a:extLst>
          </p:cNvPr>
          <p:cNvSpPr/>
          <p:nvPr/>
        </p:nvSpPr>
        <p:spPr>
          <a:xfrm>
            <a:off x="7772400" y="762000"/>
            <a:ext cx="11430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key=10</a:t>
            </a:r>
          </a:p>
        </p:txBody>
      </p:sp>
      <p:sp>
        <p:nvSpPr>
          <p:cNvPr id="34" name="Arrow: Down 33">
            <a:extLst>
              <a:ext uri="{FF2B5EF4-FFF2-40B4-BE49-F238E27FC236}">
                <a16:creationId xmlns:a16="http://schemas.microsoft.com/office/drawing/2014/main" id="{82C7957F-0981-4621-8033-11A84D84DBF7}"/>
              </a:ext>
            </a:extLst>
          </p:cNvPr>
          <p:cNvSpPr/>
          <p:nvPr/>
        </p:nvSpPr>
        <p:spPr>
          <a:xfrm>
            <a:off x="8153400" y="1295400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C37675E-B9EA-466B-B1E4-19836E6E2361}"/>
              </a:ext>
            </a:extLst>
          </p:cNvPr>
          <p:cNvSpPr/>
          <p:nvPr/>
        </p:nvSpPr>
        <p:spPr>
          <a:xfrm>
            <a:off x="3733800" y="2967734"/>
            <a:ext cx="13716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mid=5</a:t>
            </a:r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9D621AB5-17A1-4F4A-8314-13EE59489882}"/>
              </a:ext>
            </a:extLst>
          </p:cNvPr>
          <p:cNvSpPr/>
          <p:nvPr/>
        </p:nvSpPr>
        <p:spPr>
          <a:xfrm>
            <a:off x="3276600" y="3124202"/>
            <a:ext cx="533400" cy="3047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A90B1D1-96C6-44EF-8F40-33AC6F5E479B}"/>
              </a:ext>
            </a:extLst>
          </p:cNvPr>
          <p:cNvGrpSpPr/>
          <p:nvPr/>
        </p:nvGrpSpPr>
        <p:grpSpPr>
          <a:xfrm>
            <a:off x="4953000" y="3962400"/>
            <a:ext cx="3657600" cy="699229"/>
            <a:chOff x="5181600" y="1053371"/>
            <a:chExt cx="3657600" cy="699229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ACFD0C1D-45FA-44A0-9315-C7CC1021EBF3}"/>
                </a:ext>
              </a:extLst>
            </p:cNvPr>
            <p:cNvGrpSpPr/>
            <p:nvPr/>
          </p:nvGrpSpPr>
          <p:grpSpPr>
            <a:xfrm>
              <a:off x="5181600" y="1053371"/>
              <a:ext cx="3048000" cy="685800"/>
              <a:chOff x="4724400" y="1066800"/>
              <a:chExt cx="3048000" cy="685800"/>
            </a:xfrm>
          </p:grpSpPr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600956E7-0B1A-4C30-ACDB-2BB1EBC466AD}"/>
                  </a:ext>
                </a:extLst>
              </p:cNvPr>
              <p:cNvSpPr/>
              <p:nvPr/>
            </p:nvSpPr>
            <p:spPr>
              <a:xfrm>
                <a:off x="47244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572BB2F1-E6BF-4B0A-8A4B-BE4ED10A293A}"/>
                  </a:ext>
                </a:extLst>
              </p:cNvPr>
              <p:cNvSpPr/>
              <p:nvPr/>
            </p:nvSpPr>
            <p:spPr>
              <a:xfrm>
                <a:off x="53340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9B173E5E-8092-44DA-93A9-03F121FDB610}"/>
                  </a:ext>
                </a:extLst>
              </p:cNvPr>
              <p:cNvSpPr/>
              <p:nvPr/>
            </p:nvSpPr>
            <p:spPr>
              <a:xfrm>
                <a:off x="59436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93A55636-0ECA-49C2-A33C-C573A5FDB4D0}"/>
                  </a:ext>
                </a:extLst>
              </p:cNvPr>
              <p:cNvSpPr/>
              <p:nvPr/>
            </p:nvSpPr>
            <p:spPr>
              <a:xfrm>
                <a:off x="65532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</a:t>
                </a: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24703982-F428-4005-9B42-4355CC6785DA}"/>
                  </a:ext>
                </a:extLst>
              </p:cNvPr>
              <p:cNvSpPr/>
              <p:nvPr/>
            </p:nvSpPr>
            <p:spPr>
              <a:xfrm>
                <a:off x="71628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9</a:t>
                </a:r>
              </a:p>
            </p:txBody>
          </p:sp>
        </p:grp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9DD2666-032A-495C-A1C3-53884BB2D4C7}"/>
                </a:ext>
              </a:extLst>
            </p:cNvPr>
            <p:cNvSpPr/>
            <p:nvPr/>
          </p:nvSpPr>
          <p:spPr>
            <a:xfrm>
              <a:off x="8229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BE4AC38-EF3F-462C-883C-9425B1C2C3F8}"/>
              </a:ext>
            </a:extLst>
          </p:cNvPr>
          <p:cNvGrpSpPr/>
          <p:nvPr/>
        </p:nvGrpSpPr>
        <p:grpSpPr>
          <a:xfrm>
            <a:off x="7620000" y="2985157"/>
            <a:ext cx="1219200" cy="824843"/>
            <a:chOff x="5437910" y="3048000"/>
            <a:chExt cx="886688" cy="824843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AAE9103C-5ACC-4CDA-9EAB-98D05F717830}"/>
                </a:ext>
              </a:extLst>
            </p:cNvPr>
            <p:cNvSpPr/>
            <p:nvPr/>
          </p:nvSpPr>
          <p:spPr>
            <a:xfrm>
              <a:off x="5437910" y="3048000"/>
              <a:ext cx="886688" cy="533400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L,M,H=5</a:t>
              </a:r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D59B161D-CB7F-43BB-A019-F22316296696}"/>
                </a:ext>
              </a:extLst>
            </p:cNvPr>
            <p:cNvCxnSpPr/>
            <p:nvPr/>
          </p:nvCxnSpPr>
          <p:spPr>
            <a:xfrm>
              <a:off x="5981700" y="3426738"/>
              <a:ext cx="0" cy="446105"/>
            </a:xfrm>
            <a:prstGeom prst="straightConnector1">
              <a:avLst/>
            </a:prstGeom>
            <a:ln w="412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6765FDC7-7A0E-4793-87A0-D2F3150AE270}"/>
              </a:ext>
            </a:extLst>
          </p:cNvPr>
          <p:cNvSpPr/>
          <p:nvPr/>
        </p:nvSpPr>
        <p:spPr>
          <a:xfrm>
            <a:off x="428610" y="2240489"/>
            <a:ext cx="2559057" cy="2026712"/>
          </a:xfrm>
          <a:custGeom>
            <a:avLst/>
            <a:gdLst>
              <a:gd name="connsiteX0" fmla="*/ 2148572 w 2314420"/>
              <a:gd name="connsiteY0" fmla="*/ 2057400 h 2057400"/>
              <a:gd name="connsiteX1" fmla="*/ 2121678 w 2314420"/>
              <a:gd name="connsiteY1" fmla="*/ 1573306 h 2057400"/>
              <a:gd name="connsiteX2" fmla="*/ 212196 w 2314420"/>
              <a:gd name="connsiteY2" fmla="*/ 1452283 h 2057400"/>
              <a:gd name="connsiteX3" fmla="*/ 131514 w 2314420"/>
              <a:gd name="connsiteY3" fmla="*/ 0 h 2057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14420" h="2057400">
                <a:moveTo>
                  <a:pt x="2148572" y="2057400"/>
                </a:moveTo>
                <a:cubicBezTo>
                  <a:pt x="2296489" y="1865779"/>
                  <a:pt x="2444407" y="1674159"/>
                  <a:pt x="2121678" y="1573306"/>
                </a:cubicBezTo>
                <a:cubicBezTo>
                  <a:pt x="1798949" y="1472453"/>
                  <a:pt x="543890" y="1714501"/>
                  <a:pt x="212196" y="1452283"/>
                </a:cubicBezTo>
                <a:cubicBezTo>
                  <a:pt x="-119498" y="1190065"/>
                  <a:pt x="6008" y="595032"/>
                  <a:pt x="131514" y="0"/>
                </a:cubicBezTo>
              </a:path>
            </a:pathLst>
          </a:custGeom>
          <a:noFill/>
          <a:ln w="47625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139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2" grpId="0"/>
      <p:bldP spid="23" grpId="0"/>
      <p:bldP spid="26" grpId="0" animBg="1"/>
      <p:bldP spid="27" grpId="0" animBg="1"/>
      <p:bldP spid="28" grpId="0" animBg="1"/>
      <p:bldP spid="33" grpId="0"/>
      <p:bldP spid="34" grpId="0" animBg="1"/>
      <p:bldP spid="35" grpId="0"/>
      <p:bldP spid="36" grpId="0" animBg="1"/>
      <p:bldP spid="49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0"/>
            <a:ext cx="64008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Search in sorted array (Binary Search)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EFC405-48F3-4D3B-9925-B82EEFCE0A5B}"/>
              </a:ext>
            </a:extLst>
          </p:cNvPr>
          <p:cNvSpPr txBox="1"/>
          <p:nvPr/>
        </p:nvSpPr>
        <p:spPr>
          <a:xfrm>
            <a:off x="67399" y="838200"/>
            <a:ext cx="9000401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main() {</a:t>
            </a:r>
          </a:p>
          <a:p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[] = { </a:t>
            </a:r>
            <a:r>
              <a:rPr lang="en-US" sz="28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800" dirty="0">
                <a:solidFill>
                  <a:srgbClr val="098658"/>
                </a:solidFill>
                <a:latin typeface="Consolas" panose="020B0609020204030204" pitchFamily="49" charset="0"/>
              </a:rPr>
              <a:t>6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800" dirty="0">
                <a:solidFill>
                  <a:srgbClr val="098658"/>
                </a:solidFill>
                <a:latin typeface="Consolas" panose="020B0609020204030204" pitchFamily="49" charset="0"/>
              </a:rPr>
              <a:t>7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800" dirty="0">
                <a:solidFill>
                  <a:srgbClr val="098658"/>
                </a:solidFill>
                <a:latin typeface="Consolas" panose="020B0609020204030204" pitchFamily="49" charset="0"/>
              </a:rPr>
              <a:t>8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800" dirty="0">
                <a:solidFill>
                  <a:srgbClr val="098658"/>
                </a:solidFill>
                <a:latin typeface="Consolas" panose="020B0609020204030204" pitchFamily="49" charset="0"/>
              </a:rPr>
              <a:t>9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800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};</a:t>
            </a:r>
          </a:p>
          <a:p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n, key;</a:t>
            </a:r>
          </a:p>
          <a:p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n = </a:t>
            </a:r>
            <a:r>
              <a:rPr lang="en-US" sz="28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 / </a:t>
            </a:r>
            <a:r>
              <a:rPr lang="en-US" sz="28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8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key = </a:t>
            </a:r>
            <a:r>
              <a:rPr lang="en-US" sz="2800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index=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binarySearch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8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 n-</a:t>
            </a:r>
            <a:r>
              <a:rPr lang="en-US" sz="28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,key);</a:t>
            </a:r>
          </a:p>
          <a:p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2800" dirty="0">
                <a:solidFill>
                  <a:srgbClr val="A31515"/>
                </a:solidFill>
                <a:latin typeface="Consolas" panose="020B0609020204030204" pitchFamily="49" charset="0"/>
              </a:rPr>
              <a:t>"Index: "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index;</a:t>
            </a:r>
          </a:p>
          <a:p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8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1D62C79-6057-41EC-8586-EBF248D56DB5}"/>
              </a:ext>
            </a:extLst>
          </p:cNvPr>
          <p:cNvSpPr/>
          <p:nvPr/>
        </p:nvSpPr>
        <p:spPr>
          <a:xfrm>
            <a:off x="7772400" y="2555017"/>
            <a:ext cx="9144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n=6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342A0B-36E1-4CC3-BB75-0A8CF008A3B3}"/>
              </a:ext>
            </a:extLst>
          </p:cNvPr>
          <p:cNvSpPr/>
          <p:nvPr/>
        </p:nvSpPr>
        <p:spPr>
          <a:xfrm>
            <a:off x="6477000" y="2971800"/>
            <a:ext cx="11430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key=10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FA5DC890-2877-4385-8326-B7D9CE04008D}"/>
              </a:ext>
            </a:extLst>
          </p:cNvPr>
          <p:cNvSpPr/>
          <p:nvPr/>
        </p:nvSpPr>
        <p:spPr>
          <a:xfrm>
            <a:off x="4267200" y="1271488"/>
            <a:ext cx="914400" cy="2363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49CE944F-4F93-4D0A-BED2-9665A773405A}"/>
              </a:ext>
            </a:extLst>
          </p:cNvPr>
          <p:cNvSpPr/>
          <p:nvPr/>
        </p:nvSpPr>
        <p:spPr>
          <a:xfrm>
            <a:off x="6934200" y="2707417"/>
            <a:ext cx="914400" cy="2363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EEA86E80-57CE-4904-AFEF-9E3D93E9C87C}"/>
              </a:ext>
            </a:extLst>
          </p:cNvPr>
          <p:cNvSpPr/>
          <p:nvPr/>
        </p:nvSpPr>
        <p:spPr>
          <a:xfrm>
            <a:off x="5334000" y="3116451"/>
            <a:ext cx="914400" cy="2363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0AFBDC6-5B54-4664-B7BB-5F5FADB96B0F}"/>
              </a:ext>
            </a:extLst>
          </p:cNvPr>
          <p:cNvSpPr/>
          <p:nvPr/>
        </p:nvSpPr>
        <p:spPr>
          <a:xfrm>
            <a:off x="2209800" y="3429000"/>
            <a:ext cx="6019800" cy="533400"/>
          </a:xfrm>
          <a:prstGeom prst="roundRect">
            <a:avLst/>
          </a:prstGeom>
          <a:noFill/>
          <a:ln w="412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FD21159-1188-4686-A898-CDE2A0CC40BD}"/>
              </a:ext>
            </a:extLst>
          </p:cNvPr>
          <p:cNvGrpSpPr/>
          <p:nvPr/>
        </p:nvGrpSpPr>
        <p:grpSpPr>
          <a:xfrm>
            <a:off x="5181600" y="1053371"/>
            <a:ext cx="3657600" cy="699229"/>
            <a:chOff x="5181600" y="1053371"/>
            <a:chExt cx="3657600" cy="69922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B5E8B20E-47C8-412C-9E3A-CFA9979B3809}"/>
                </a:ext>
              </a:extLst>
            </p:cNvPr>
            <p:cNvGrpSpPr/>
            <p:nvPr/>
          </p:nvGrpSpPr>
          <p:grpSpPr>
            <a:xfrm>
              <a:off x="5181600" y="1053371"/>
              <a:ext cx="3048000" cy="685800"/>
              <a:chOff x="4724400" y="1066800"/>
              <a:chExt cx="3048000" cy="68580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80A3881-5F9B-4899-94FB-C670F99CC38C}"/>
                  </a:ext>
                </a:extLst>
              </p:cNvPr>
              <p:cNvSpPr/>
              <p:nvPr/>
            </p:nvSpPr>
            <p:spPr>
              <a:xfrm>
                <a:off x="47244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F3EE08E-B8DF-4DBC-934B-0838B82A1B57}"/>
                  </a:ext>
                </a:extLst>
              </p:cNvPr>
              <p:cNvSpPr/>
              <p:nvPr/>
            </p:nvSpPr>
            <p:spPr>
              <a:xfrm>
                <a:off x="53340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F67B594-A647-4B57-AABF-6340B9C7C6C9}"/>
                  </a:ext>
                </a:extLst>
              </p:cNvPr>
              <p:cNvSpPr/>
              <p:nvPr/>
            </p:nvSpPr>
            <p:spPr>
              <a:xfrm>
                <a:off x="59436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3314111-CD0D-49C8-B043-7D565798AD90}"/>
                  </a:ext>
                </a:extLst>
              </p:cNvPr>
              <p:cNvSpPr/>
              <p:nvPr/>
            </p:nvSpPr>
            <p:spPr>
              <a:xfrm>
                <a:off x="65532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989FD87B-D766-4410-BB87-1B890050C147}"/>
                  </a:ext>
                </a:extLst>
              </p:cNvPr>
              <p:cNvSpPr/>
              <p:nvPr/>
            </p:nvSpPr>
            <p:spPr>
              <a:xfrm>
                <a:off x="71628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9</a:t>
                </a:r>
              </a:p>
            </p:txBody>
          </p:sp>
        </p:grp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AD12DA8-1328-46AD-936C-E45253A9051D}"/>
                </a:ext>
              </a:extLst>
            </p:cNvPr>
            <p:cNvSpPr/>
            <p:nvPr/>
          </p:nvSpPr>
          <p:spPr>
            <a:xfrm>
              <a:off x="8229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D91630CF-24FC-41E5-AD8B-4606126A172F}"/>
              </a:ext>
            </a:extLst>
          </p:cNvPr>
          <p:cNvSpPr/>
          <p:nvPr/>
        </p:nvSpPr>
        <p:spPr>
          <a:xfrm>
            <a:off x="6629400" y="3962400"/>
            <a:ext cx="11430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index=5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AECD58D8-00D6-4C86-8B73-1B710673F398}"/>
              </a:ext>
            </a:extLst>
          </p:cNvPr>
          <p:cNvSpPr/>
          <p:nvPr/>
        </p:nvSpPr>
        <p:spPr>
          <a:xfrm>
            <a:off x="5486400" y="4107051"/>
            <a:ext cx="914400" cy="2363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A483DB-D335-4421-8A61-4DE37C6D68A6}"/>
              </a:ext>
            </a:extLst>
          </p:cNvPr>
          <p:cNvSpPr/>
          <p:nvPr/>
        </p:nvSpPr>
        <p:spPr>
          <a:xfrm>
            <a:off x="3962399" y="4858112"/>
            <a:ext cx="2133601" cy="609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Index: 5</a:t>
            </a:r>
          </a:p>
        </p:txBody>
      </p:sp>
    </p:spTree>
    <p:extLst>
      <p:ext uri="{BB962C8B-B14F-4D97-AF65-F5344CB8AC3E}">
        <p14:creationId xmlns:p14="http://schemas.microsoft.com/office/powerpoint/2010/main" val="2979625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6" grpId="0" animBg="1"/>
      <p:bldP spid="27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112705"/>
            <a:ext cx="64008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Arrays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839624-3E80-4165-862D-FBDD23D15B07}"/>
              </a:ext>
            </a:extLst>
          </p:cNvPr>
          <p:cNvSpPr/>
          <p:nvPr/>
        </p:nvSpPr>
        <p:spPr>
          <a:xfrm>
            <a:off x="0" y="762000"/>
            <a:ext cx="9144000" cy="380998"/>
          </a:xfrm>
          <a:prstGeom prst="rect">
            <a:avLst/>
          </a:prstGeom>
          <a:solidFill>
            <a:schemeClr val="tx2"/>
          </a:solidFill>
          <a:ln cap="rnd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Insert in sorted array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60A103A-75AF-4595-873D-7EFA47018C38}"/>
                  </a:ext>
                </a:extLst>
              </p:cNvPr>
              <p:cNvSpPr txBox="1"/>
              <p:nvPr/>
            </p:nvSpPr>
            <p:spPr>
              <a:xfrm>
                <a:off x="152564" y="1295400"/>
                <a:ext cx="9000401" cy="16312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ts val="3000"/>
                  </a:lnSpc>
                </a:pPr>
                <a:r>
                  <a:rPr lang="en-US" sz="2400" dirty="0">
                    <a:latin typeface="Times New Roman" pitchFamily="18" charset="0"/>
                    <a:ea typeface="Times New Roman"/>
                    <a:cs typeface="Times New Roman" pitchFamily="18" charset="0"/>
                  </a:rPr>
                  <a:t>In sorted array, we care about the position at which the element to be placed, unlike the unsorted array. </a:t>
                </a:r>
                <a:r>
                  <a:rPr lang="en-US" sz="2400" b="1" dirty="0">
                    <a:solidFill>
                      <a:srgbClr val="FF0000"/>
                    </a:solidFill>
                    <a:latin typeface="Times New Roman" pitchFamily="18" charset="0"/>
                    <a:ea typeface="Times New Roman"/>
                    <a:cs typeface="Times New Roman" pitchFamily="18" charset="0"/>
                  </a:rPr>
                  <a:t>Time Complexity </a:t>
                </a:r>
                <a:r>
                  <a:rPr lang="en-US" sz="2400" dirty="0">
                    <a:latin typeface="Times New Roman" pitchFamily="18" charset="0"/>
                    <a:ea typeface="Times New Roman"/>
                    <a:cs typeface="Times New Roman" pitchFamily="18" charset="0"/>
                  </a:rPr>
                  <a:t>of </a:t>
                </a:r>
                <a:r>
                  <a:rPr lang="en-US" sz="2400" b="1" dirty="0">
                    <a:solidFill>
                      <a:srgbClr val="FF0000"/>
                    </a:solidFill>
                    <a:latin typeface="Times New Roman" pitchFamily="18" charset="0"/>
                    <a:ea typeface="Times New Roman"/>
                    <a:cs typeface="Times New Roman" pitchFamily="18" charset="0"/>
                  </a:rPr>
                  <a:t>Insert</a:t>
                </a:r>
                <a:r>
                  <a:rPr lang="en-US" sz="2400" dirty="0">
                    <a:latin typeface="Times New Roman" pitchFamily="18" charset="0"/>
                    <a:ea typeface="Times New Roman"/>
                    <a:cs typeface="Times New Roman" pitchFamily="18" charset="0"/>
                  </a:rPr>
                  <a:t> Operation in </a:t>
                </a:r>
                <a:r>
                  <a:rPr lang="en-US" sz="2400" b="1" dirty="0">
                    <a:solidFill>
                      <a:srgbClr val="FF0000"/>
                    </a:solidFill>
                    <a:latin typeface="Times New Roman" pitchFamily="18" charset="0"/>
                    <a:ea typeface="Times New Roman"/>
                    <a:cs typeface="Times New Roman" pitchFamily="18" charset="0"/>
                  </a:rPr>
                  <a:t>sorted</a:t>
                </a:r>
                <a:r>
                  <a:rPr lang="en-US" sz="2400" dirty="0">
                    <a:latin typeface="Times New Roman" pitchFamily="18" charset="0"/>
                    <a:ea typeface="Times New Roman"/>
                    <a:cs typeface="Times New Roman" pitchFamily="18" charset="0"/>
                  </a:rPr>
                  <a:t> array is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Times New Roman"/>
                        <a:cs typeface="Times New Roman" pitchFamily="18" charset="0"/>
                      </a:rPr>
                      <m:t>𝑶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Times New Roman"/>
                        <a:cs typeface="Times New Roman" pitchFamily="18" charset="0"/>
                      </a:rPr>
                      <m:t>(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Times New Roman"/>
                        <a:cs typeface="Times New Roman" pitchFamily="18" charset="0"/>
                      </a:rPr>
                      <m:t>𝒏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Times New Roman"/>
                        <a:cs typeface="Times New Roman" pitchFamily="18" charset="0"/>
                      </a:rPr>
                      <m:t>)</m:t>
                    </m:r>
                  </m:oMath>
                </a14:m>
                <a:r>
                  <a:rPr lang="en-US" sz="2400" b="1" dirty="0">
                    <a:solidFill>
                      <a:srgbClr val="FF0000"/>
                    </a:solidFill>
                    <a:latin typeface="Times New Roman" pitchFamily="18" charset="0"/>
                    <a:ea typeface="Times New Roman"/>
                    <a:cs typeface="Times New Roman" pitchFamily="18" charset="0"/>
                  </a:rPr>
                  <a:t> </a:t>
                </a:r>
                <a:r>
                  <a:rPr lang="en-US" sz="2400" dirty="0">
                    <a:latin typeface="Times New Roman" pitchFamily="18" charset="0"/>
                    <a:ea typeface="Times New Roman"/>
                    <a:cs typeface="Times New Roman" pitchFamily="18" charset="0"/>
                  </a:rPr>
                  <a:t>[In the worst case all elements may have to be moved]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60A103A-75AF-4595-873D-7EFA47018C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564" y="1295400"/>
                <a:ext cx="9000401" cy="1631216"/>
              </a:xfrm>
              <a:prstGeom prst="rect">
                <a:avLst/>
              </a:prstGeom>
              <a:blipFill>
                <a:blip r:embed="rId5"/>
                <a:stretch>
                  <a:fillRect l="-1016" t="-3371" r="-1084" b="-59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2">
            <a:extLst>
              <a:ext uri="{FF2B5EF4-FFF2-40B4-BE49-F238E27FC236}">
                <a16:creationId xmlns:a16="http://schemas.microsoft.com/office/drawing/2014/main" id="{84A58E54-9CFA-4BB0-8087-3480CAD2FE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6757" y="3200400"/>
            <a:ext cx="6553200" cy="3163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7894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0"/>
            <a:ext cx="64008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Insert in sorted array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EFC405-48F3-4D3B-9925-B82EEFCE0A5B}"/>
              </a:ext>
            </a:extLst>
          </p:cNvPr>
          <p:cNvSpPr txBox="1"/>
          <p:nvPr/>
        </p:nvSpPr>
        <p:spPr>
          <a:xfrm>
            <a:off x="67399" y="838200"/>
            <a:ext cx="9000401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main() {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20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 = {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12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16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20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40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50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70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};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Size = 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 / 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n =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6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key =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26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&lt;&lt; 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"\</a:t>
            </a:r>
            <a:r>
              <a:rPr lang="en-US" sz="2400" dirty="0" err="1">
                <a:solidFill>
                  <a:srgbClr val="A31515"/>
                </a:solidFill>
                <a:latin typeface="Consolas" panose="020B0609020204030204" pitchFamily="49" charset="0"/>
              </a:rPr>
              <a:t>nBefore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 Insertion: 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&lt; n;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 &lt;&lt; 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 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n =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insertSorted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n, key, Size);</a:t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"\</a:t>
            </a:r>
            <a:r>
              <a:rPr lang="en-US" sz="2400" dirty="0" err="1">
                <a:solidFill>
                  <a:srgbClr val="A31515"/>
                </a:solidFill>
                <a:latin typeface="Consolas" panose="020B0609020204030204" pitchFamily="49" charset="0"/>
              </a:rPr>
              <a:t>nAfter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 Insertion: 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&lt; n;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]&lt;&lt; 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 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CC394E6A-B8D0-46A3-98CF-EAA3C80DC222}"/>
              </a:ext>
            </a:extLst>
          </p:cNvPr>
          <p:cNvSpPr/>
          <p:nvPr/>
        </p:nvSpPr>
        <p:spPr>
          <a:xfrm>
            <a:off x="4114800" y="814288"/>
            <a:ext cx="914400" cy="2363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2B7F0C3-0A0C-45A1-9A5B-1621CDD62DEA}"/>
              </a:ext>
            </a:extLst>
          </p:cNvPr>
          <p:cNvGrpSpPr/>
          <p:nvPr/>
        </p:nvGrpSpPr>
        <p:grpSpPr>
          <a:xfrm>
            <a:off x="5029200" y="596171"/>
            <a:ext cx="3657600" cy="699229"/>
            <a:chOff x="5181600" y="1053371"/>
            <a:chExt cx="3657600" cy="699229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4D29B1EC-519A-4DB0-9694-A3060B39AEE3}"/>
                </a:ext>
              </a:extLst>
            </p:cNvPr>
            <p:cNvGrpSpPr/>
            <p:nvPr/>
          </p:nvGrpSpPr>
          <p:grpSpPr>
            <a:xfrm>
              <a:off x="5181600" y="1053371"/>
              <a:ext cx="3048000" cy="685800"/>
              <a:chOff x="4724400" y="1066800"/>
              <a:chExt cx="3048000" cy="685800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DAC7859-5C25-4FA3-8F85-4925479C3C9B}"/>
                  </a:ext>
                </a:extLst>
              </p:cNvPr>
              <p:cNvSpPr/>
              <p:nvPr/>
            </p:nvSpPr>
            <p:spPr>
              <a:xfrm>
                <a:off x="47244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12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944B0267-F28D-4E97-9305-6E57F6A6DE52}"/>
                  </a:ext>
                </a:extLst>
              </p:cNvPr>
              <p:cNvSpPr/>
              <p:nvPr/>
            </p:nvSpPr>
            <p:spPr>
              <a:xfrm>
                <a:off x="53340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16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9E54442B-DB21-43A5-8FD7-7A8874B6B108}"/>
                  </a:ext>
                </a:extLst>
              </p:cNvPr>
              <p:cNvSpPr/>
              <p:nvPr/>
            </p:nvSpPr>
            <p:spPr>
              <a:xfrm>
                <a:off x="59436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</a:t>
                </a: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53A46B8E-CAE8-4C6E-987B-2778DB75A615}"/>
                  </a:ext>
                </a:extLst>
              </p:cNvPr>
              <p:cNvSpPr/>
              <p:nvPr/>
            </p:nvSpPr>
            <p:spPr>
              <a:xfrm>
                <a:off x="65532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40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9845BE59-4924-489B-B9CD-DBFA0AA61A7C}"/>
                  </a:ext>
                </a:extLst>
              </p:cNvPr>
              <p:cNvSpPr/>
              <p:nvPr/>
            </p:nvSpPr>
            <p:spPr>
              <a:xfrm>
                <a:off x="71628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50</a:t>
                </a:r>
              </a:p>
            </p:txBody>
          </p:sp>
        </p:grp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A98919F-2A0C-4A1F-9895-2F727F6CAE8C}"/>
                </a:ext>
              </a:extLst>
            </p:cNvPr>
            <p:cNvSpPr/>
            <p:nvPr/>
          </p:nvSpPr>
          <p:spPr>
            <a:xfrm>
              <a:off x="8229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70</a:t>
              </a:r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59032C0B-700A-454E-BA5F-586D49F208DA}"/>
              </a:ext>
            </a:extLst>
          </p:cNvPr>
          <p:cNvSpPr/>
          <p:nvPr/>
        </p:nvSpPr>
        <p:spPr>
          <a:xfrm>
            <a:off x="7772400" y="1981200"/>
            <a:ext cx="9144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n=6</a:t>
            </a:r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858969EA-0D34-4C5E-9495-7C7E66424BD0}"/>
              </a:ext>
            </a:extLst>
          </p:cNvPr>
          <p:cNvSpPr/>
          <p:nvPr/>
        </p:nvSpPr>
        <p:spPr>
          <a:xfrm>
            <a:off x="6934200" y="2133600"/>
            <a:ext cx="914400" cy="2363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085EC6B-EF4F-4748-A36A-0BBA489652AA}"/>
              </a:ext>
            </a:extLst>
          </p:cNvPr>
          <p:cNvSpPr/>
          <p:nvPr/>
        </p:nvSpPr>
        <p:spPr>
          <a:xfrm>
            <a:off x="7696200" y="2438400"/>
            <a:ext cx="12192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key=26</a:t>
            </a:r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D85117D3-4996-461A-9F89-61852C787342}"/>
              </a:ext>
            </a:extLst>
          </p:cNvPr>
          <p:cNvSpPr/>
          <p:nvPr/>
        </p:nvSpPr>
        <p:spPr>
          <a:xfrm>
            <a:off x="6858000" y="2590800"/>
            <a:ext cx="914400" cy="2363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86BE457-CF6B-4103-B036-6E62B4115DFE}"/>
              </a:ext>
            </a:extLst>
          </p:cNvPr>
          <p:cNvSpPr/>
          <p:nvPr/>
        </p:nvSpPr>
        <p:spPr>
          <a:xfrm>
            <a:off x="8077200" y="1295400"/>
            <a:ext cx="12192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Size=20</a:t>
            </a:r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E0106E7D-3E78-4EFA-8DD4-E2F820F82D8F}"/>
              </a:ext>
            </a:extLst>
          </p:cNvPr>
          <p:cNvSpPr/>
          <p:nvPr/>
        </p:nvSpPr>
        <p:spPr>
          <a:xfrm>
            <a:off x="7239000" y="1447800"/>
            <a:ext cx="914400" cy="2363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10F2A2C-D9F3-4427-A95F-D2AFF8831E98}"/>
              </a:ext>
            </a:extLst>
          </p:cNvPr>
          <p:cNvSpPr/>
          <p:nvPr/>
        </p:nvSpPr>
        <p:spPr>
          <a:xfrm>
            <a:off x="5715000" y="3419921"/>
            <a:ext cx="2819400" cy="609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12  16  20  40  50  70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4DA5AB59-188B-4FAB-ADB9-67955896CB34}"/>
              </a:ext>
            </a:extLst>
          </p:cNvPr>
          <p:cNvSpPr/>
          <p:nvPr/>
        </p:nvSpPr>
        <p:spPr>
          <a:xfrm>
            <a:off x="1447800" y="4038600"/>
            <a:ext cx="6019800" cy="533400"/>
          </a:xfrm>
          <a:prstGeom prst="roundRect">
            <a:avLst/>
          </a:prstGeom>
          <a:noFill/>
          <a:ln w="412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97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8" grpId="0" animBg="1"/>
      <p:bldP spid="37" grpId="0"/>
      <p:bldP spid="38" grpId="0" animBg="1"/>
      <p:bldP spid="39" grpId="0"/>
      <p:bldP spid="40" grpId="0" animBg="1"/>
      <p:bldP spid="41" grpId="0"/>
      <p:bldP spid="42" grpId="0" animBg="1"/>
      <p:bldP spid="43" grpId="0" animBg="1"/>
      <p:bldP spid="4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0"/>
            <a:ext cx="64008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Insert in sorted array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EFC405-48F3-4D3B-9925-B82EEFCE0A5B}"/>
              </a:ext>
            </a:extLst>
          </p:cNvPr>
          <p:cNvSpPr txBox="1"/>
          <p:nvPr/>
        </p:nvSpPr>
        <p:spPr>
          <a:xfrm>
            <a:off x="67399" y="1876485"/>
            <a:ext cx="900040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insertSorted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[],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n,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key,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Size) {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(n &gt;= Size)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n;</a:t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= n -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 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&gt;=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&amp;&amp;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 &gt; key);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--)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+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 =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+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 = key;</a:t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(n +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BCBF0D6-9B48-4095-8D7E-0B7924B32894}"/>
              </a:ext>
            </a:extLst>
          </p:cNvPr>
          <p:cNvGrpSpPr/>
          <p:nvPr/>
        </p:nvGrpSpPr>
        <p:grpSpPr>
          <a:xfrm>
            <a:off x="1066800" y="956647"/>
            <a:ext cx="3657600" cy="699229"/>
            <a:chOff x="5181600" y="1053371"/>
            <a:chExt cx="3657600" cy="69922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A128013-1820-4745-A9CB-4D6DDEAFA100}"/>
                </a:ext>
              </a:extLst>
            </p:cNvPr>
            <p:cNvGrpSpPr/>
            <p:nvPr/>
          </p:nvGrpSpPr>
          <p:grpSpPr>
            <a:xfrm>
              <a:off x="5181600" y="1053371"/>
              <a:ext cx="3048000" cy="685800"/>
              <a:chOff x="4724400" y="1066800"/>
              <a:chExt cx="3048000" cy="685800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FFD2EA7-E947-4C01-911F-00B627735AB0}"/>
                  </a:ext>
                </a:extLst>
              </p:cNvPr>
              <p:cNvSpPr/>
              <p:nvPr/>
            </p:nvSpPr>
            <p:spPr>
              <a:xfrm>
                <a:off x="47244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12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043748F-A9D6-4419-8726-4BB5B51D93BE}"/>
                  </a:ext>
                </a:extLst>
              </p:cNvPr>
              <p:cNvSpPr/>
              <p:nvPr/>
            </p:nvSpPr>
            <p:spPr>
              <a:xfrm>
                <a:off x="53340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16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7A55193-2203-4830-8F99-D108FFC7EE98}"/>
                  </a:ext>
                </a:extLst>
              </p:cNvPr>
              <p:cNvSpPr/>
              <p:nvPr/>
            </p:nvSpPr>
            <p:spPr>
              <a:xfrm>
                <a:off x="59436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53CEAB3-93F4-4416-9CCD-EA7A90BBC062}"/>
                  </a:ext>
                </a:extLst>
              </p:cNvPr>
              <p:cNvSpPr/>
              <p:nvPr/>
            </p:nvSpPr>
            <p:spPr>
              <a:xfrm>
                <a:off x="65532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40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F2B251B3-A5B5-47CF-9132-2586367DD5CC}"/>
                  </a:ext>
                </a:extLst>
              </p:cNvPr>
              <p:cNvSpPr/>
              <p:nvPr/>
            </p:nvSpPr>
            <p:spPr>
              <a:xfrm>
                <a:off x="71628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50</a:t>
                </a:r>
              </a:p>
            </p:txBody>
          </p:sp>
        </p:grp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1DC8E2C-5C76-4132-A286-380962E00E0B}"/>
                </a:ext>
              </a:extLst>
            </p:cNvPr>
            <p:cNvSpPr/>
            <p:nvPr/>
          </p:nvSpPr>
          <p:spPr>
            <a:xfrm>
              <a:off x="8229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70</a:t>
              </a:r>
            </a:p>
          </p:txBody>
        </p:sp>
      </p:grpSp>
      <p:sp>
        <p:nvSpPr>
          <p:cNvPr id="20" name="Arrow: Down 19">
            <a:extLst>
              <a:ext uri="{FF2B5EF4-FFF2-40B4-BE49-F238E27FC236}">
                <a16:creationId xmlns:a16="http://schemas.microsoft.com/office/drawing/2014/main" id="{A88FEAF5-EDB5-46D1-BA6D-22D14161D779}"/>
              </a:ext>
            </a:extLst>
          </p:cNvPr>
          <p:cNvSpPr/>
          <p:nvPr/>
        </p:nvSpPr>
        <p:spPr>
          <a:xfrm>
            <a:off x="3429000" y="1681839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CFBB8DC-0015-4F8E-BBCF-F349B5F6A642}"/>
              </a:ext>
            </a:extLst>
          </p:cNvPr>
          <p:cNvSpPr/>
          <p:nvPr/>
        </p:nvSpPr>
        <p:spPr>
          <a:xfrm>
            <a:off x="5105400" y="1165416"/>
            <a:ext cx="914400" cy="434784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n=6</a:t>
            </a:r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46D5369A-0F21-4573-B6AE-1D31D1620E78}"/>
              </a:ext>
            </a:extLst>
          </p:cNvPr>
          <p:cNvSpPr/>
          <p:nvPr/>
        </p:nvSpPr>
        <p:spPr>
          <a:xfrm>
            <a:off x="5334000" y="1605639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9387A28-3DBD-4EA5-AA4B-2DB9D1266DE0}"/>
              </a:ext>
            </a:extLst>
          </p:cNvPr>
          <p:cNvSpPr/>
          <p:nvPr/>
        </p:nvSpPr>
        <p:spPr>
          <a:xfrm>
            <a:off x="6324600" y="1143000"/>
            <a:ext cx="1143000" cy="434784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key=26</a:t>
            </a:r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B5AC4D2B-CBE4-40A6-BF28-78838476F0AB}"/>
              </a:ext>
            </a:extLst>
          </p:cNvPr>
          <p:cNvSpPr/>
          <p:nvPr/>
        </p:nvSpPr>
        <p:spPr>
          <a:xfrm>
            <a:off x="6553200" y="1583223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FE78316-6991-4FF6-9A38-E05DF8D60884}"/>
              </a:ext>
            </a:extLst>
          </p:cNvPr>
          <p:cNvSpPr/>
          <p:nvPr/>
        </p:nvSpPr>
        <p:spPr>
          <a:xfrm>
            <a:off x="7924800" y="1219200"/>
            <a:ext cx="1219200" cy="434784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Size=20</a:t>
            </a:r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01AD7A05-5336-4AB8-8F91-BB9B8CC45470}"/>
              </a:ext>
            </a:extLst>
          </p:cNvPr>
          <p:cNvSpPr/>
          <p:nvPr/>
        </p:nvSpPr>
        <p:spPr>
          <a:xfrm>
            <a:off x="8153400" y="1659423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CB21D71-D4AD-442E-88BD-15A00F47EB41}"/>
              </a:ext>
            </a:extLst>
          </p:cNvPr>
          <p:cNvGrpSpPr/>
          <p:nvPr/>
        </p:nvGrpSpPr>
        <p:grpSpPr>
          <a:xfrm>
            <a:off x="4267200" y="5168171"/>
            <a:ext cx="4267200" cy="699229"/>
            <a:chOff x="4267200" y="5168171"/>
            <a:chExt cx="4267200" cy="699229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2AA4BAA-6D54-4350-8B8F-D9911DB08269}"/>
                </a:ext>
              </a:extLst>
            </p:cNvPr>
            <p:cNvGrpSpPr/>
            <p:nvPr/>
          </p:nvGrpSpPr>
          <p:grpSpPr>
            <a:xfrm>
              <a:off x="4267200" y="5168171"/>
              <a:ext cx="3657600" cy="699229"/>
              <a:chOff x="5181600" y="1053371"/>
              <a:chExt cx="3657600" cy="699229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CBA90851-5272-4BFE-94D1-BA4A0405725F}"/>
                  </a:ext>
                </a:extLst>
              </p:cNvPr>
              <p:cNvGrpSpPr/>
              <p:nvPr/>
            </p:nvGrpSpPr>
            <p:grpSpPr>
              <a:xfrm>
                <a:off x="5181600" y="1053371"/>
                <a:ext cx="3048000" cy="685800"/>
                <a:chOff x="4724400" y="1066800"/>
                <a:chExt cx="3048000" cy="685800"/>
              </a:xfrm>
            </p:grpSpPr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CEFDF393-0678-4684-9619-06B2B1513B18}"/>
                    </a:ext>
                  </a:extLst>
                </p:cNvPr>
                <p:cNvSpPr/>
                <p:nvPr/>
              </p:nvSpPr>
              <p:spPr>
                <a:xfrm>
                  <a:off x="4724400" y="1066800"/>
                  <a:ext cx="609600" cy="685800"/>
                </a:xfrm>
                <a:prstGeom prst="rect">
                  <a:avLst/>
                </a:prstGeom>
                <a:no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200" b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</a:p>
              </p:txBody>
            </p: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A44E89E1-C266-4EFC-9DCB-A335C45E470F}"/>
                    </a:ext>
                  </a:extLst>
                </p:cNvPr>
                <p:cNvSpPr/>
                <p:nvPr/>
              </p:nvSpPr>
              <p:spPr>
                <a:xfrm>
                  <a:off x="5334000" y="1066800"/>
                  <a:ext cx="609600" cy="685800"/>
                </a:xfrm>
                <a:prstGeom prst="rect">
                  <a:avLst/>
                </a:prstGeom>
                <a:no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200" b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5B3EA068-2F5E-4101-AE36-9171BB898E14}"/>
                    </a:ext>
                  </a:extLst>
                </p:cNvPr>
                <p:cNvSpPr/>
                <p:nvPr/>
              </p:nvSpPr>
              <p:spPr>
                <a:xfrm>
                  <a:off x="5943600" y="1066800"/>
                  <a:ext cx="609600" cy="685800"/>
                </a:xfrm>
                <a:prstGeom prst="rect">
                  <a:avLst/>
                </a:prstGeom>
                <a:no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200" b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20</a:t>
                  </a:r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532F56A9-75DC-452A-8D05-76F05044CEC7}"/>
                    </a:ext>
                  </a:extLst>
                </p:cNvPr>
                <p:cNvSpPr/>
                <p:nvPr/>
              </p:nvSpPr>
              <p:spPr>
                <a:xfrm>
                  <a:off x="6553200" y="1066800"/>
                  <a:ext cx="609600" cy="685800"/>
                </a:xfrm>
                <a:prstGeom prst="rect">
                  <a:avLst/>
                </a:prstGeom>
                <a:no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200" b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40</a:t>
                  </a:r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8D913F9A-4BDF-4DC0-91C9-06050F0F7D89}"/>
                    </a:ext>
                  </a:extLst>
                </p:cNvPr>
                <p:cNvSpPr/>
                <p:nvPr/>
              </p:nvSpPr>
              <p:spPr>
                <a:xfrm>
                  <a:off x="7162800" y="1066800"/>
                  <a:ext cx="609600" cy="685800"/>
                </a:xfrm>
                <a:prstGeom prst="rect">
                  <a:avLst/>
                </a:prstGeom>
                <a:no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200" b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50</a:t>
                  </a:r>
                </a:p>
              </p:txBody>
            </p:sp>
          </p:grp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8477F65B-7294-4ECB-8247-5E1A3D97A5B9}"/>
                  </a:ext>
                </a:extLst>
              </p:cNvPr>
              <p:cNvSpPr/>
              <p:nvPr/>
            </p:nvSpPr>
            <p:spPr>
              <a:xfrm>
                <a:off x="82296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70</a:t>
                </a:r>
              </a:p>
            </p:txBody>
          </p:sp>
        </p:grp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8A824431-A805-4353-8488-201D6A6EE0FA}"/>
                </a:ext>
              </a:extLst>
            </p:cNvPr>
            <p:cNvSpPr/>
            <p:nvPr/>
          </p:nvSpPr>
          <p:spPr>
            <a:xfrm>
              <a:off x="7924800" y="51816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F9BC246-47B4-46FC-BE98-43E3BF37CA10}"/>
              </a:ext>
            </a:extLst>
          </p:cNvPr>
          <p:cNvGrpSpPr/>
          <p:nvPr/>
        </p:nvGrpSpPr>
        <p:grpSpPr>
          <a:xfrm>
            <a:off x="7086600" y="4343400"/>
            <a:ext cx="1219200" cy="827105"/>
            <a:chOff x="5493328" y="2958443"/>
            <a:chExt cx="886688" cy="827105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A3B9F6B-B748-48EC-A0DD-EF86252EA80B}"/>
                </a:ext>
              </a:extLst>
            </p:cNvPr>
            <p:cNvSpPr/>
            <p:nvPr/>
          </p:nvSpPr>
          <p:spPr>
            <a:xfrm>
              <a:off x="5493328" y="2958443"/>
              <a:ext cx="886688" cy="533400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=5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E6F2167C-86E1-46CA-B7F7-CCC1B7EEA55B}"/>
                </a:ext>
              </a:extLst>
            </p:cNvPr>
            <p:cNvCxnSpPr/>
            <p:nvPr/>
          </p:nvCxnSpPr>
          <p:spPr>
            <a:xfrm>
              <a:off x="5936672" y="3339443"/>
              <a:ext cx="0" cy="446105"/>
            </a:xfrm>
            <a:prstGeom prst="straightConnector1">
              <a:avLst/>
            </a:prstGeom>
            <a:ln w="412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61178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0" grpId="0" animBg="1"/>
      <p:bldP spid="21" grpId="0"/>
      <p:bldP spid="22" grpId="0" animBg="1"/>
      <p:bldP spid="23" grpId="0"/>
      <p:bldP spid="24" grpId="0" animBg="1"/>
      <p:bldP spid="25" grpId="0"/>
      <p:bldP spid="26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0"/>
            <a:ext cx="64008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Insert in sorted array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EFC405-48F3-4D3B-9925-B82EEFCE0A5B}"/>
              </a:ext>
            </a:extLst>
          </p:cNvPr>
          <p:cNvSpPr txBox="1"/>
          <p:nvPr/>
        </p:nvSpPr>
        <p:spPr>
          <a:xfrm>
            <a:off x="67399" y="1876485"/>
            <a:ext cx="900040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insertSorted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[],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n,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key,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Size) {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(n &gt;= Size)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n;</a:t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= n -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 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&gt;=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&amp;&amp;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 &gt; key);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--)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+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 =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+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 = key;</a:t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(n +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BCBF0D6-9B48-4095-8D7E-0B7924B32894}"/>
              </a:ext>
            </a:extLst>
          </p:cNvPr>
          <p:cNvGrpSpPr/>
          <p:nvPr/>
        </p:nvGrpSpPr>
        <p:grpSpPr>
          <a:xfrm>
            <a:off x="1066800" y="956647"/>
            <a:ext cx="3657600" cy="699229"/>
            <a:chOff x="5181600" y="1053371"/>
            <a:chExt cx="3657600" cy="69922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A128013-1820-4745-A9CB-4D6DDEAFA100}"/>
                </a:ext>
              </a:extLst>
            </p:cNvPr>
            <p:cNvGrpSpPr/>
            <p:nvPr/>
          </p:nvGrpSpPr>
          <p:grpSpPr>
            <a:xfrm>
              <a:off x="5181600" y="1053371"/>
              <a:ext cx="3048000" cy="685800"/>
              <a:chOff x="4724400" y="1066800"/>
              <a:chExt cx="3048000" cy="685800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FFD2EA7-E947-4C01-911F-00B627735AB0}"/>
                  </a:ext>
                </a:extLst>
              </p:cNvPr>
              <p:cNvSpPr/>
              <p:nvPr/>
            </p:nvSpPr>
            <p:spPr>
              <a:xfrm>
                <a:off x="47244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12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043748F-A9D6-4419-8726-4BB5B51D93BE}"/>
                  </a:ext>
                </a:extLst>
              </p:cNvPr>
              <p:cNvSpPr/>
              <p:nvPr/>
            </p:nvSpPr>
            <p:spPr>
              <a:xfrm>
                <a:off x="53340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16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7A55193-2203-4830-8F99-D108FFC7EE98}"/>
                  </a:ext>
                </a:extLst>
              </p:cNvPr>
              <p:cNvSpPr/>
              <p:nvPr/>
            </p:nvSpPr>
            <p:spPr>
              <a:xfrm>
                <a:off x="59436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53CEAB3-93F4-4416-9CCD-EA7A90BBC062}"/>
                  </a:ext>
                </a:extLst>
              </p:cNvPr>
              <p:cNvSpPr/>
              <p:nvPr/>
            </p:nvSpPr>
            <p:spPr>
              <a:xfrm>
                <a:off x="65532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40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F2B251B3-A5B5-47CF-9132-2586367DD5CC}"/>
                  </a:ext>
                </a:extLst>
              </p:cNvPr>
              <p:cNvSpPr/>
              <p:nvPr/>
            </p:nvSpPr>
            <p:spPr>
              <a:xfrm>
                <a:off x="71628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50</a:t>
                </a:r>
              </a:p>
            </p:txBody>
          </p:sp>
        </p:grp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1DC8E2C-5C76-4132-A286-380962E00E0B}"/>
                </a:ext>
              </a:extLst>
            </p:cNvPr>
            <p:cNvSpPr/>
            <p:nvPr/>
          </p:nvSpPr>
          <p:spPr>
            <a:xfrm>
              <a:off x="8229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70</a:t>
              </a:r>
            </a:p>
          </p:txBody>
        </p:sp>
      </p:grpSp>
      <p:sp>
        <p:nvSpPr>
          <p:cNvPr id="20" name="Arrow: Down 19">
            <a:extLst>
              <a:ext uri="{FF2B5EF4-FFF2-40B4-BE49-F238E27FC236}">
                <a16:creationId xmlns:a16="http://schemas.microsoft.com/office/drawing/2014/main" id="{A88FEAF5-EDB5-46D1-BA6D-22D14161D779}"/>
              </a:ext>
            </a:extLst>
          </p:cNvPr>
          <p:cNvSpPr/>
          <p:nvPr/>
        </p:nvSpPr>
        <p:spPr>
          <a:xfrm>
            <a:off x="3429000" y="1681839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CFBB8DC-0015-4F8E-BBCF-F349B5F6A642}"/>
              </a:ext>
            </a:extLst>
          </p:cNvPr>
          <p:cNvSpPr/>
          <p:nvPr/>
        </p:nvSpPr>
        <p:spPr>
          <a:xfrm>
            <a:off x="5105400" y="1165416"/>
            <a:ext cx="914400" cy="434784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n=6</a:t>
            </a:r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46D5369A-0F21-4573-B6AE-1D31D1620E78}"/>
              </a:ext>
            </a:extLst>
          </p:cNvPr>
          <p:cNvSpPr/>
          <p:nvPr/>
        </p:nvSpPr>
        <p:spPr>
          <a:xfrm>
            <a:off x="5334000" y="1605639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9387A28-3DBD-4EA5-AA4B-2DB9D1266DE0}"/>
              </a:ext>
            </a:extLst>
          </p:cNvPr>
          <p:cNvSpPr/>
          <p:nvPr/>
        </p:nvSpPr>
        <p:spPr>
          <a:xfrm>
            <a:off x="6324600" y="1143000"/>
            <a:ext cx="1143000" cy="434784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key=26</a:t>
            </a:r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B5AC4D2B-CBE4-40A6-BF28-78838476F0AB}"/>
              </a:ext>
            </a:extLst>
          </p:cNvPr>
          <p:cNvSpPr/>
          <p:nvPr/>
        </p:nvSpPr>
        <p:spPr>
          <a:xfrm>
            <a:off x="6553200" y="1583223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FE78316-6991-4FF6-9A38-E05DF8D60884}"/>
              </a:ext>
            </a:extLst>
          </p:cNvPr>
          <p:cNvSpPr/>
          <p:nvPr/>
        </p:nvSpPr>
        <p:spPr>
          <a:xfrm>
            <a:off x="7924800" y="1219200"/>
            <a:ext cx="1219200" cy="434784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Size=20</a:t>
            </a:r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01AD7A05-5336-4AB8-8F91-BB9B8CC45470}"/>
              </a:ext>
            </a:extLst>
          </p:cNvPr>
          <p:cNvSpPr/>
          <p:nvPr/>
        </p:nvSpPr>
        <p:spPr>
          <a:xfrm>
            <a:off x="8153400" y="1659423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2AA4BAA-6D54-4350-8B8F-D9911DB08269}"/>
              </a:ext>
            </a:extLst>
          </p:cNvPr>
          <p:cNvGrpSpPr/>
          <p:nvPr/>
        </p:nvGrpSpPr>
        <p:grpSpPr>
          <a:xfrm>
            <a:off x="4267200" y="5168171"/>
            <a:ext cx="3657600" cy="699229"/>
            <a:chOff x="5181600" y="1053371"/>
            <a:chExt cx="3657600" cy="699229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CBA90851-5272-4BFE-94D1-BA4A0405725F}"/>
                </a:ext>
              </a:extLst>
            </p:cNvPr>
            <p:cNvGrpSpPr/>
            <p:nvPr/>
          </p:nvGrpSpPr>
          <p:grpSpPr>
            <a:xfrm>
              <a:off x="5181600" y="1053371"/>
              <a:ext cx="3048000" cy="685800"/>
              <a:chOff x="4724400" y="1066800"/>
              <a:chExt cx="3048000" cy="685800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CEFDF393-0678-4684-9619-06B2B1513B18}"/>
                  </a:ext>
                </a:extLst>
              </p:cNvPr>
              <p:cNvSpPr/>
              <p:nvPr/>
            </p:nvSpPr>
            <p:spPr>
              <a:xfrm>
                <a:off x="47244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12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A44E89E1-C266-4EFC-9DCB-A335C45E470F}"/>
                  </a:ext>
                </a:extLst>
              </p:cNvPr>
              <p:cNvSpPr/>
              <p:nvPr/>
            </p:nvSpPr>
            <p:spPr>
              <a:xfrm>
                <a:off x="53340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16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5B3EA068-2F5E-4101-AE36-9171BB898E14}"/>
                  </a:ext>
                </a:extLst>
              </p:cNvPr>
              <p:cNvSpPr/>
              <p:nvPr/>
            </p:nvSpPr>
            <p:spPr>
              <a:xfrm>
                <a:off x="59436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532F56A9-75DC-452A-8D05-76F05044CEC7}"/>
                  </a:ext>
                </a:extLst>
              </p:cNvPr>
              <p:cNvSpPr/>
              <p:nvPr/>
            </p:nvSpPr>
            <p:spPr>
              <a:xfrm>
                <a:off x="65532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40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8D913F9A-4BDF-4DC0-91C9-06050F0F7D89}"/>
                  </a:ext>
                </a:extLst>
              </p:cNvPr>
              <p:cNvSpPr/>
              <p:nvPr/>
            </p:nvSpPr>
            <p:spPr>
              <a:xfrm>
                <a:off x="71628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50</a:t>
                </a:r>
              </a:p>
            </p:txBody>
          </p:sp>
        </p:grp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477F65B-7294-4ECB-8247-5E1A3D97A5B9}"/>
                </a:ext>
              </a:extLst>
            </p:cNvPr>
            <p:cNvSpPr/>
            <p:nvPr/>
          </p:nvSpPr>
          <p:spPr>
            <a:xfrm>
              <a:off x="8229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70</a:t>
              </a:r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8A824431-A805-4353-8488-201D6A6EE0FA}"/>
              </a:ext>
            </a:extLst>
          </p:cNvPr>
          <p:cNvSpPr/>
          <p:nvPr/>
        </p:nvSpPr>
        <p:spPr>
          <a:xfrm>
            <a:off x="7924800" y="5181600"/>
            <a:ext cx="609600" cy="6858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70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F9BC246-47B4-46FC-BE98-43E3BF37CA10}"/>
              </a:ext>
            </a:extLst>
          </p:cNvPr>
          <p:cNvGrpSpPr/>
          <p:nvPr/>
        </p:nvGrpSpPr>
        <p:grpSpPr>
          <a:xfrm>
            <a:off x="6400800" y="4343400"/>
            <a:ext cx="1219200" cy="827105"/>
            <a:chOff x="5493328" y="2958443"/>
            <a:chExt cx="886688" cy="827105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A3B9F6B-B748-48EC-A0DD-EF86252EA80B}"/>
                </a:ext>
              </a:extLst>
            </p:cNvPr>
            <p:cNvSpPr/>
            <p:nvPr/>
          </p:nvSpPr>
          <p:spPr>
            <a:xfrm>
              <a:off x="5493328" y="2958443"/>
              <a:ext cx="886688" cy="533400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=4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E6F2167C-86E1-46CA-B7F7-CCC1B7EEA55B}"/>
                </a:ext>
              </a:extLst>
            </p:cNvPr>
            <p:cNvCxnSpPr/>
            <p:nvPr/>
          </p:nvCxnSpPr>
          <p:spPr>
            <a:xfrm>
              <a:off x="5936672" y="3339443"/>
              <a:ext cx="0" cy="446105"/>
            </a:xfrm>
            <a:prstGeom prst="straightConnector1">
              <a:avLst/>
            </a:prstGeom>
            <a:ln w="412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93124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0"/>
            <a:ext cx="64008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Insert in sorted array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EFC405-48F3-4D3B-9925-B82EEFCE0A5B}"/>
              </a:ext>
            </a:extLst>
          </p:cNvPr>
          <p:cNvSpPr txBox="1"/>
          <p:nvPr/>
        </p:nvSpPr>
        <p:spPr>
          <a:xfrm>
            <a:off x="67399" y="1876485"/>
            <a:ext cx="900040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insertSorted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[],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n,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key,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Size) {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(n &gt;= Size)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n;</a:t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= n -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 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&gt;=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&amp;&amp;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 &gt; key);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--)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+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 =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+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 = key;</a:t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(n +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BCBF0D6-9B48-4095-8D7E-0B7924B32894}"/>
              </a:ext>
            </a:extLst>
          </p:cNvPr>
          <p:cNvGrpSpPr/>
          <p:nvPr/>
        </p:nvGrpSpPr>
        <p:grpSpPr>
          <a:xfrm>
            <a:off x="1066800" y="956647"/>
            <a:ext cx="3657600" cy="699229"/>
            <a:chOff x="5181600" y="1053371"/>
            <a:chExt cx="3657600" cy="69922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A128013-1820-4745-A9CB-4D6DDEAFA100}"/>
                </a:ext>
              </a:extLst>
            </p:cNvPr>
            <p:cNvGrpSpPr/>
            <p:nvPr/>
          </p:nvGrpSpPr>
          <p:grpSpPr>
            <a:xfrm>
              <a:off x="5181600" y="1053371"/>
              <a:ext cx="3048000" cy="685800"/>
              <a:chOff x="4724400" y="1066800"/>
              <a:chExt cx="3048000" cy="685800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FFD2EA7-E947-4C01-911F-00B627735AB0}"/>
                  </a:ext>
                </a:extLst>
              </p:cNvPr>
              <p:cNvSpPr/>
              <p:nvPr/>
            </p:nvSpPr>
            <p:spPr>
              <a:xfrm>
                <a:off x="47244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12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043748F-A9D6-4419-8726-4BB5B51D93BE}"/>
                  </a:ext>
                </a:extLst>
              </p:cNvPr>
              <p:cNvSpPr/>
              <p:nvPr/>
            </p:nvSpPr>
            <p:spPr>
              <a:xfrm>
                <a:off x="53340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16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7A55193-2203-4830-8F99-D108FFC7EE98}"/>
                  </a:ext>
                </a:extLst>
              </p:cNvPr>
              <p:cNvSpPr/>
              <p:nvPr/>
            </p:nvSpPr>
            <p:spPr>
              <a:xfrm>
                <a:off x="59436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53CEAB3-93F4-4416-9CCD-EA7A90BBC062}"/>
                  </a:ext>
                </a:extLst>
              </p:cNvPr>
              <p:cNvSpPr/>
              <p:nvPr/>
            </p:nvSpPr>
            <p:spPr>
              <a:xfrm>
                <a:off x="65532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40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F2B251B3-A5B5-47CF-9132-2586367DD5CC}"/>
                  </a:ext>
                </a:extLst>
              </p:cNvPr>
              <p:cNvSpPr/>
              <p:nvPr/>
            </p:nvSpPr>
            <p:spPr>
              <a:xfrm>
                <a:off x="71628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50</a:t>
                </a:r>
              </a:p>
            </p:txBody>
          </p:sp>
        </p:grp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1DC8E2C-5C76-4132-A286-380962E00E0B}"/>
                </a:ext>
              </a:extLst>
            </p:cNvPr>
            <p:cNvSpPr/>
            <p:nvPr/>
          </p:nvSpPr>
          <p:spPr>
            <a:xfrm>
              <a:off x="8229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70</a:t>
              </a:r>
            </a:p>
          </p:txBody>
        </p:sp>
      </p:grpSp>
      <p:sp>
        <p:nvSpPr>
          <p:cNvPr id="20" name="Arrow: Down 19">
            <a:extLst>
              <a:ext uri="{FF2B5EF4-FFF2-40B4-BE49-F238E27FC236}">
                <a16:creationId xmlns:a16="http://schemas.microsoft.com/office/drawing/2014/main" id="{A88FEAF5-EDB5-46D1-BA6D-22D14161D779}"/>
              </a:ext>
            </a:extLst>
          </p:cNvPr>
          <p:cNvSpPr/>
          <p:nvPr/>
        </p:nvSpPr>
        <p:spPr>
          <a:xfrm>
            <a:off x="3429000" y="1681839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CFBB8DC-0015-4F8E-BBCF-F349B5F6A642}"/>
              </a:ext>
            </a:extLst>
          </p:cNvPr>
          <p:cNvSpPr/>
          <p:nvPr/>
        </p:nvSpPr>
        <p:spPr>
          <a:xfrm>
            <a:off x="5105400" y="1165416"/>
            <a:ext cx="914400" cy="434784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n=6</a:t>
            </a:r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46D5369A-0F21-4573-B6AE-1D31D1620E78}"/>
              </a:ext>
            </a:extLst>
          </p:cNvPr>
          <p:cNvSpPr/>
          <p:nvPr/>
        </p:nvSpPr>
        <p:spPr>
          <a:xfrm>
            <a:off x="5334000" y="1605639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9387A28-3DBD-4EA5-AA4B-2DB9D1266DE0}"/>
              </a:ext>
            </a:extLst>
          </p:cNvPr>
          <p:cNvSpPr/>
          <p:nvPr/>
        </p:nvSpPr>
        <p:spPr>
          <a:xfrm>
            <a:off x="6324600" y="1143000"/>
            <a:ext cx="1143000" cy="434784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key=26</a:t>
            </a:r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B5AC4D2B-CBE4-40A6-BF28-78838476F0AB}"/>
              </a:ext>
            </a:extLst>
          </p:cNvPr>
          <p:cNvSpPr/>
          <p:nvPr/>
        </p:nvSpPr>
        <p:spPr>
          <a:xfrm>
            <a:off x="6553200" y="1583223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FE78316-6991-4FF6-9A38-E05DF8D60884}"/>
              </a:ext>
            </a:extLst>
          </p:cNvPr>
          <p:cNvSpPr/>
          <p:nvPr/>
        </p:nvSpPr>
        <p:spPr>
          <a:xfrm>
            <a:off x="7924800" y="1219200"/>
            <a:ext cx="1219200" cy="434784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Size=20</a:t>
            </a:r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01AD7A05-5336-4AB8-8F91-BB9B8CC45470}"/>
              </a:ext>
            </a:extLst>
          </p:cNvPr>
          <p:cNvSpPr/>
          <p:nvPr/>
        </p:nvSpPr>
        <p:spPr>
          <a:xfrm>
            <a:off x="8153400" y="1659423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2AA4BAA-6D54-4350-8B8F-D9911DB08269}"/>
              </a:ext>
            </a:extLst>
          </p:cNvPr>
          <p:cNvGrpSpPr/>
          <p:nvPr/>
        </p:nvGrpSpPr>
        <p:grpSpPr>
          <a:xfrm>
            <a:off x="4267200" y="5168171"/>
            <a:ext cx="3657600" cy="699229"/>
            <a:chOff x="5181600" y="1053371"/>
            <a:chExt cx="3657600" cy="699229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CBA90851-5272-4BFE-94D1-BA4A0405725F}"/>
                </a:ext>
              </a:extLst>
            </p:cNvPr>
            <p:cNvGrpSpPr/>
            <p:nvPr/>
          </p:nvGrpSpPr>
          <p:grpSpPr>
            <a:xfrm>
              <a:off x="5181600" y="1053371"/>
              <a:ext cx="3048000" cy="685800"/>
              <a:chOff x="4724400" y="1066800"/>
              <a:chExt cx="3048000" cy="685800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CEFDF393-0678-4684-9619-06B2B1513B18}"/>
                  </a:ext>
                </a:extLst>
              </p:cNvPr>
              <p:cNvSpPr/>
              <p:nvPr/>
            </p:nvSpPr>
            <p:spPr>
              <a:xfrm>
                <a:off x="47244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12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A44E89E1-C266-4EFC-9DCB-A335C45E470F}"/>
                  </a:ext>
                </a:extLst>
              </p:cNvPr>
              <p:cNvSpPr/>
              <p:nvPr/>
            </p:nvSpPr>
            <p:spPr>
              <a:xfrm>
                <a:off x="53340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16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5B3EA068-2F5E-4101-AE36-9171BB898E14}"/>
                  </a:ext>
                </a:extLst>
              </p:cNvPr>
              <p:cNvSpPr/>
              <p:nvPr/>
            </p:nvSpPr>
            <p:spPr>
              <a:xfrm>
                <a:off x="59436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532F56A9-75DC-452A-8D05-76F05044CEC7}"/>
                  </a:ext>
                </a:extLst>
              </p:cNvPr>
              <p:cNvSpPr/>
              <p:nvPr/>
            </p:nvSpPr>
            <p:spPr>
              <a:xfrm>
                <a:off x="65532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40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8D913F9A-4BDF-4DC0-91C9-06050F0F7D89}"/>
                  </a:ext>
                </a:extLst>
              </p:cNvPr>
              <p:cNvSpPr/>
              <p:nvPr/>
            </p:nvSpPr>
            <p:spPr>
              <a:xfrm>
                <a:off x="71628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50</a:t>
                </a:r>
              </a:p>
            </p:txBody>
          </p:sp>
        </p:grp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477F65B-7294-4ECB-8247-5E1A3D97A5B9}"/>
                </a:ext>
              </a:extLst>
            </p:cNvPr>
            <p:cNvSpPr/>
            <p:nvPr/>
          </p:nvSpPr>
          <p:spPr>
            <a:xfrm>
              <a:off x="8229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50</a:t>
              </a:r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8A824431-A805-4353-8488-201D6A6EE0FA}"/>
              </a:ext>
            </a:extLst>
          </p:cNvPr>
          <p:cNvSpPr/>
          <p:nvPr/>
        </p:nvSpPr>
        <p:spPr>
          <a:xfrm>
            <a:off x="7924800" y="5181600"/>
            <a:ext cx="609600" cy="6858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70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F9BC246-47B4-46FC-BE98-43E3BF37CA10}"/>
              </a:ext>
            </a:extLst>
          </p:cNvPr>
          <p:cNvGrpSpPr/>
          <p:nvPr/>
        </p:nvGrpSpPr>
        <p:grpSpPr>
          <a:xfrm>
            <a:off x="5791200" y="4343400"/>
            <a:ext cx="1219200" cy="827105"/>
            <a:chOff x="5493328" y="2958443"/>
            <a:chExt cx="886688" cy="827105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A3B9F6B-B748-48EC-A0DD-EF86252EA80B}"/>
                </a:ext>
              </a:extLst>
            </p:cNvPr>
            <p:cNvSpPr/>
            <p:nvPr/>
          </p:nvSpPr>
          <p:spPr>
            <a:xfrm>
              <a:off x="5493328" y="2958443"/>
              <a:ext cx="886688" cy="533400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=3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E6F2167C-86E1-46CA-B7F7-CCC1B7EEA55B}"/>
                </a:ext>
              </a:extLst>
            </p:cNvPr>
            <p:cNvCxnSpPr/>
            <p:nvPr/>
          </p:nvCxnSpPr>
          <p:spPr>
            <a:xfrm>
              <a:off x="5936672" y="3339443"/>
              <a:ext cx="0" cy="446105"/>
            </a:xfrm>
            <a:prstGeom prst="straightConnector1">
              <a:avLst/>
            </a:prstGeom>
            <a:ln w="412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51338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0"/>
            <a:ext cx="64008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Insert in sorted array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EFC405-48F3-4D3B-9925-B82EEFCE0A5B}"/>
              </a:ext>
            </a:extLst>
          </p:cNvPr>
          <p:cNvSpPr txBox="1"/>
          <p:nvPr/>
        </p:nvSpPr>
        <p:spPr>
          <a:xfrm>
            <a:off x="67399" y="1876485"/>
            <a:ext cx="900040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insertSorted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[],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n,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key,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Size) {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(n &gt;= Size)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n;</a:t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= n -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 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&gt;=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&amp;&amp;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 &gt; key);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--)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+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 =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+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 = key;</a:t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(n +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BCBF0D6-9B48-4095-8D7E-0B7924B32894}"/>
              </a:ext>
            </a:extLst>
          </p:cNvPr>
          <p:cNvGrpSpPr/>
          <p:nvPr/>
        </p:nvGrpSpPr>
        <p:grpSpPr>
          <a:xfrm>
            <a:off x="1066800" y="956647"/>
            <a:ext cx="3657600" cy="699229"/>
            <a:chOff x="5181600" y="1053371"/>
            <a:chExt cx="3657600" cy="69922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A128013-1820-4745-A9CB-4D6DDEAFA100}"/>
                </a:ext>
              </a:extLst>
            </p:cNvPr>
            <p:cNvGrpSpPr/>
            <p:nvPr/>
          </p:nvGrpSpPr>
          <p:grpSpPr>
            <a:xfrm>
              <a:off x="5181600" y="1053371"/>
              <a:ext cx="3048000" cy="685800"/>
              <a:chOff x="4724400" y="1066800"/>
              <a:chExt cx="3048000" cy="685800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FFD2EA7-E947-4C01-911F-00B627735AB0}"/>
                  </a:ext>
                </a:extLst>
              </p:cNvPr>
              <p:cNvSpPr/>
              <p:nvPr/>
            </p:nvSpPr>
            <p:spPr>
              <a:xfrm>
                <a:off x="47244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12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043748F-A9D6-4419-8726-4BB5B51D93BE}"/>
                  </a:ext>
                </a:extLst>
              </p:cNvPr>
              <p:cNvSpPr/>
              <p:nvPr/>
            </p:nvSpPr>
            <p:spPr>
              <a:xfrm>
                <a:off x="53340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16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7A55193-2203-4830-8F99-D108FFC7EE98}"/>
                  </a:ext>
                </a:extLst>
              </p:cNvPr>
              <p:cNvSpPr/>
              <p:nvPr/>
            </p:nvSpPr>
            <p:spPr>
              <a:xfrm>
                <a:off x="59436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53CEAB3-93F4-4416-9CCD-EA7A90BBC062}"/>
                  </a:ext>
                </a:extLst>
              </p:cNvPr>
              <p:cNvSpPr/>
              <p:nvPr/>
            </p:nvSpPr>
            <p:spPr>
              <a:xfrm>
                <a:off x="65532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40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F2B251B3-A5B5-47CF-9132-2586367DD5CC}"/>
                  </a:ext>
                </a:extLst>
              </p:cNvPr>
              <p:cNvSpPr/>
              <p:nvPr/>
            </p:nvSpPr>
            <p:spPr>
              <a:xfrm>
                <a:off x="71628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50</a:t>
                </a:r>
              </a:p>
            </p:txBody>
          </p:sp>
        </p:grp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1DC8E2C-5C76-4132-A286-380962E00E0B}"/>
                </a:ext>
              </a:extLst>
            </p:cNvPr>
            <p:cNvSpPr/>
            <p:nvPr/>
          </p:nvSpPr>
          <p:spPr>
            <a:xfrm>
              <a:off x="8229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70</a:t>
              </a:r>
            </a:p>
          </p:txBody>
        </p:sp>
      </p:grpSp>
      <p:sp>
        <p:nvSpPr>
          <p:cNvPr id="20" name="Arrow: Down 19">
            <a:extLst>
              <a:ext uri="{FF2B5EF4-FFF2-40B4-BE49-F238E27FC236}">
                <a16:creationId xmlns:a16="http://schemas.microsoft.com/office/drawing/2014/main" id="{A88FEAF5-EDB5-46D1-BA6D-22D14161D779}"/>
              </a:ext>
            </a:extLst>
          </p:cNvPr>
          <p:cNvSpPr/>
          <p:nvPr/>
        </p:nvSpPr>
        <p:spPr>
          <a:xfrm>
            <a:off x="3429000" y="1681839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CFBB8DC-0015-4F8E-BBCF-F349B5F6A642}"/>
              </a:ext>
            </a:extLst>
          </p:cNvPr>
          <p:cNvSpPr/>
          <p:nvPr/>
        </p:nvSpPr>
        <p:spPr>
          <a:xfrm>
            <a:off x="5105400" y="1165416"/>
            <a:ext cx="914400" cy="434784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n=6</a:t>
            </a:r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46D5369A-0F21-4573-B6AE-1D31D1620E78}"/>
              </a:ext>
            </a:extLst>
          </p:cNvPr>
          <p:cNvSpPr/>
          <p:nvPr/>
        </p:nvSpPr>
        <p:spPr>
          <a:xfrm>
            <a:off x="5334000" y="1605639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9387A28-3DBD-4EA5-AA4B-2DB9D1266DE0}"/>
              </a:ext>
            </a:extLst>
          </p:cNvPr>
          <p:cNvSpPr/>
          <p:nvPr/>
        </p:nvSpPr>
        <p:spPr>
          <a:xfrm>
            <a:off x="6324600" y="1143000"/>
            <a:ext cx="1143000" cy="434784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key=26</a:t>
            </a:r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B5AC4D2B-CBE4-40A6-BF28-78838476F0AB}"/>
              </a:ext>
            </a:extLst>
          </p:cNvPr>
          <p:cNvSpPr/>
          <p:nvPr/>
        </p:nvSpPr>
        <p:spPr>
          <a:xfrm>
            <a:off x="6553200" y="1583223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FE78316-6991-4FF6-9A38-E05DF8D60884}"/>
              </a:ext>
            </a:extLst>
          </p:cNvPr>
          <p:cNvSpPr/>
          <p:nvPr/>
        </p:nvSpPr>
        <p:spPr>
          <a:xfrm>
            <a:off x="7924800" y="1219200"/>
            <a:ext cx="1219200" cy="434784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Size=20</a:t>
            </a:r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01AD7A05-5336-4AB8-8F91-BB9B8CC45470}"/>
              </a:ext>
            </a:extLst>
          </p:cNvPr>
          <p:cNvSpPr/>
          <p:nvPr/>
        </p:nvSpPr>
        <p:spPr>
          <a:xfrm>
            <a:off x="8153400" y="1659423"/>
            <a:ext cx="266700" cy="6041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2AA4BAA-6D54-4350-8B8F-D9911DB08269}"/>
              </a:ext>
            </a:extLst>
          </p:cNvPr>
          <p:cNvGrpSpPr/>
          <p:nvPr/>
        </p:nvGrpSpPr>
        <p:grpSpPr>
          <a:xfrm>
            <a:off x="4267200" y="5168171"/>
            <a:ext cx="3657600" cy="699229"/>
            <a:chOff x="5181600" y="1053371"/>
            <a:chExt cx="3657600" cy="699229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CBA90851-5272-4BFE-94D1-BA4A0405725F}"/>
                </a:ext>
              </a:extLst>
            </p:cNvPr>
            <p:cNvGrpSpPr/>
            <p:nvPr/>
          </p:nvGrpSpPr>
          <p:grpSpPr>
            <a:xfrm>
              <a:off x="5181600" y="1053371"/>
              <a:ext cx="3048000" cy="685800"/>
              <a:chOff x="4724400" y="1066800"/>
              <a:chExt cx="3048000" cy="685800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CEFDF393-0678-4684-9619-06B2B1513B18}"/>
                  </a:ext>
                </a:extLst>
              </p:cNvPr>
              <p:cNvSpPr/>
              <p:nvPr/>
            </p:nvSpPr>
            <p:spPr>
              <a:xfrm>
                <a:off x="47244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12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A44E89E1-C266-4EFC-9DCB-A335C45E470F}"/>
                  </a:ext>
                </a:extLst>
              </p:cNvPr>
              <p:cNvSpPr/>
              <p:nvPr/>
            </p:nvSpPr>
            <p:spPr>
              <a:xfrm>
                <a:off x="53340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16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5B3EA068-2F5E-4101-AE36-9171BB898E14}"/>
                  </a:ext>
                </a:extLst>
              </p:cNvPr>
              <p:cNvSpPr/>
              <p:nvPr/>
            </p:nvSpPr>
            <p:spPr>
              <a:xfrm>
                <a:off x="59436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532F56A9-75DC-452A-8D05-76F05044CEC7}"/>
                  </a:ext>
                </a:extLst>
              </p:cNvPr>
              <p:cNvSpPr/>
              <p:nvPr/>
            </p:nvSpPr>
            <p:spPr>
              <a:xfrm>
                <a:off x="65532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26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8D913F9A-4BDF-4DC0-91C9-06050F0F7D89}"/>
                  </a:ext>
                </a:extLst>
              </p:cNvPr>
              <p:cNvSpPr/>
              <p:nvPr/>
            </p:nvSpPr>
            <p:spPr>
              <a:xfrm>
                <a:off x="71628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40</a:t>
                </a:r>
              </a:p>
            </p:txBody>
          </p:sp>
        </p:grp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477F65B-7294-4ECB-8247-5E1A3D97A5B9}"/>
                </a:ext>
              </a:extLst>
            </p:cNvPr>
            <p:cNvSpPr/>
            <p:nvPr/>
          </p:nvSpPr>
          <p:spPr>
            <a:xfrm>
              <a:off x="8229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50</a:t>
              </a:r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8A824431-A805-4353-8488-201D6A6EE0FA}"/>
              </a:ext>
            </a:extLst>
          </p:cNvPr>
          <p:cNvSpPr/>
          <p:nvPr/>
        </p:nvSpPr>
        <p:spPr>
          <a:xfrm>
            <a:off x="7924800" y="5181600"/>
            <a:ext cx="609600" cy="6858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70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F9BC246-47B4-46FC-BE98-43E3BF37CA10}"/>
              </a:ext>
            </a:extLst>
          </p:cNvPr>
          <p:cNvGrpSpPr/>
          <p:nvPr/>
        </p:nvGrpSpPr>
        <p:grpSpPr>
          <a:xfrm>
            <a:off x="5105400" y="4343400"/>
            <a:ext cx="1219200" cy="827105"/>
            <a:chOff x="5493328" y="2958443"/>
            <a:chExt cx="886688" cy="827105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A3B9F6B-B748-48EC-A0DD-EF86252EA80B}"/>
                </a:ext>
              </a:extLst>
            </p:cNvPr>
            <p:cNvSpPr/>
            <p:nvPr/>
          </p:nvSpPr>
          <p:spPr>
            <a:xfrm>
              <a:off x="5493328" y="2958443"/>
              <a:ext cx="886688" cy="533400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=2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E6F2167C-86E1-46CA-B7F7-CCC1B7EEA55B}"/>
                </a:ext>
              </a:extLst>
            </p:cNvPr>
            <p:cNvCxnSpPr/>
            <p:nvPr/>
          </p:nvCxnSpPr>
          <p:spPr>
            <a:xfrm>
              <a:off x="5936672" y="3339443"/>
              <a:ext cx="0" cy="446105"/>
            </a:xfrm>
            <a:prstGeom prst="straightConnector1">
              <a:avLst/>
            </a:prstGeom>
            <a:ln w="412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328096B9-437F-434F-BC8C-235790F53EB8}"/>
              </a:ext>
            </a:extLst>
          </p:cNvPr>
          <p:cNvSpPr/>
          <p:nvPr/>
        </p:nvSpPr>
        <p:spPr>
          <a:xfrm>
            <a:off x="304801" y="2756931"/>
            <a:ext cx="2330805" cy="2798945"/>
          </a:xfrm>
          <a:custGeom>
            <a:avLst/>
            <a:gdLst>
              <a:gd name="connsiteX0" fmla="*/ 2148572 w 2314420"/>
              <a:gd name="connsiteY0" fmla="*/ 2057400 h 2057400"/>
              <a:gd name="connsiteX1" fmla="*/ 2121678 w 2314420"/>
              <a:gd name="connsiteY1" fmla="*/ 1573306 h 2057400"/>
              <a:gd name="connsiteX2" fmla="*/ 212196 w 2314420"/>
              <a:gd name="connsiteY2" fmla="*/ 1452283 h 2057400"/>
              <a:gd name="connsiteX3" fmla="*/ 131514 w 2314420"/>
              <a:gd name="connsiteY3" fmla="*/ 0 h 2057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14420" h="2057400">
                <a:moveTo>
                  <a:pt x="2148572" y="2057400"/>
                </a:moveTo>
                <a:cubicBezTo>
                  <a:pt x="2296489" y="1865779"/>
                  <a:pt x="2444407" y="1674159"/>
                  <a:pt x="2121678" y="1573306"/>
                </a:cubicBezTo>
                <a:cubicBezTo>
                  <a:pt x="1798949" y="1472453"/>
                  <a:pt x="543890" y="1714501"/>
                  <a:pt x="212196" y="1452283"/>
                </a:cubicBezTo>
                <a:cubicBezTo>
                  <a:pt x="-119498" y="1190065"/>
                  <a:pt x="6008" y="595032"/>
                  <a:pt x="131514" y="0"/>
                </a:cubicBezTo>
              </a:path>
            </a:pathLst>
          </a:custGeom>
          <a:noFill/>
          <a:ln w="47625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33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0"/>
            <a:ext cx="64008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Insert in sorted array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EFC405-48F3-4D3B-9925-B82EEFCE0A5B}"/>
              </a:ext>
            </a:extLst>
          </p:cNvPr>
          <p:cNvSpPr txBox="1"/>
          <p:nvPr/>
        </p:nvSpPr>
        <p:spPr>
          <a:xfrm>
            <a:off x="67399" y="838200"/>
            <a:ext cx="9000401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main() {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20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 = {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12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16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20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40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50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70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};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Size = 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 / 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n =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6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key =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26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&lt;&lt; 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"\</a:t>
            </a:r>
            <a:r>
              <a:rPr lang="en-US" sz="2400" dirty="0" err="1">
                <a:solidFill>
                  <a:srgbClr val="A31515"/>
                </a:solidFill>
                <a:latin typeface="Consolas" panose="020B0609020204030204" pitchFamily="49" charset="0"/>
              </a:rPr>
              <a:t>nBefore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 Insertion: 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&lt; n;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 &lt;&lt; 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 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n =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insertSorted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n, key, Size);</a:t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"\</a:t>
            </a:r>
            <a:r>
              <a:rPr lang="en-US" sz="2400" dirty="0" err="1">
                <a:solidFill>
                  <a:srgbClr val="A31515"/>
                </a:solidFill>
                <a:latin typeface="Consolas" panose="020B0609020204030204" pitchFamily="49" charset="0"/>
              </a:rPr>
              <a:t>nAfter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 Insertion: 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&lt; n;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]&lt;&lt; 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 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CC394E6A-B8D0-46A3-98CF-EAA3C80DC222}"/>
              </a:ext>
            </a:extLst>
          </p:cNvPr>
          <p:cNvSpPr/>
          <p:nvPr/>
        </p:nvSpPr>
        <p:spPr>
          <a:xfrm>
            <a:off x="4114800" y="814288"/>
            <a:ext cx="914400" cy="2363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2B7F0C3-0A0C-45A1-9A5B-1621CDD62DEA}"/>
              </a:ext>
            </a:extLst>
          </p:cNvPr>
          <p:cNvGrpSpPr/>
          <p:nvPr/>
        </p:nvGrpSpPr>
        <p:grpSpPr>
          <a:xfrm>
            <a:off x="5029200" y="596171"/>
            <a:ext cx="3657600" cy="699229"/>
            <a:chOff x="5181600" y="1053371"/>
            <a:chExt cx="3657600" cy="699229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4D29B1EC-519A-4DB0-9694-A3060B39AEE3}"/>
                </a:ext>
              </a:extLst>
            </p:cNvPr>
            <p:cNvGrpSpPr/>
            <p:nvPr/>
          </p:nvGrpSpPr>
          <p:grpSpPr>
            <a:xfrm>
              <a:off x="5181600" y="1053371"/>
              <a:ext cx="3048000" cy="685800"/>
              <a:chOff x="4724400" y="1066800"/>
              <a:chExt cx="3048000" cy="685800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DAC7859-5C25-4FA3-8F85-4925479C3C9B}"/>
                  </a:ext>
                </a:extLst>
              </p:cNvPr>
              <p:cNvSpPr/>
              <p:nvPr/>
            </p:nvSpPr>
            <p:spPr>
              <a:xfrm>
                <a:off x="47244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12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944B0267-F28D-4E97-9305-6E57F6A6DE52}"/>
                  </a:ext>
                </a:extLst>
              </p:cNvPr>
              <p:cNvSpPr/>
              <p:nvPr/>
            </p:nvSpPr>
            <p:spPr>
              <a:xfrm>
                <a:off x="53340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16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9E54442B-DB21-43A5-8FD7-7A8874B6B108}"/>
                  </a:ext>
                </a:extLst>
              </p:cNvPr>
              <p:cNvSpPr/>
              <p:nvPr/>
            </p:nvSpPr>
            <p:spPr>
              <a:xfrm>
                <a:off x="59436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</a:t>
                </a: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53A46B8E-CAE8-4C6E-987B-2778DB75A615}"/>
                  </a:ext>
                </a:extLst>
              </p:cNvPr>
              <p:cNvSpPr/>
              <p:nvPr/>
            </p:nvSpPr>
            <p:spPr>
              <a:xfrm>
                <a:off x="65532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40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9845BE59-4924-489B-B9CD-DBFA0AA61A7C}"/>
                  </a:ext>
                </a:extLst>
              </p:cNvPr>
              <p:cNvSpPr/>
              <p:nvPr/>
            </p:nvSpPr>
            <p:spPr>
              <a:xfrm>
                <a:off x="7162800" y="1066800"/>
                <a:ext cx="609600" cy="6858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50</a:t>
                </a:r>
              </a:p>
            </p:txBody>
          </p:sp>
        </p:grp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A98919F-2A0C-4A1F-9895-2F727F6CAE8C}"/>
                </a:ext>
              </a:extLst>
            </p:cNvPr>
            <p:cNvSpPr/>
            <p:nvPr/>
          </p:nvSpPr>
          <p:spPr>
            <a:xfrm>
              <a:off x="8229600" y="1066800"/>
              <a:ext cx="609600" cy="6858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70</a:t>
              </a:r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59032C0B-700A-454E-BA5F-586D49F208DA}"/>
              </a:ext>
            </a:extLst>
          </p:cNvPr>
          <p:cNvSpPr/>
          <p:nvPr/>
        </p:nvSpPr>
        <p:spPr>
          <a:xfrm>
            <a:off x="7772400" y="1981200"/>
            <a:ext cx="9144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n=6</a:t>
            </a:r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858969EA-0D34-4C5E-9495-7C7E66424BD0}"/>
              </a:ext>
            </a:extLst>
          </p:cNvPr>
          <p:cNvSpPr/>
          <p:nvPr/>
        </p:nvSpPr>
        <p:spPr>
          <a:xfrm>
            <a:off x="6934200" y="2133600"/>
            <a:ext cx="914400" cy="2363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085EC6B-EF4F-4748-A36A-0BBA489652AA}"/>
              </a:ext>
            </a:extLst>
          </p:cNvPr>
          <p:cNvSpPr/>
          <p:nvPr/>
        </p:nvSpPr>
        <p:spPr>
          <a:xfrm>
            <a:off x="7696200" y="2438400"/>
            <a:ext cx="12192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key=26</a:t>
            </a:r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D85117D3-4996-461A-9F89-61852C787342}"/>
              </a:ext>
            </a:extLst>
          </p:cNvPr>
          <p:cNvSpPr/>
          <p:nvPr/>
        </p:nvSpPr>
        <p:spPr>
          <a:xfrm>
            <a:off x="6858000" y="2590800"/>
            <a:ext cx="914400" cy="2363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86BE457-CF6B-4103-B036-6E62B4115DFE}"/>
              </a:ext>
            </a:extLst>
          </p:cNvPr>
          <p:cNvSpPr/>
          <p:nvPr/>
        </p:nvSpPr>
        <p:spPr>
          <a:xfrm>
            <a:off x="8077200" y="1295400"/>
            <a:ext cx="12192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Size=20</a:t>
            </a:r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E0106E7D-3E78-4EFA-8DD4-E2F820F82D8F}"/>
              </a:ext>
            </a:extLst>
          </p:cNvPr>
          <p:cNvSpPr/>
          <p:nvPr/>
        </p:nvSpPr>
        <p:spPr>
          <a:xfrm>
            <a:off x="7239000" y="1447800"/>
            <a:ext cx="914400" cy="2363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10F2A2C-D9F3-4427-A95F-D2AFF8831E98}"/>
              </a:ext>
            </a:extLst>
          </p:cNvPr>
          <p:cNvSpPr/>
          <p:nvPr/>
        </p:nvSpPr>
        <p:spPr>
          <a:xfrm>
            <a:off x="5715000" y="3419921"/>
            <a:ext cx="2819400" cy="609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12  16  20  40  50  70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4DA5AB59-188B-4FAB-ADB9-67955896CB34}"/>
              </a:ext>
            </a:extLst>
          </p:cNvPr>
          <p:cNvSpPr/>
          <p:nvPr/>
        </p:nvSpPr>
        <p:spPr>
          <a:xfrm>
            <a:off x="1447800" y="4038600"/>
            <a:ext cx="6019800" cy="533400"/>
          </a:xfrm>
          <a:prstGeom prst="roundRect">
            <a:avLst/>
          </a:prstGeom>
          <a:noFill/>
          <a:ln w="412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78E5E67-0908-4FC8-94D2-8BE581BEA0C2}"/>
              </a:ext>
            </a:extLst>
          </p:cNvPr>
          <p:cNvSpPr/>
          <p:nvPr/>
        </p:nvSpPr>
        <p:spPr>
          <a:xfrm>
            <a:off x="7848600" y="4495800"/>
            <a:ext cx="1219200" cy="5334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n=7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0782F3AE-D675-4DB4-9066-30EFF9BC4AAB}"/>
              </a:ext>
            </a:extLst>
          </p:cNvPr>
          <p:cNvSpPr/>
          <p:nvPr/>
        </p:nvSpPr>
        <p:spPr>
          <a:xfrm>
            <a:off x="7010400" y="4648200"/>
            <a:ext cx="914400" cy="2363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C99894F-5C50-4BA3-8E97-FC33D744DEB2}"/>
              </a:ext>
            </a:extLst>
          </p:cNvPr>
          <p:cNvSpPr/>
          <p:nvPr/>
        </p:nvSpPr>
        <p:spPr>
          <a:xfrm>
            <a:off x="5410200" y="5494149"/>
            <a:ext cx="3048000" cy="609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12  16  20 26 40  50  70</a:t>
            </a:r>
          </a:p>
        </p:txBody>
      </p:sp>
    </p:spTree>
    <p:extLst>
      <p:ext uri="{BB962C8B-B14F-4D97-AF65-F5344CB8AC3E}">
        <p14:creationId xmlns:p14="http://schemas.microsoft.com/office/powerpoint/2010/main" val="2550561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 animBg="1"/>
      <p:bldP spid="27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112705"/>
            <a:ext cx="64008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Arrays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839624-3E80-4165-862D-FBDD23D15B07}"/>
              </a:ext>
            </a:extLst>
          </p:cNvPr>
          <p:cNvSpPr/>
          <p:nvPr/>
        </p:nvSpPr>
        <p:spPr>
          <a:xfrm>
            <a:off x="0" y="762000"/>
            <a:ext cx="9144000" cy="380998"/>
          </a:xfrm>
          <a:prstGeom prst="rect">
            <a:avLst/>
          </a:prstGeom>
          <a:solidFill>
            <a:schemeClr val="tx2"/>
          </a:solidFill>
          <a:ln cap="rnd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Delete in sorted array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60A103A-75AF-4595-873D-7EFA47018C38}"/>
                  </a:ext>
                </a:extLst>
              </p:cNvPr>
              <p:cNvSpPr txBox="1"/>
              <p:nvPr/>
            </p:nvSpPr>
            <p:spPr>
              <a:xfrm>
                <a:off x="152564" y="1295400"/>
                <a:ext cx="9000401" cy="16071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ts val="3000"/>
                  </a:lnSpc>
                </a:pPr>
                <a:r>
                  <a:rPr lang="en-US" sz="2400" dirty="0">
                    <a:latin typeface="Times New Roman" pitchFamily="18" charset="0"/>
                    <a:ea typeface="Times New Roman"/>
                    <a:cs typeface="Times New Roman" pitchFamily="18" charset="0"/>
                  </a:rPr>
                  <a:t>In delete operation, the element to be deleted is </a:t>
                </a:r>
                <a:r>
                  <a:rPr lang="en-US" sz="2400" b="1" dirty="0">
                    <a:solidFill>
                      <a:srgbClr val="FF0000"/>
                    </a:solidFill>
                    <a:latin typeface="Times New Roman" pitchFamily="18" charset="0"/>
                    <a:ea typeface="Times New Roman"/>
                    <a:cs typeface="Times New Roman" pitchFamily="18" charset="0"/>
                  </a:rPr>
                  <a:t>searched</a:t>
                </a:r>
                <a:r>
                  <a:rPr lang="en-US" sz="2400" dirty="0">
                    <a:latin typeface="Times New Roman" pitchFamily="18" charset="0"/>
                    <a:ea typeface="Times New Roman"/>
                    <a:cs typeface="Times New Roman" pitchFamily="18" charset="0"/>
                  </a:rPr>
                  <a:t> using </a:t>
                </a:r>
                <a:r>
                  <a:rPr lang="en-US" sz="2400" b="1" dirty="0">
                    <a:solidFill>
                      <a:srgbClr val="FF0000"/>
                    </a:solidFill>
                    <a:latin typeface="Times New Roman" pitchFamily="18" charset="0"/>
                    <a:ea typeface="Times New Roman"/>
                    <a:cs typeface="Times New Roman" pitchFamily="18" charset="0"/>
                  </a:rPr>
                  <a:t>binary search</a:t>
                </a:r>
                <a:r>
                  <a:rPr lang="en-US" sz="2400" dirty="0">
                    <a:latin typeface="Times New Roman" pitchFamily="18" charset="0"/>
                    <a:ea typeface="Times New Roman"/>
                    <a:cs typeface="Times New Roman" pitchFamily="18" charset="0"/>
                  </a:rPr>
                  <a:t> and then </a:t>
                </a:r>
                <a:r>
                  <a:rPr lang="en-US" sz="2400" b="1" dirty="0">
                    <a:solidFill>
                      <a:srgbClr val="FF0000"/>
                    </a:solidFill>
                    <a:latin typeface="Times New Roman" pitchFamily="18" charset="0"/>
                    <a:ea typeface="Times New Roman"/>
                    <a:cs typeface="Times New Roman" pitchFamily="18" charset="0"/>
                  </a:rPr>
                  <a:t>delete</a:t>
                </a:r>
                <a:r>
                  <a:rPr lang="en-US" sz="2400" dirty="0">
                    <a:latin typeface="Times New Roman" pitchFamily="18" charset="0"/>
                    <a:ea typeface="Times New Roman"/>
                    <a:cs typeface="Times New Roman" pitchFamily="18" charset="0"/>
                  </a:rPr>
                  <a:t> operation is performed followed by </a:t>
                </a:r>
                <a:r>
                  <a:rPr lang="en-US" sz="2400" b="1" dirty="0">
                    <a:solidFill>
                      <a:srgbClr val="FF0000"/>
                    </a:solidFill>
                    <a:latin typeface="Times New Roman" pitchFamily="18" charset="0"/>
                    <a:ea typeface="Times New Roman"/>
                    <a:cs typeface="Times New Roman" pitchFamily="18" charset="0"/>
                  </a:rPr>
                  <a:t>shifting</a:t>
                </a:r>
                <a:r>
                  <a:rPr lang="en-US" sz="2400" dirty="0">
                    <a:latin typeface="Times New Roman" pitchFamily="18" charset="0"/>
                    <a:ea typeface="Times New Roman"/>
                    <a:cs typeface="Times New Roman" pitchFamily="18" charset="0"/>
                  </a:rPr>
                  <a:t> the elements. </a:t>
                </a:r>
                <a:r>
                  <a:rPr lang="en-US" sz="2400" b="1" dirty="0">
                    <a:solidFill>
                      <a:srgbClr val="FF0000"/>
                    </a:solidFill>
                    <a:latin typeface="Times New Roman" pitchFamily="18" charset="0"/>
                    <a:ea typeface="Times New Roman"/>
                    <a:cs typeface="Times New Roman" pitchFamily="18" charset="0"/>
                  </a:rPr>
                  <a:t>Time Complexity </a:t>
                </a:r>
                <a:r>
                  <a:rPr lang="en-US" sz="2400" dirty="0">
                    <a:latin typeface="Times New Roman" pitchFamily="18" charset="0"/>
                    <a:ea typeface="Times New Roman"/>
                    <a:cs typeface="Times New Roman" pitchFamily="18" charset="0"/>
                  </a:rPr>
                  <a:t>of </a:t>
                </a:r>
                <a:r>
                  <a:rPr lang="en-US" sz="2400" b="1" dirty="0">
                    <a:solidFill>
                      <a:srgbClr val="FF0000"/>
                    </a:solidFill>
                    <a:latin typeface="Times New Roman" pitchFamily="18" charset="0"/>
                    <a:ea typeface="Times New Roman"/>
                    <a:cs typeface="Times New Roman" pitchFamily="18" charset="0"/>
                  </a:rPr>
                  <a:t>Delete</a:t>
                </a:r>
                <a:r>
                  <a:rPr lang="en-US" sz="2400" dirty="0">
                    <a:latin typeface="Times New Roman" pitchFamily="18" charset="0"/>
                    <a:ea typeface="Times New Roman"/>
                    <a:cs typeface="Times New Roman" pitchFamily="18" charset="0"/>
                  </a:rPr>
                  <a:t> Operation in sorted array is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Times New Roman"/>
                        <a:cs typeface="Times New Roman" pitchFamily="18" charset="0"/>
                      </a:rPr>
                      <m:t>𝑶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Times New Roman"/>
                        <a:cs typeface="Times New Roman" pitchFamily="18" charset="0"/>
                      </a:rPr>
                      <m:t>(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Times New Roman"/>
                        <a:cs typeface="Times New Roman" pitchFamily="18" charset="0"/>
                      </a:rPr>
                      <m:t>𝒏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Times New Roman"/>
                        <a:cs typeface="Times New Roman" pitchFamily="18" charset="0"/>
                      </a:rPr>
                      <m:t>)</m:t>
                    </m:r>
                  </m:oMath>
                </a14:m>
                <a:r>
                  <a:rPr lang="en-US" sz="2400" b="1" dirty="0">
                    <a:solidFill>
                      <a:srgbClr val="FF0000"/>
                    </a:solidFill>
                    <a:latin typeface="Times New Roman" pitchFamily="18" charset="0"/>
                    <a:ea typeface="Times New Roman"/>
                    <a:cs typeface="Times New Roman" pitchFamily="18" charset="0"/>
                  </a:rPr>
                  <a:t> </a:t>
                </a:r>
                <a:r>
                  <a:rPr lang="en-US" sz="2400" dirty="0">
                    <a:latin typeface="Times New Roman" pitchFamily="18" charset="0"/>
                    <a:ea typeface="Times New Roman"/>
                    <a:cs typeface="Times New Roman" pitchFamily="18" charset="0"/>
                  </a:rPr>
                  <a:t>[In worst case all elements may have to be moved]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60A103A-75AF-4595-873D-7EFA47018C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564" y="1295400"/>
                <a:ext cx="9000401" cy="1607171"/>
              </a:xfrm>
              <a:prstGeom prst="rect">
                <a:avLst/>
              </a:prstGeom>
              <a:blipFill>
                <a:blip r:embed="rId5"/>
                <a:stretch>
                  <a:fillRect l="-1016" t="-3422" r="-1084" b="-76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72161577-5C71-4D75-83F7-AFA78C6D50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0237" y="3429000"/>
            <a:ext cx="5343525" cy="290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440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0"/>
            <a:ext cx="64008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Delete in sorted array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EFC405-48F3-4D3B-9925-B82EEFCE0A5B}"/>
              </a:ext>
            </a:extLst>
          </p:cNvPr>
          <p:cNvSpPr txBox="1"/>
          <p:nvPr/>
        </p:nvSpPr>
        <p:spPr>
          <a:xfrm>
            <a:off x="67399" y="838200"/>
            <a:ext cx="9000401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main(){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[] = {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20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30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40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50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};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n = 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 / 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key =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30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"Array before deletion\n"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&lt; n;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 &lt;&lt; 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 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n =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deleteElement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n, key);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"\n\</a:t>
            </a:r>
            <a:r>
              <a:rPr lang="en-US" sz="2400" dirty="0" err="1">
                <a:solidFill>
                  <a:srgbClr val="A31515"/>
                </a:solidFill>
                <a:latin typeface="Consolas" panose="020B0609020204030204" pitchFamily="49" charset="0"/>
              </a:rPr>
              <a:t>nArray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 after deletion\n"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&lt; n;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 &lt;&lt; 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 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93DB93C-ACD6-4218-B427-80D9D86CBB05}"/>
              </a:ext>
            </a:extLst>
          </p:cNvPr>
          <p:cNvSpPr/>
          <p:nvPr/>
        </p:nvSpPr>
        <p:spPr>
          <a:xfrm>
            <a:off x="5379170" y="2590800"/>
            <a:ext cx="3733800" cy="99059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Array before deletion</a:t>
            </a:r>
          </a:p>
          <a:p>
            <a:pPr algn="ctr"/>
            <a:r>
              <a:rPr lang="en-US" sz="2000" b="1" dirty="0"/>
              <a:t>10, 20, 30, 40, 50 </a:t>
            </a:r>
          </a:p>
        </p:txBody>
      </p:sp>
    </p:spTree>
    <p:extLst>
      <p:ext uri="{BB962C8B-B14F-4D97-AF65-F5344CB8AC3E}">
        <p14:creationId xmlns:p14="http://schemas.microsoft.com/office/powerpoint/2010/main" val="1094753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0"/>
            <a:ext cx="64008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Delete in sorted array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EFC405-48F3-4D3B-9925-B82EEFCE0A5B}"/>
              </a:ext>
            </a:extLst>
          </p:cNvPr>
          <p:cNvSpPr txBox="1"/>
          <p:nvPr/>
        </p:nvSpPr>
        <p:spPr>
          <a:xfrm>
            <a:off x="67399" y="838200"/>
            <a:ext cx="9000401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deleteElement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[],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n,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key) {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pos =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binarySearch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n -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key);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(pos == -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"Element not found"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n;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= pos;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&lt; n -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 =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+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n -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1860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0"/>
            <a:ext cx="64008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Delete in sorted array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EFC405-48F3-4D3B-9925-B82EEFCE0A5B}"/>
              </a:ext>
            </a:extLst>
          </p:cNvPr>
          <p:cNvSpPr txBox="1"/>
          <p:nvPr/>
        </p:nvSpPr>
        <p:spPr>
          <a:xfrm>
            <a:off x="67399" y="838200"/>
            <a:ext cx="900040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binarySearch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[],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low,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high,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key) {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(high &lt; low)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-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mid = (low + high) /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(key ==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[mid])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mid;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(key &gt;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[mid])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binarySearch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(mid +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), high, key);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binarySearch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low, (mid -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), key);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89325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0"/>
            <a:ext cx="64008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Delete in sorted array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EFC405-48F3-4D3B-9925-B82EEFCE0A5B}"/>
              </a:ext>
            </a:extLst>
          </p:cNvPr>
          <p:cNvSpPr txBox="1"/>
          <p:nvPr/>
        </p:nvSpPr>
        <p:spPr>
          <a:xfrm>
            <a:off x="67399" y="838200"/>
            <a:ext cx="9000401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main(){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[] = {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20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30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40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50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};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n = 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 / 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key =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30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"Array before deletion\n"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&lt; n;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 &lt;&lt; 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 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n =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deleteElement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n, key);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"\n\</a:t>
            </a:r>
            <a:r>
              <a:rPr lang="en-US" sz="2400" dirty="0" err="1">
                <a:solidFill>
                  <a:srgbClr val="A31515"/>
                </a:solidFill>
                <a:latin typeface="Consolas" panose="020B0609020204030204" pitchFamily="49" charset="0"/>
              </a:rPr>
              <a:t>nArray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 after deletion\n"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&lt; n;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 &lt;&lt; 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 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1D4FB7-4127-4A7F-9316-9FC138230D07}"/>
              </a:ext>
            </a:extLst>
          </p:cNvPr>
          <p:cNvSpPr/>
          <p:nvPr/>
        </p:nvSpPr>
        <p:spPr>
          <a:xfrm>
            <a:off x="5410200" y="5817780"/>
            <a:ext cx="3733800" cy="8878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 b="1" dirty="0"/>
          </a:p>
          <a:p>
            <a:pPr algn="ctr"/>
            <a:r>
              <a:rPr lang="en-US" sz="2000" b="1" dirty="0"/>
              <a:t>Array after deletion</a:t>
            </a:r>
          </a:p>
          <a:p>
            <a:pPr algn="ctr"/>
            <a:r>
              <a:rPr lang="en-US" sz="2000" b="1" dirty="0"/>
              <a:t>10, 20, 40, 50</a:t>
            </a:r>
          </a:p>
        </p:txBody>
      </p:sp>
    </p:spTree>
    <p:extLst>
      <p:ext uri="{BB962C8B-B14F-4D97-AF65-F5344CB8AC3E}">
        <p14:creationId xmlns:p14="http://schemas.microsoft.com/office/powerpoint/2010/main" val="783771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0" y="762000"/>
            <a:ext cx="914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B08EDF-BB63-4321-91F0-BBA7C46D8D87}"/>
              </a:ext>
            </a:extLst>
          </p:cNvPr>
          <p:cNvSpPr txBox="1"/>
          <p:nvPr/>
        </p:nvSpPr>
        <p:spPr>
          <a:xfrm>
            <a:off x="1364675" y="112705"/>
            <a:ext cx="64008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Arrays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839624-3E80-4165-862D-FBDD23D15B07}"/>
              </a:ext>
            </a:extLst>
          </p:cNvPr>
          <p:cNvSpPr/>
          <p:nvPr/>
        </p:nvSpPr>
        <p:spPr>
          <a:xfrm>
            <a:off x="0" y="762000"/>
            <a:ext cx="9144000" cy="380998"/>
          </a:xfrm>
          <a:prstGeom prst="rect">
            <a:avLst/>
          </a:prstGeom>
          <a:solidFill>
            <a:schemeClr val="tx2"/>
          </a:solidFill>
          <a:ln cap="rnd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Time Complexity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4">
                <a:extLst>
                  <a:ext uri="{FF2B5EF4-FFF2-40B4-BE49-F238E27FC236}">
                    <a16:creationId xmlns:a16="http://schemas.microsoft.com/office/drawing/2014/main" id="{FC357AAA-1A3A-4793-937E-6C27ECFDC6B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04075742"/>
                  </p:ext>
                </p:extLst>
              </p:nvPr>
            </p:nvGraphicFramePr>
            <p:xfrm>
              <a:off x="304800" y="2286000"/>
              <a:ext cx="8229600" cy="2072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43200">
                      <a:extLst>
                        <a:ext uri="{9D8B030D-6E8A-4147-A177-3AD203B41FA5}">
                          <a16:colId xmlns:a16="http://schemas.microsoft.com/office/drawing/2014/main" val="3122886758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162683877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72190911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800" dirty="0"/>
                            <a:t>Operation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Unsorted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Sorted Array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556593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800" dirty="0"/>
                            <a:t>Search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𝐿𝑜𝑔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945280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800" dirty="0"/>
                            <a:t>Insert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795763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800" dirty="0"/>
                            <a:t>Delete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9398916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4">
                <a:extLst>
                  <a:ext uri="{FF2B5EF4-FFF2-40B4-BE49-F238E27FC236}">
                    <a16:creationId xmlns:a16="http://schemas.microsoft.com/office/drawing/2014/main" id="{FC357AAA-1A3A-4793-937E-6C27ECFDC6B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04075742"/>
                  </p:ext>
                </p:extLst>
              </p:nvPr>
            </p:nvGraphicFramePr>
            <p:xfrm>
              <a:off x="304800" y="2286000"/>
              <a:ext cx="8229600" cy="2072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43200">
                      <a:extLst>
                        <a:ext uri="{9D8B030D-6E8A-4147-A177-3AD203B41FA5}">
                          <a16:colId xmlns:a16="http://schemas.microsoft.com/office/drawing/2014/main" val="3122886758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162683877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721909117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sz="2800" dirty="0"/>
                            <a:t>Operation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Unsorted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Sorted Array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55659361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sz="2800" dirty="0"/>
                            <a:t>Search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0444" t="-110588" r="-101111" b="-2341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00444" t="-110588" r="-1111" b="-2341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452804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sz="2800" dirty="0"/>
                            <a:t>Insert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0444" t="-210588" r="-101111" b="-1341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00444" t="-210588" r="-1111" b="-1341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79576350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sz="2800" dirty="0"/>
                            <a:t>Delete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0444" t="-310588" r="-101111" b="-341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00444" t="-310588" r="-1111" b="-341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9398916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89037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762000" y="1219200"/>
            <a:ext cx="7696200" cy="3505200"/>
          </a:xfrm>
        </p:spPr>
        <p:txBody>
          <a:bodyPr>
            <a:noAutofit/>
          </a:bodyPr>
          <a:lstStyle/>
          <a:p>
            <a:pPr algn="ctr"/>
            <a:r>
              <a:rPr lang="en-US" sz="10000" dirty="0"/>
              <a:t/>
            </a:r>
            <a:br>
              <a:rPr lang="en-US" sz="10000" dirty="0"/>
            </a:br>
            <a:r>
              <a:rPr lang="en-US" sz="10000" dirty="0"/>
              <a:t>THANKS</a:t>
            </a:r>
            <a:r>
              <a:rPr lang="en-US" sz="9600" b="0" dirty="0"/>
              <a:t> </a:t>
            </a:r>
            <a:br>
              <a:rPr lang="en-US" sz="9600" b="0" dirty="0"/>
            </a:br>
            <a:r>
              <a:rPr lang="en-US" sz="6600" b="0" dirty="0">
                <a:solidFill>
                  <a:schemeClr val="tx1"/>
                </a:solidFill>
              </a:rPr>
              <a:t>for your</a:t>
            </a:r>
            <a:r>
              <a:rPr lang="en-US" sz="8000" b="0" dirty="0">
                <a:solidFill>
                  <a:schemeClr val="tx1"/>
                </a:solidFill>
              </a:rPr>
              <a:t> attention</a:t>
            </a:r>
            <a:endParaRPr lang="en-US" sz="8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https://teams.microsoft.com/l/team/19%3A-uly1h8OBtImWtcNKoTDHyYNWPXtx3enFOgY27T4kNY1%40thread.tacv2/conversations?groupId=9990e5b6-4fee-43ae-85dd-784aafa98e7a&amp;tenantId=29d02b7a-fa50-40cc-8d1c-a452a519c6a5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3621A-9C7F-4119-8BA9-08BBE7E70DD3}" type="datetime1">
              <a:rPr lang="en-US" smtClean="0"/>
              <a:pPr/>
              <a:t>2/23/2025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11396-252B-4570-BBFE-246F77E9F314}" type="slidenum">
              <a:rPr lang="en-US" smtClean="0"/>
              <a:pPr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604721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706616BBB85848A21845F2B51C3130" ma:contentTypeVersion="0" ma:contentTypeDescription="Create a new document." ma:contentTypeScope="" ma:versionID="2d9ea84870b1d3850554d55c0eeaa3d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5E77AE8-F5E8-4FF1-9980-EACC88E3F772}"/>
</file>

<file path=customXml/itemProps2.xml><?xml version="1.0" encoding="utf-8"?>
<ds:datastoreItem xmlns:ds="http://schemas.openxmlformats.org/officeDocument/2006/customXml" ds:itemID="{AA75F4F2-AFF0-4DAA-A963-FF0DC53DC283}"/>
</file>

<file path=customXml/itemProps3.xml><?xml version="1.0" encoding="utf-8"?>
<ds:datastoreItem xmlns:ds="http://schemas.openxmlformats.org/officeDocument/2006/customXml" ds:itemID="{F8959357-B138-4804-9D27-A9AED043E309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27121</TotalTime>
  <Words>2068</Words>
  <Application>Microsoft Office PowerPoint</Application>
  <PresentationFormat>On-screen Show (4:3)</PresentationFormat>
  <Paragraphs>1285</Paragraphs>
  <Slides>78</Slides>
  <Notes>75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78</vt:i4>
      </vt:variant>
    </vt:vector>
  </HeadingPairs>
  <TitlesOfParts>
    <vt:vector size="89" baseType="lpstr">
      <vt:lpstr>Arial</vt:lpstr>
      <vt:lpstr>Calibri</vt:lpstr>
      <vt:lpstr>Cambria Math</vt:lpstr>
      <vt:lpstr>Consolas</vt:lpstr>
      <vt:lpstr>Constantia</vt:lpstr>
      <vt:lpstr>Tahoma</vt:lpstr>
      <vt:lpstr>Times New Roman</vt:lpstr>
      <vt:lpstr>Wingdings</vt:lpstr>
      <vt:lpstr>Wingdings 2</vt:lpstr>
      <vt:lpstr>Office Theme</vt:lpstr>
      <vt:lpstr>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THANKS  for your attention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adminstrator</dc:creator>
  <cp:lastModifiedBy>Work</cp:lastModifiedBy>
  <cp:revision>833</cp:revision>
  <dcterms:created xsi:type="dcterms:W3CDTF">2016-04-14T07:01:55Z</dcterms:created>
  <dcterms:modified xsi:type="dcterms:W3CDTF">2025-02-23T21:21:53Z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0x010100FA706616BBB85848A21845F2B51C3130</vt:lpwstr>
  </property>
</Properties>
</file>